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0391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BFBC"/>
          </a:solidFill>
          <a:ln/>
        </p:spPr>
      </p:sp>
      <p:sp>
        <p:nvSpPr>
          <p:cNvPr id="3" name="Shape 1"/>
          <p:cNvSpPr/>
          <p:nvPr/>
        </p:nvSpPr>
        <p:spPr>
          <a:xfrm>
            <a:off x="7132320" y="-914400"/>
            <a:ext cx="3657600" cy="3657600"/>
          </a:xfrm>
          <a:prstGeom prst="ellipse">
            <a:avLst/>
          </a:prstGeom>
          <a:solidFill>
            <a:srgbClr val="0ABFBC">
              <a:alpha val="12000"/>
            </a:srgbClr>
          </a:solidFill>
          <a:ln w="12700">
            <a:solidFill>
              <a:srgbClr val="0ABFBC"/>
            </a:solidFill>
            <a:prstDash val="solid"/>
          </a:ln>
        </p:spPr>
      </p:sp>
      <p:sp>
        <p:nvSpPr>
          <p:cNvPr id="4" name="Shape 2"/>
          <p:cNvSpPr/>
          <p:nvPr/>
        </p:nvSpPr>
        <p:spPr>
          <a:xfrm>
            <a:off x="7772400" y="-274320"/>
            <a:ext cx="2286000" cy="2286000"/>
          </a:xfrm>
          <a:prstGeom prst="ellipse">
            <a:avLst/>
          </a:prstGeom>
          <a:solidFill>
            <a:srgbClr val="45D48A">
              <a:alpha val="20000"/>
            </a:srgbClr>
          </a:solidFill>
          <a:ln w="12700">
            <a:solidFill>
              <a:srgbClr val="45D48A"/>
            </a:solidFill>
            <a:prstDash val="solid"/>
          </a:ln>
        </p:spPr>
      </p:sp>
      <p:sp>
        <p:nvSpPr>
          <p:cNvPr id="7" name="Text 5"/>
          <p:cNvSpPr/>
          <p:nvPr/>
        </p:nvSpPr>
        <p:spPr>
          <a:xfrm>
            <a:off x="411480" y="1005840"/>
            <a:ext cx="7772400" cy="1188720"/>
          </a:xfrm>
          <a:prstGeom prst="rect">
            <a:avLst/>
          </a:prstGeom>
          <a:noFill/>
          <a:ln/>
        </p:spPr>
        <p:txBody>
          <a:bodyPr wrap="square" lIns="0" tIns="0" rIns="0" bIns="0" rtlCol="0" anchor="ctr"/>
          <a:lstStyle/>
          <a:p>
            <a:pPr marL="0" indent="0">
              <a:buNone/>
            </a:pPr>
            <a:r>
              <a:rPr lang="en-US" sz="6200" b="1" dirty="0">
                <a:solidFill>
                  <a:srgbClr val="FFFFFF"/>
                </a:solidFill>
                <a:latin typeface="Calibri" pitchFamily="34" charset="0"/>
                <a:ea typeface="Calibri" pitchFamily="34" charset="-122"/>
                <a:cs typeface="Calibri" pitchFamily="34" charset="-120"/>
              </a:rPr>
              <a:t>EduAI Nexus</a:t>
            </a:r>
            <a:endParaRPr lang="en-US" sz="6200" dirty="0"/>
          </a:p>
        </p:txBody>
      </p:sp>
      <p:sp>
        <p:nvSpPr>
          <p:cNvPr id="8" name="Text 6"/>
          <p:cNvSpPr/>
          <p:nvPr/>
        </p:nvSpPr>
        <p:spPr>
          <a:xfrm>
            <a:off x="411480" y="2148840"/>
            <a:ext cx="7315200" cy="502920"/>
          </a:xfrm>
          <a:prstGeom prst="rect">
            <a:avLst/>
          </a:prstGeom>
          <a:noFill/>
          <a:ln/>
        </p:spPr>
        <p:txBody>
          <a:bodyPr wrap="square" lIns="0" tIns="0" rIns="0" bIns="0" rtlCol="0" anchor="ctr"/>
          <a:lstStyle/>
          <a:p>
            <a:pPr marL="0" indent="0">
              <a:buNone/>
            </a:pPr>
            <a:r>
              <a:rPr lang="en-US" sz="2000" dirty="0">
                <a:solidFill>
                  <a:srgbClr val="0ABFBC"/>
                </a:solidFill>
                <a:latin typeface="Calibri" pitchFamily="34" charset="0"/>
                <a:ea typeface="Calibri" pitchFamily="34" charset="-122"/>
                <a:cs typeface="Calibri" pitchFamily="34" charset="-120"/>
              </a:rPr>
              <a:t>AI-Powered Smart Education Ecosystem</a:t>
            </a:r>
            <a:endParaRPr lang="en-US" sz="2000" dirty="0"/>
          </a:p>
        </p:txBody>
      </p:sp>
      <p:sp>
        <p:nvSpPr>
          <p:cNvPr id="9" name="Text 7"/>
          <p:cNvSpPr/>
          <p:nvPr/>
        </p:nvSpPr>
        <p:spPr>
          <a:xfrm>
            <a:off x="411480" y="2697480"/>
            <a:ext cx="7315200" cy="365760"/>
          </a:xfrm>
          <a:prstGeom prst="rect">
            <a:avLst/>
          </a:prstGeom>
          <a:noFill/>
          <a:ln/>
        </p:spPr>
        <p:txBody>
          <a:bodyPr wrap="square" lIns="0" tIns="0" rIns="0" bIns="0" rtlCol="0" anchor="ctr"/>
          <a:lstStyle/>
          <a:p>
            <a:pPr marL="0" indent="0">
              <a:buNone/>
            </a:pPr>
            <a:r>
              <a:rPr lang="en-US" sz="1300" i="1" dirty="0">
                <a:solidFill>
                  <a:srgbClr val="8898AA"/>
                </a:solidFill>
                <a:latin typeface="Calibri" pitchFamily="34" charset="0"/>
                <a:ea typeface="Calibri" pitchFamily="34" charset="-122"/>
                <a:cs typeface="Calibri" pitchFamily="34" charset="-120"/>
              </a:rPr>
              <a:t>Personalised · Accessible · Intelligent · Scalable</a:t>
            </a:r>
            <a:endParaRPr lang="en-US" sz="1300" dirty="0"/>
          </a:p>
        </p:txBody>
      </p:sp>
      <p:sp>
        <p:nvSpPr>
          <p:cNvPr id="10" name="Shape 8"/>
          <p:cNvSpPr/>
          <p:nvPr/>
        </p:nvSpPr>
        <p:spPr>
          <a:xfrm>
            <a:off x="0" y="4389120"/>
            <a:ext cx="9144000" cy="754380"/>
          </a:xfrm>
          <a:prstGeom prst="rect">
            <a:avLst/>
          </a:prstGeom>
          <a:solidFill>
            <a:srgbClr val="152535"/>
          </a:solidFill>
          <a:ln/>
        </p:spPr>
      </p:sp>
      <p:sp>
        <p:nvSpPr>
          <p:cNvPr id="11" name="Text 9"/>
          <p:cNvSpPr/>
          <p:nvPr/>
        </p:nvSpPr>
        <p:spPr>
          <a:xfrm>
            <a:off x="411480" y="4407408"/>
            <a:ext cx="8229600" cy="365760"/>
          </a:xfrm>
          <a:prstGeom prst="rect">
            <a:avLst/>
          </a:prstGeom>
          <a:noFill/>
          <a:ln/>
        </p:spPr>
        <p:txBody>
          <a:bodyPr wrap="square" lIns="0" tIns="0" rIns="0" bIns="0" rtlCol="0" anchor="ctr"/>
          <a:lstStyle/>
          <a:p>
            <a:pPr marL="0" indent="0" algn="l">
              <a:buNone/>
            </a:pPr>
            <a:r>
              <a:rPr lang="en-US" sz="1200" dirty="0">
                <a:solidFill>
                  <a:srgbClr val="8898AA"/>
                </a:solidFill>
              </a:rPr>
              <a:t>Education Theme  ·  April 2026  ·  Team Proposal</a:t>
            </a:r>
            <a:endParaRPr lang="en-US" sz="1200" dirty="0"/>
          </a:p>
        </p:txBody>
      </p:sp>
      <p:sp>
        <p:nvSpPr>
          <p:cNvPr id="12" name="TextBox 11">
            <a:extLst>
              <a:ext uri="{FF2B5EF4-FFF2-40B4-BE49-F238E27FC236}">
                <a16:creationId xmlns:a16="http://schemas.microsoft.com/office/drawing/2014/main" id="{860160F9-CA13-5478-8610-36CC5DFF8656}"/>
              </a:ext>
            </a:extLst>
          </p:cNvPr>
          <p:cNvSpPr txBox="1"/>
          <p:nvPr/>
        </p:nvSpPr>
        <p:spPr>
          <a:xfrm>
            <a:off x="1977887" y="3655814"/>
            <a:ext cx="7001521" cy="830997"/>
          </a:xfrm>
          <a:prstGeom prst="rect">
            <a:avLst/>
          </a:prstGeom>
          <a:noFill/>
        </p:spPr>
        <p:txBody>
          <a:bodyPr wrap="square" rtlCol="0">
            <a:spAutoFit/>
          </a:bodyPr>
          <a:lstStyle/>
          <a:p>
            <a:r>
              <a:rPr lang="en-US" sz="4800" dirty="0">
                <a:solidFill>
                  <a:schemeClr val="bg1"/>
                </a:solidFill>
              </a:rPr>
              <a:t>TEAM NAME :-  </a:t>
            </a:r>
            <a:r>
              <a:rPr lang="en-US" sz="4800" b="1" dirty="0">
                <a:solidFill>
                  <a:schemeClr val="bg1"/>
                </a:solidFill>
              </a:rPr>
              <a:t>MAHADEV</a:t>
            </a:r>
            <a:endParaRPr lang="en-IN" sz="4800" b="1" dirty="0">
              <a:solidFill>
                <a:schemeClr val="bg1"/>
              </a:solidFill>
            </a:endParaRPr>
          </a:p>
        </p:txBody>
      </p:sp>
      <p:pic>
        <p:nvPicPr>
          <p:cNvPr id="13" name="Google Shape;238;p6" title="Witch Hunt finalized logo-modified.png">
            <a:extLst>
              <a:ext uri="{FF2B5EF4-FFF2-40B4-BE49-F238E27FC236}">
                <a16:creationId xmlns:a16="http://schemas.microsoft.com/office/drawing/2014/main" id="{0E7CBDFD-434A-7C7B-B711-7CFE98AE0D7B}"/>
              </a:ext>
            </a:extLst>
          </p:cNvPr>
          <p:cNvPicPr preferRelativeResize="0"/>
          <p:nvPr/>
        </p:nvPicPr>
        <p:blipFill rotWithShape="1">
          <a:blip r:embed="rId3">
            <a:alphaModFix/>
          </a:blip>
          <a:srcRect/>
          <a:stretch/>
        </p:blipFill>
        <p:spPr>
          <a:xfrm>
            <a:off x="129475" y="110938"/>
            <a:ext cx="680849" cy="6808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5585"/>
          </a:xfrm>
          <a:prstGeom prst="rect">
            <a:avLst/>
          </a:prstGeom>
          <a:solidFill>
            <a:srgbClr val="0D1B2A"/>
          </a:solidFill>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buNone/>
            </a:pPr>
            <a:r>
              <a:rPr lang="en-US" sz="2800" b="1" dirty="0">
                <a:solidFill>
                  <a:srgbClr val="FFFFFF"/>
                </a:solidFill>
              </a:rPr>
              <a:t>                              MEET THE TEAM</a:t>
            </a:r>
            <a:endParaRPr lang="en-US" sz="2800" dirty="0"/>
          </a:p>
        </p:txBody>
      </p:sp>
      <p:sp>
        <p:nvSpPr>
          <p:cNvPr id="4" name="Shape 2"/>
          <p:cNvSpPr/>
          <p:nvPr/>
        </p:nvSpPr>
        <p:spPr>
          <a:xfrm>
            <a:off x="0" y="809276"/>
            <a:ext cx="9144000" cy="54864"/>
          </a:xfrm>
          <a:prstGeom prst="rect">
            <a:avLst/>
          </a:prstGeom>
          <a:solidFill>
            <a:srgbClr val="0ABFBC"/>
          </a:solidFill>
          <a:ln/>
        </p:spPr>
      </p:sp>
      <p:pic>
        <p:nvPicPr>
          <p:cNvPr id="35" name="Google Shape;238;p6" title="Witch Hunt finalized logo-modified.png">
            <a:extLst>
              <a:ext uri="{FF2B5EF4-FFF2-40B4-BE49-F238E27FC236}">
                <a16:creationId xmlns:a16="http://schemas.microsoft.com/office/drawing/2014/main" id="{7CE448F2-7AAD-6CBF-90BF-FEF67BDBAA3B}"/>
              </a:ext>
            </a:extLst>
          </p:cNvPr>
          <p:cNvPicPr preferRelativeResize="0"/>
          <p:nvPr/>
        </p:nvPicPr>
        <p:blipFill rotWithShape="1">
          <a:blip r:embed="rId3">
            <a:alphaModFix/>
          </a:blip>
          <a:srcRect/>
          <a:stretch/>
        </p:blipFill>
        <p:spPr>
          <a:xfrm>
            <a:off x="129475" y="110938"/>
            <a:ext cx="680849" cy="680849"/>
          </a:xfrm>
          <a:prstGeom prst="rect">
            <a:avLst/>
          </a:prstGeom>
          <a:noFill/>
          <a:ln>
            <a:noFill/>
          </a:ln>
        </p:spPr>
      </p:pic>
      <p:sp>
        <p:nvSpPr>
          <p:cNvPr id="33" name="Rectangle: Rounded Corners 32">
            <a:extLst>
              <a:ext uri="{FF2B5EF4-FFF2-40B4-BE49-F238E27FC236}">
                <a16:creationId xmlns:a16="http://schemas.microsoft.com/office/drawing/2014/main" id="{C936D3FA-6595-2481-0354-136301A101CE}"/>
              </a:ext>
            </a:extLst>
          </p:cNvPr>
          <p:cNvSpPr/>
          <p:nvPr/>
        </p:nvSpPr>
        <p:spPr>
          <a:xfrm>
            <a:off x="288388" y="1055077"/>
            <a:ext cx="1885070" cy="170922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37" name="Picture 36">
            <a:extLst>
              <a:ext uri="{FF2B5EF4-FFF2-40B4-BE49-F238E27FC236}">
                <a16:creationId xmlns:a16="http://schemas.microsoft.com/office/drawing/2014/main" id="{8A6AE486-88B9-EA69-652A-1D2ABB7EAA28}"/>
              </a:ext>
            </a:extLst>
          </p:cNvPr>
          <p:cNvPicPr>
            <a:picLocks noChangeAspect="1"/>
          </p:cNvPicPr>
          <p:nvPr/>
        </p:nvPicPr>
        <p:blipFill>
          <a:blip r:embed="rId4"/>
          <a:stretch>
            <a:fillRect/>
          </a:stretch>
        </p:blipFill>
        <p:spPr>
          <a:xfrm>
            <a:off x="218256" y="836708"/>
            <a:ext cx="1955202" cy="1893511"/>
          </a:xfrm>
          <a:prstGeom prst="rect">
            <a:avLst/>
          </a:prstGeom>
        </p:spPr>
      </p:pic>
      <p:sp>
        <p:nvSpPr>
          <p:cNvPr id="38" name="TextBox 37">
            <a:extLst>
              <a:ext uri="{FF2B5EF4-FFF2-40B4-BE49-F238E27FC236}">
                <a16:creationId xmlns:a16="http://schemas.microsoft.com/office/drawing/2014/main" id="{FD0758A1-8DC4-E8F5-4DA5-3DEFF01C8924}"/>
              </a:ext>
            </a:extLst>
          </p:cNvPr>
          <p:cNvSpPr txBox="1"/>
          <p:nvPr/>
        </p:nvSpPr>
        <p:spPr>
          <a:xfrm>
            <a:off x="457200" y="2882091"/>
            <a:ext cx="1716258" cy="338554"/>
          </a:xfrm>
          <a:prstGeom prst="rect">
            <a:avLst/>
          </a:prstGeom>
          <a:noFill/>
        </p:spPr>
        <p:txBody>
          <a:bodyPr wrap="square" rtlCol="0">
            <a:spAutoFit/>
          </a:bodyPr>
          <a:lstStyle/>
          <a:p>
            <a:r>
              <a:rPr lang="en-US" sz="1600" dirty="0"/>
              <a:t>JAYASHREE H N</a:t>
            </a:r>
            <a:endParaRPr lang="en-IN" sz="1600" dirty="0"/>
          </a:p>
        </p:txBody>
      </p:sp>
      <p:sp>
        <p:nvSpPr>
          <p:cNvPr id="46" name="Rectangle: Rounded Corners 45">
            <a:extLst>
              <a:ext uri="{FF2B5EF4-FFF2-40B4-BE49-F238E27FC236}">
                <a16:creationId xmlns:a16="http://schemas.microsoft.com/office/drawing/2014/main" id="{E75FB493-E5D9-965A-9EE9-C2694B2E5A8A}"/>
              </a:ext>
            </a:extLst>
          </p:cNvPr>
          <p:cNvSpPr/>
          <p:nvPr/>
        </p:nvSpPr>
        <p:spPr>
          <a:xfrm>
            <a:off x="2293033" y="858228"/>
            <a:ext cx="5528603" cy="17135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n-US" altLang="en-US" sz="1100" dirty="0">
                <a:solidFill>
                  <a:schemeClr val="tx1"/>
                </a:solidFill>
                <a:latin typeface="Arial" panose="020B0604020202020204" pitchFamily="34" charset="0"/>
              </a:rPr>
              <a:t>I am the Team Lead responsible for driving the overall product vision, strategy, and execution. I design the system architecture and handle backend development using modern frameworks, ensuring scalability and performance. I also lead the integration of AI components to build intelligent features within the product. I coordinate tasks, manage timelines, and ensure smooth collaboration within the team. With a strong focus on solving real-world problems, I aim to create impactful and efficient solutions. My approach is inspired by high-level engineering practices, similar </a:t>
            </a:r>
            <a:r>
              <a:rPr lang="en-US" altLang="en-US" sz="1100" b="1" dirty="0">
                <a:solidFill>
                  <a:schemeClr val="tx1"/>
                </a:solidFill>
                <a:latin typeface="Arial" panose="020B0604020202020204" pitchFamily="34" charset="0"/>
              </a:rPr>
              <a:t>to NASA-level problem solving, </a:t>
            </a:r>
            <a:r>
              <a:rPr lang="en-US" altLang="en-US" sz="1100" dirty="0">
                <a:solidFill>
                  <a:schemeClr val="tx1"/>
                </a:solidFill>
                <a:latin typeface="Arial" panose="020B0604020202020204" pitchFamily="34" charset="0"/>
              </a:rPr>
              <a:t>ensuring reliability, innovation, and scalability in our project.</a:t>
            </a:r>
          </a:p>
        </p:txBody>
      </p:sp>
      <p:pic>
        <p:nvPicPr>
          <p:cNvPr id="48" name="Picture 47">
            <a:extLst>
              <a:ext uri="{FF2B5EF4-FFF2-40B4-BE49-F238E27FC236}">
                <a16:creationId xmlns:a16="http://schemas.microsoft.com/office/drawing/2014/main" id="{0DB1C86B-C92E-A420-5357-A558FD0BA390}"/>
              </a:ext>
            </a:extLst>
          </p:cNvPr>
          <p:cNvPicPr>
            <a:picLocks noChangeAspect="1"/>
          </p:cNvPicPr>
          <p:nvPr/>
        </p:nvPicPr>
        <p:blipFill>
          <a:blip r:embed="rId5"/>
          <a:stretch>
            <a:fillRect/>
          </a:stretch>
        </p:blipFill>
        <p:spPr>
          <a:xfrm>
            <a:off x="6865033" y="2730219"/>
            <a:ext cx="2215662" cy="2013438"/>
          </a:xfrm>
          <a:prstGeom prst="rect">
            <a:avLst/>
          </a:prstGeom>
        </p:spPr>
      </p:pic>
      <p:sp>
        <p:nvSpPr>
          <p:cNvPr id="49" name="TextBox 48">
            <a:extLst>
              <a:ext uri="{FF2B5EF4-FFF2-40B4-BE49-F238E27FC236}">
                <a16:creationId xmlns:a16="http://schemas.microsoft.com/office/drawing/2014/main" id="{10ED4C4A-460C-6E8D-BEA7-ADE4B4031ACA}"/>
              </a:ext>
            </a:extLst>
          </p:cNvPr>
          <p:cNvSpPr txBox="1"/>
          <p:nvPr/>
        </p:nvSpPr>
        <p:spPr>
          <a:xfrm>
            <a:off x="7315200" y="4693333"/>
            <a:ext cx="1990578" cy="369332"/>
          </a:xfrm>
          <a:prstGeom prst="rect">
            <a:avLst/>
          </a:prstGeom>
          <a:noFill/>
        </p:spPr>
        <p:txBody>
          <a:bodyPr wrap="square" rtlCol="0">
            <a:spAutoFit/>
          </a:bodyPr>
          <a:lstStyle/>
          <a:p>
            <a:r>
              <a:rPr lang="en-US" dirty="0"/>
              <a:t>ROSHINI D </a:t>
            </a:r>
            <a:endParaRPr lang="en-IN" dirty="0"/>
          </a:p>
        </p:txBody>
      </p:sp>
      <p:sp>
        <p:nvSpPr>
          <p:cNvPr id="50" name="Rectangle: Rounded Corners 49">
            <a:extLst>
              <a:ext uri="{FF2B5EF4-FFF2-40B4-BE49-F238E27FC236}">
                <a16:creationId xmlns:a16="http://schemas.microsoft.com/office/drawing/2014/main" id="{FFF611E7-9F0B-54A2-A0DC-C920700B0640}"/>
              </a:ext>
            </a:extLst>
          </p:cNvPr>
          <p:cNvSpPr/>
          <p:nvPr/>
        </p:nvSpPr>
        <p:spPr>
          <a:xfrm>
            <a:off x="379828" y="3383280"/>
            <a:ext cx="5908430" cy="16793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n-US" altLang="en-US" sz="1200" dirty="0">
                <a:solidFill>
                  <a:schemeClr val="tx1"/>
                </a:solidFill>
                <a:latin typeface="Arial" panose="020B0604020202020204" pitchFamily="34" charset="0"/>
              </a:rPr>
              <a:t>Roshini D is a third-year Computer Science and Design student at BGS College of Engineering, Bangalore, graduating in 2026. She has strong skills in Python, Flutter, machine learning, web development, and network security, along with teamwork and communication. She has worked on impactful projects such as the </a:t>
            </a:r>
            <a:r>
              <a:rPr lang="en-US" altLang="en-US" sz="1200" b="1" dirty="0" err="1">
                <a:solidFill>
                  <a:schemeClr val="tx1"/>
                </a:solidFill>
                <a:latin typeface="Arial" panose="020B0604020202020204" pitchFamily="34" charset="0"/>
              </a:rPr>
              <a:t>EcoRide</a:t>
            </a:r>
            <a:r>
              <a:rPr lang="en-US" altLang="en-US" sz="1200" b="1" dirty="0">
                <a:solidFill>
                  <a:schemeClr val="tx1"/>
                </a:solidFill>
                <a:latin typeface="Arial" panose="020B0604020202020204" pitchFamily="34" charset="0"/>
              </a:rPr>
              <a:t> Carpool App</a:t>
            </a:r>
            <a:r>
              <a:rPr lang="en-US" altLang="en-US" sz="1200" dirty="0">
                <a:solidFill>
                  <a:schemeClr val="tx1"/>
                </a:solidFill>
                <a:latin typeface="Arial" panose="020B0604020202020204" pitchFamily="34" charset="0"/>
              </a:rPr>
              <a:t>, </a:t>
            </a:r>
            <a:r>
              <a:rPr lang="en-US" altLang="en-US" sz="1200" b="1" dirty="0">
                <a:solidFill>
                  <a:schemeClr val="tx1"/>
                </a:solidFill>
                <a:latin typeface="Arial" panose="020B0604020202020204" pitchFamily="34" charset="0"/>
              </a:rPr>
              <a:t>Anomalous Network Traffic Detection, </a:t>
            </a:r>
            <a:r>
              <a:rPr lang="en-US" altLang="en-US" sz="1200" b="1" dirty="0" err="1">
                <a:solidFill>
                  <a:schemeClr val="tx1"/>
                </a:solidFill>
                <a:latin typeface="Arial" panose="020B0604020202020204" pitchFamily="34" charset="0"/>
              </a:rPr>
              <a:t>CareLog</a:t>
            </a:r>
            <a:r>
              <a:rPr lang="en-US" altLang="en-US" sz="1200" b="1" dirty="0">
                <a:solidFill>
                  <a:schemeClr val="tx1"/>
                </a:solidFill>
                <a:latin typeface="Arial" panose="020B0604020202020204" pitchFamily="34" charset="0"/>
              </a:rPr>
              <a:t> First Aid </a:t>
            </a:r>
            <a:r>
              <a:rPr lang="en-US" altLang="en-US" sz="1200" dirty="0">
                <a:solidFill>
                  <a:schemeClr val="tx1"/>
                </a:solidFill>
                <a:latin typeface="Arial" panose="020B0604020202020204" pitchFamily="34" charset="0"/>
              </a:rPr>
              <a:t>App, and Packet Sniffing Research. She is passionate about machine learning, data science, Flutter development, and cybersecurity, and actively seeks opportunities to apply her skills and contribute to real-world, high-impact projects while continuously learning and growing.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BFBC"/>
          </a:solidFill>
          <a:ln/>
        </p:spPr>
      </p:sp>
      <p:sp>
        <p:nvSpPr>
          <p:cNvPr id="3" name="Text 1"/>
          <p:cNvSpPr/>
          <p:nvPr/>
        </p:nvSpPr>
        <p:spPr>
          <a:xfrm>
            <a:off x="457200" y="182880"/>
            <a:ext cx="4572000" cy="548640"/>
          </a:xfrm>
          <a:prstGeom prst="rect">
            <a:avLst/>
          </a:prstGeom>
          <a:noFill/>
          <a:ln/>
        </p:spPr>
        <p:txBody>
          <a:bodyPr wrap="square" lIns="0" tIns="0" rIns="0" bIns="0" rtlCol="0" anchor="ctr"/>
          <a:lstStyle/>
          <a:p>
            <a:pPr marL="0" indent="0">
              <a:buNone/>
            </a:pPr>
            <a:r>
              <a:rPr lang="en-US" sz="2800" b="1" dirty="0">
                <a:solidFill>
                  <a:srgbClr val="FFFFFF"/>
                </a:solidFill>
              </a:rPr>
              <a:t>      PROBLEM STATEMENT </a:t>
            </a:r>
            <a:endParaRPr lang="en-US" sz="2800" dirty="0"/>
          </a:p>
        </p:txBody>
      </p:sp>
      <p:sp>
        <p:nvSpPr>
          <p:cNvPr id="4" name="Text 2"/>
          <p:cNvSpPr/>
          <p:nvPr/>
        </p:nvSpPr>
        <p:spPr>
          <a:xfrm>
            <a:off x="457200" y="713232"/>
            <a:ext cx="5486400" cy="320040"/>
          </a:xfrm>
          <a:prstGeom prst="rect">
            <a:avLst/>
          </a:prstGeom>
          <a:noFill/>
          <a:ln/>
        </p:spPr>
        <p:txBody>
          <a:bodyPr wrap="square" lIns="0" tIns="0" rIns="0" bIns="0" rtlCol="0" anchor="ctr"/>
          <a:lstStyle/>
          <a:p>
            <a:pPr marL="0" indent="0">
              <a:buNone/>
            </a:pPr>
            <a:r>
              <a:rPr lang="en-US" sz="1300" i="1" dirty="0">
                <a:solidFill>
                  <a:srgbClr val="0ABFBC"/>
                </a:solidFill>
              </a:rPr>
              <a:t>Why Indian education needs AI now</a:t>
            </a:r>
            <a:endParaRPr lang="en-US" sz="1300" dirty="0"/>
          </a:p>
        </p:txBody>
      </p:sp>
      <p:sp>
        <p:nvSpPr>
          <p:cNvPr id="5" name="Shape 3"/>
          <p:cNvSpPr/>
          <p:nvPr/>
        </p:nvSpPr>
        <p:spPr>
          <a:xfrm>
            <a:off x="274320" y="1188720"/>
            <a:ext cx="2743200" cy="1417320"/>
          </a:xfrm>
          <a:prstGeom prst="rect">
            <a:avLst/>
          </a:prstGeom>
          <a:solidFill>
            <a:srgbClr val="152535"/>
          </a:solidFill>
          <a:ln/>
          <a:effectLst>
            <a:outerShdw blurRad="101600" dist="38100" dir="8100000" algn="bl" rotWithShape="0">
              <a:srgbClr val="000000">
                <a:alpha val="18000"/>
              </a:srgbClr>
            </a:outerShdw>
          </a:effectLst>
        </p:spPr>
      </p:sp>
      <p:sp>
        <p:nvSpPr>
          <p:cNvPr id="6" name="Shape 4"/>
          <p:cNvSpPr/>
          <p:nvPr/>
        </p:nvSpPr>
        <p:spPr>
          <a:xfrm>
            <a:off x="274320" y="1188720"/>
            <a:ext cx="54864" cy="1417320"/>
          </a:xfrm>
          <a:prstGeom prst="rect">
            <a:avLst/>
          </a:prstGeom>
          <a:solidFill>
            <a:srgbClr val="0ABFBC"/>
          </a:solidFill>
          <a:ln/>
        </p:spPr>
      </p:sp>
      <p:sp>
        <p:nvSpPr>
          <p:cNvPr id="7" name="Text 5"/>
          <p:cNvSpPr/>
          <p:nvPr/>
        </p:nvSpPr>
        <p:spPr>
          <a:xfrm>
            <a:off x="384048" y="1280160"/>
            <a:ext cx="457200" cy="365760"/>
          </a:xfrm>
          <a:prstGeom prst="rect">
            <a:avLst/>
          </a:prstGeom>
          <a:noFill/>
          <a:ln/>
        </p:spPr>
        <p:txBody>
          <a:bodyPr wrap="square" lIns="0" tIns="0" rIns="0" bIns="0" rtlCol="0" anchor="ctr"/>
          <a:lstStyle/>
          <a:p>
            <a:pPr marL="0" indent="0">
              <a:buNone/>
            </a:pPr>
            <a:r>
              <a:rPr lang="en-US" sz="1100" b="1" dirty="0">
                <a:solidFill>
                  <a:srgbClr val="0ABFBC"/>
                </a:solidFill>
              </a:rPr>
              <a:t>01</a:t>
            </a:r>
            <a:endParaRPr lang="en-US" sz="1100" dirty="0"/>
          </a:p>
        </p:txBody>
      </p:sp>
      <p:sp>
        <p:nvSpPr>
          <p:cNvPr id="8" name="Text 6"/>
          <p:cNvSpPr/>
          <p:nvPr/>
        </p:nvSpPr>
        <p:spPr>
          <a:xfrm>
            <a:off x="384048" y="1572768"/>
            <a:ext cx="2514600" cy="347472"/>
          </a:xfrm>
          <a:prstGeom prst="rect">
            <a:avLst/>
          </a:prstGeom>
          <a:noFill/>
          <a:ln/>
        </p:spPr>
        <p:txBody>
          <a:bodyPr wrap="square" lIns="0" tIns="0" rIns="0" bIns="0" rtlCol="0" anchor="ctr"/>
          <a:lstStyle/>
          <a:p>
            <a:pPr marL="0" indent="0">
              <a:buNone/>
            </a:pPr>
            <a:r>
              <a:rPr lang="en-US" sz="1400" b="1" dirty="0">
                <a:solidFill>
                  <a:srgbClr val="FFFFFF"/>
                </a:solidFill>
              </a:rPr>
              <a:t>One-Size-Fits-All Teaching</a:t>
            </a:r>
            <a:endParaRPr lang="en-US" sz="1400" dirty="0"/>
          </a:p>
        </p:txBody>
      </p:sp>
      <p:sp>
        <p:nvSpPr>
          <p:cNvPr id="9" name="Text 7"/>
          <p:cNvSpPr/>
          <p:nvPr/>
        </p:nvSpPr>
        <p:spPr>
          <a:xfrm>
            <a:off x="384048" y="1901952"/>
            <a:ext cx="2514600" cy="621792"/>
          </a:xfrm>
          <a:prstGeom prst="rect">
            <a:avLst/>
          </a:prstGeom>
          <a:noFill/>
          <a:ln/>
        </p:spPr>
        <p:txBody>
          <a:bodyPr wrap="square" lIns="0" tIns="0" rIns="0" bIns="0" rtlCol="0" anchor="ctr"/>
          <a:lstStyle/>
          <a:p>
            <a:pPr marL="0" indent="0">
              <a:buNone/>
            </a:pPr>
            <a:r>
              <a:rPr lang="en-US" sz="1200" dirty="0">
                <a:solidFill>
                  <a:srgbClr val="8898AA"/>
                </a:solidFill>
              </a:rPr>
              <a:t>Students learn differently — visual, auditory, kinesthetic — yet schools deliver uniform instruction.</a:t>
            </a:r>
            <a:endParaRPr lang="en-US" sz="1200" dirty="0"/>
          </a:p>
        </p:txBody>
      </p:sp>
      <p:sp>
        <p:nvSpPr>
          <p:cNvPr id="10" name="Shape 8"/>
          <p:cNvSpPr/>
          <p:nvPr/>
        </p:nvSpPr>
        <p:spPr>
          <a:xfrm>
            <a:off x="3246120" y="1188720"/>
            <a:ext cx="2743200" cy="1417320"/>
          </a:xfrm>
          <a:prstGeom prst="rect">
            <a:avLst/>
          </a:prstGeom>
          <a:solidFill>
            <a:srgbClr val="152535"/>
          </a:solidFill>
          <a:ln/>
          <a:effectLst>
            <a:outerShdw blurRad="101600" dist="38100" dir="8100000" algn="bl" rotWithShape="0">
              <a:srgbClr val="000000">
                <a:alpha val="18000"/>
              </a:srgbClr>
            </a:outerShdw>
          </a:effectLst>
        </p:spPr>
      </p:sp>
      <p:sp>
        <p:nvSpPr>
          <p:cNvPr id="11" name="Shape 9"/>
          <p:cNvSpPr/>
          <p:nvPr/>
        </p:nvSpPr>
        <p:spPr>
          <a:xfrm>
            <a:off x="3246120" y="1188720"/>
            <a:ext cx="54864" cy="1417320"/>
          </a:xfrm>
          <a:prstGeom prst="rect">
            <a:avLst/>
          </a:prstGeom>
          <a:solidFill>
            <a:srgbClr val="45D48A"/>
          </a:solidFill>
          <a:ln/>
        </p:spPr>
      </p:sp>
      <p:sp>
        <p:nvSpPr>
          <p:cNvPr id="12" name="Text 10"/>
          <p:cNvSpPr/>
          <p:nvPr/>
        </p:nvSpPr>
        <p:spPr>
          <a:xfrm>
            <a:off x="3355848" y="1280160"/>
            <a:ext cx="457200" cy="365760"/>
          </a:xfrm>
          <a:prstGeom prst="rect">
            <a:avLst/>
          </a:prstGeom>
          <a:noFill/>
          <a:ln/>
        </p:spPr>
        <p:txBody>
          <a:bodyPr wrap="square" lIns="0" tIns="0" rIns="0" bIns="0" rtlCol="0" anchor="ctr"/>
          <a:lstStyle/>
          <a:p>
            <a:pPr marL="0" indent="0">
              <a:buNone/>
            </a:pPr>
            <a:r>
              <a:rPr lang="en-US" sz="1100" b="1" dirty="0">
                <a:solidFill>
                  <a:srgbClr val="45D48A"/>
                </a:solidFill>
              </a:rPr>
              <a:t>02</a:t>
            </a:r>
            <a:endParaRPr lang="en-US" sz="1100" dirty="0"/>
          </a:p>
        </p:txBody>
      </p:sp>
      <p:sp>
        <p:nvSpPr>
          <p:cNvPr id="13" name="Text 11"/>
          <p:cNvSpPr/>
          <p:nvPr/>
        </p:nvSpPr>
        <p:spPr>
          <a:xfrm>
            <a:off x="3355848" y="1572768"/>
            <a:ext cx="2514600" cy="347472"/>
          </a:xfrm>
          <a:prstGeom prst="rect">
            <a:avLst/>
          </a:prstGeom>
          <a:noFill/>
          <a:ln/>
        </p:spPr>
        <p:txBody>
          <a:bodyPr wrap="square" lIns="0" tIns="0" rIns="0" bIns="0" rtlCol="0" anchor="ctr"/>
          <a:lstStyle/>
          <a:p>
            <a:pPr marL="0" indent="0">
              <a:buNone/>
            </a:pPr>
            <a:r>
              <a:rPr lang="en-US" sz="1400" b="1" dirty="0">
                <a:solidFill>
                  <a:srgbClr val="FFFFFF"/>
                </a:solidFill>
              </a:rPr>
              <a:t>No Labs in Rural Schools</a:t>
            </a:r>
            <a:endParaRPr lang="en-US" sz="1400" dirty="0"/>
          </a:p>
        </p:txBody>
      </p:sp>
      <p:sp>
        <p:nvSpPr>
          <p:cNvPr id="14" name="Text 12"/>
          <p:cNvSpPr/>
          <p:nvPr/>
        </p:nvSpPr>
        <p:spPr>
          <a:xfrm>
            <a:off x="3355848" y="1901952"/>
            <a:ext cx="2514600" cy="621792"/>
          </a:xfrm>
          <a:prstGeom prst="rect">
            <a:avLst/>
          </a:prstGeom>
          <a:noFill/>
          <a:ln/>
        </p:spPr>
        <p:txBody>
          <a:bodyPr wrap="square" lIns="0" tIns="0" rIns="0" bIns="0" rtlCol="0" anchor="ctr"/>
          <a:lstStyle/>
          <a:p>
            <a:pPr marL="0" indent="0">
              <a:buNone/>
            </a:pPr>
            <a:r>
              <a:rPr lang="en-US" sz="1200" dirty="0">
                <a:solidFill>
                  <a:srgbClr val="8898AA"/>
                </a:solidFill>
              </a:rPr>
              <a:t>Millions of students lack access to science labs, stunting practical education &amp; vocational skills.</a:t>
            </a:r>
            <a:endParaRPr lang="en-US" sz="1200" dirty="0"/>
          </a:p>
        </p:txBody>
      </p:sp>
      <p:sp>
        <p:nvSpPr>
          <p:cNvPr id="15" name="Shape 13"/>
          <p:cNvSpPr/>
          <p:nvPr/>
        </p:nvSpPr>
        <p:spPr>
          <a:xfrm>
            <a:off x="6217920" y="1188720"/>
            <a:ext cx="2743200" cy="1417320"/>
          </a:xfrm>
          <a:prstGeom prst="rect">
            <a:avLst/>
          </a:prstGeom>
          <a:solidFill>
            <a:srgbClr val="152535"/>
          </a:solidFill>
          <a:ln/>
          <a:effectLst>
            <a:outerShdw blurRad="101600" dist="38100" dir="8100000" algn="bl" rotWithShape="0">
              <a:srgbClr val="000000">
                <a:alpha val="18000"/>
              </a:srgbClr>
            </a:outerShdw>
          </a:effectLst>
        </p:spPr>
      </p:sp>
      <p:sp>
        <p:nvSpPr>
          <p:cNvPr id="16" name="Shape 14"/>
          <p:cNvSpPr/>
          <p:nvPr/>
        </p:nvSpPr>
        <p:spPr>
          <a:xfrm>
            <a:off x="6217920" y="1188720"/>
            <a:ext cx="54864" cy="1417320"/>
          </a:xfrm>
          <a:prstGeom prst="rect">
            <a:avLst/>
          </a:prstGeom>
          <a:solidFill>
            <a:srgbClr val="F5A623"/>
          </a:solidFill>
          <a:ln/>
        </p:spPr>
      </p:sp>
      <p:sp>
        <p:nvSpPr>
          <p:cNvPr id="17" name="Text 15"/>
          <p:cNvSpPr/>
          <p:nvPr/>
        </p:nvSpPr>
        <p:spPr>
          <a:xfrm>
            <a:off x="6327648" y="1280160"/>
            <a:ext cx="457200" cy="365760"/>
          </a:xfrm>
          <a:prstGeom prst="rect">
            <a:avLst/>
          </a:prstGeom>
          <a:noFill/>
          <a:ln/>
        </p:spPr>
        <p:txBody>
          <a:bodyPr wrap="square" lIns="0" tIns="0" rIns="0" bIns="0" rtlCol="0" anchor="ctr"/>
          <a:lstStyle/>
          <a:p>
            <a:pPr marL="0" indent="0">
              <a:buNone/>
            </a:pPr>
            <a:r>
              <a:rPr lang="en-US" sz="1100" b="1" dirty="0">
                <a:solidFill>
                  <a:srgbClr val="F5A623"/>
                </a:solidFill>
              </a:rPr>
              <a:t>03</a:t>
            </a:r>
            <a:endParaRPr lang="en-US" sz="1100" dirty="0"/>
          </a:p>
        </p:txBody>
      </p:sp>
      <p:sp>
        <p:nvSpPr>
          <p:cNvPr id="18" name="Text 16"/>
          <p:cNvSpPr/>
          <p:nvPr/>
        </p:nvSpPr>
        <p:spPr>
          <a:xfrm>
            <a:off x="6327648" y="1572768"/>
            <a:ext cx="2514600" cy="347472"/>
          </a:xfrm>
          <a:prstGeom prst="rect">
            <a:avLst/>
          </a:prstGeom>
          <a:noFill/>
          <a:ln/>
        </p:spPr>
        <p:txBody>
          <a:bodyPr wrap="square" lIns="0" tIns="0" rIns="0" bIns="0" rtlCol="0" anchor="ctr"/>
          <a:lstStyle/>
          <a:p>
            <a:pPr marL="0" indent="0">
              <a:buNone/>
            </a:pPr>
            <a:r>
              <a:rPr lang="en-US" sz="1400" b="1" dirty="0">
                <a:solidFill>
                  <a:srgbClr val="FFFFFF"/>
                </a:solidFill>
              </a:rPr>
              <a:t>Language Barriers</a:t>
            </a:r>
            <a:endParaRPr lang="en-US" sz="1400" dirty="0"/>
          </a:p>
        </p:txBody>
      </p:sp>
      <p:sp>
        <p:nvSpPr>
          <p:cNvPr id="19" name="Text 17"/>
          <p:cNvSpPr/>
          <p:nvPr/>
        </p:nvSpPr>
        <p:spPr>
          <a:xfrm>
            <a:off x="6327648" y="1901952"/>
            <a:ext cx="2514600" cy="621792"/>
          </a:xfrm>
          <a:prstGeom prst="rect">
            <a:avLst/>
          </a:prstGeom>
          <a:noFill/>
          <a:ln/>
        </p:spPr>
        <p:txBody>
          <a:bodyPr wrap="square" lIns="0" tIns="0" rIns="0" bIns="0" rtlCol="0" anchor="ctr"/>
          <a:lstStyle/>
          <a:p>
            <a:pPr marL="0" indent="0">
              <a:buNone/>
            </a:pPr>
            <a:r>
              <a:rPr lang="en-US" sz="1200" dirty="0">
                <a:solidFill>
                  <a:srgbClr val="8898AA"/>
                </a:solidFill>
              </a:rPr>
              <a:t>Content delivered only in English leaves regional language students behind.</a:t>
            </a:r>
            <a:endParaRPr lang="en-US" sz="1200" dirty="0"/>
          </a:p>
        </p:txBody>
      </p:sp>
      <p:sp>
        <p:nvSpPr>
          <p:cNvPr id="20" name="Shape 18"/>
          <p:cNvSpPr/>
          <p:nvPr/>
        </p:nvSpPr>
        <p:spPr>
          <a:xfrm>
            <a:off x="274320" y="2788920"/>
            <a:ext cx="2743200" cy="1417320"/>
          </a:xfrm>
          <a:prstGeom prst="rect">
            <a:avLst/>
          </a:prstGeom>
          <a:solidFill>
            <a:srgbClr val="152535"/>
          </a:solidFill>
          <a:ln/>
          <a:effectLst>
            <a:outerShdw blurRad="101600" dist="38100" dir="8100000" algn="bl" rotWithShape="0">
              <a:srgbClr val="000000">
                <a:alpha val="18000"/>
              </a:srgbClr>
            </a:outerShdw>
          </a:effectLst>
        </p:spPr>
      </p:sp>
      <p:sp>
        <p:nvSpPr>
          <p:cNvPr id="21" name="Shape 19"/>
          <p:cNvSpPr/>
          <p:nvPr/>
        </p:nvSpPr>
        <p:spPr>
          <a:xfrm>
            <a:off x="274320" y="2788920"/>
            <a:ext cx="54864" cy="1417320"/>
          </a:xfrm>
          <a:prstGeom prst="rect">
            <a:avLst/>
          </a:prstGeom>
          <a:solidFill>
            <a:srgbClr val="0ABFBC"/>
          </a:solidFill>
          <a:ln/>
        </p:spPr>
      </p:sp>
      <p:sp>
        <p:nvSpPr>
          <p:cNvPr id="22" name="Text 20"/>
          <p:cNvSpPr/>
          <p:nvPr/>
        </p:nvSpPr>
        <p:spPr>
          <a:xfrm>
            <a:off x="384048" y="2880360"/>
            <a:ext cx="457200" cy="365760"/>
          </a:xfrm>
          <a:prstGeom prst="rect">
            <a:avLst/>
          </a:prstGeom>
          <a:noFill/>
          <a:ln/>
        </p:spPr>
        <p:txBody>
          <a:bodyPr wrap="square" lIns="0" tIns="0" rIns="0" bIns="0" rtlCol="0" anchor="ctr"/>
          <a:lstStyle/>
          <a:p>
            <a:pPr marL="0" indent="0">
              <a:buNone/>
            </a:pPr>
            <a:r>
              <a:rPr lang="en-US" sz="1100" b="1" dirty="0">
                <a:solidFill>
                  <a:srgbClr val="0ABFBC"/>
                </a:solidFill>
              </a:rPr>
              <a:t>04</a:t>
            </a:r>
            <a:endParaRPr lang="en-US" sz="1100" dirty="0"/>
          </a:p>
        </p:txBody>
      </p:sp>
      <p:sp>
        <p:nvSpPr>
          <p:cNvPr id="23" name="Text 21"/>
          <p:cNvSpPr/>
          <p:nvPr/>
        </p:nvSpPr>
        <p:spPr>
          <a:xfrm>
            <a:off x="384048" y="3172968"/>
            <a:ext cx="2514600" cy="347472"/>
          </a:xfrm>
          <a:prstGeom prst="rect">
            <a:avLst/>
          </a:prstGeom>
          <a:noFill/>
          <a:ln/>
        </p:spPr>
        <p:txBody>
          <a:bodyPr wrap="square" lIns="0" tIns="0" rIns="0" bIns="0" rtlCol="0" anchor="ctr"/>
          <a:lstStyle/>
          <a:p>
            <a:pPr marL="0" indent="0">
              <a:buNone/>
            </a:pPr>
            <a:r>
              <a:rPr lang="en-US" sz="1400" b="1" dirty="0">
                <a:solidFill>
                  <a:srgbClr val="FFFFFF"/>
                </a:solidFill>
              </a:rPr>
              <a:t>Resource Misallocation</a:t>
            </a:r>
            <a:endParaRPr lang="en-US" sz="1400" dirty="0"/>
          </a:p>
        </p:txBody>
      </p:sp>
      <p:sp>
        <p:nvSpPr>
          <p:cNvPr id="24" name="Text 22"/>
          <p:cNvSpPr/>
          <p:nvPr/>
        </p:nvSpPr>
        <p:spPr>
          <a:xfrm>
            <a:off x="384048" y="3502152"/>
            <a:ext cx="2514600" cy="621792"/>
          </a:xfrm>
          <a:prstGeom prst="rect">
            <a:avLst/>
          </a:prstGeom>
          <a:noFill/>
          <a:ln/>
        </p:spPr>
        <p:txBody>
          <a:bodyPr wrap="square" lIns="0" tIns="0" rIns="0" bIns="0" rtlCol="0" anchor="ctr"/>
          <a:lstStyle/>
          <a:p>
            <a:pPr marL="0" indent="0">
              <a:buNone/>
            </a:pPr>
            <a:r>
              <a:rPr lang="en-US" sz="1200" dirty="0">
                <a:solidFill>
                  <a:srgbClr val="8898AA"/>
                </a:solidFill>
              </a:rPr>
              <a:t>Teacher &amp; infrastructure distribution across districts lacks data-driven coordination.</a:t>
            </a:r>
            <a:endParaRPr lang="en-US" sz="1200" dirty="0"/>
          </a:p>
        </p:txBody>
      </p:sp>
      <p:sp>
        <p:nvSpPr>
          <p:cNvPr id="25" name="Shape 23"/>
          <p:cNvSpPr/>
          <p:nvPr/>
        </p:nvSpPr>
        <p:spPr>
          <a:xfrm>
            <a:off x="3246120" y="2788920"/>
            <a:ext cx="2743200" cy="1417320"/>
          </a:xfrm>
          <a:prstGeom prst="rect">
            <a:avLst/>
          </a:prstGeom>
          <a:solidFill>
            <a:srgbClr val="152535"/>
          </a:solidFill>
          <a:ln/>
          <a:effectLst>
            <a:outerShdw blurRad="101600" dist="38100" dir="8100000" algn="bl" rotWithShape="0">
              <a:srgbClr val="000000">
                <a:alpha val="18000"/>
              </a:srgbClr>
            </a:outerShdw>
          </a:effectLst>
        </p:spPr>
      </p:sp>
      <p:sp>
        <p:nvSpPr>
          <p:cNvPr id="26" name="Shape 24"/>
          <p:cNvSpPr/>
          <p:nvPr/>
        </p:nvSpPr>
        <p:spPr>
          <a:xfrm>
            <a:off x="3246120" y="2788920"/>
            <a:ext cx="54864" cy="1417320"/>
          </a:xfrm>
          <a:prstGeom prst="rect">
            <a:avLst/>
          </a:prstGeom>
          <a:solidFill>
            <a:srgbClr val="45D48A"/>
          </a:solidFill>
          <a:ln/>
        </p:spPr>
      </p:sp>
      <p:sp>
        <p:nvSpPr>
          <p:cNvPr id="27" name="Text 25"/>
          <p:cNvSpPr/>
          <p:nvPr/>
        </p:nvSpPr>
        <p:spPr>
          <a:xfrm>
            <a:off x="3355848" y="2880360"/>
            <a:ext cx="457200" cy="365760"/>
          </a:xfrm>
          <a:prstGeom prst="rect">
            <a:avLst/>
          </a:prstGeom>
          <a:noFill/>
          <a:ln/>
        </p:spPr>
        <p:txBody>
          <a:bodyPr wrap="square" lIns="0" tIns="0" rIns="0" bIns="0" rtlCol="0" anchor="ctr"/>
          <a:lstStyle/>
          <a:p>
            <a:pPr marL="0" indent="0">
              <a:buNone/>
            </a:pPr>
            <a:r>
              <a:rPr lang="en-US" sz="1100" b="1" dirty="0">
                <a:solidFill>
                  <a:srgbClr val="45D48A"/>
                </a:solidFill>
              </a:rPr>
              <a:t>05</a:t>
            </a:r>
            <a:endParaRPr lang="en-US" sz="1100" dirty="0"/>
          </a:p>
        </p:txBody>
      </p:sp>
      <p:sp>
        <p:nvSpPr>
          <p:cNvPr id="28" name="Text 26"/>
          <p:cNvSpPr/>
          <p:nvPr/>
        </p:nvSpPr>
        <p:spPr>
          <a:xfrm>
            <a:off x="3355848" y="3172968"/>
            <a:ext cx="2514600" cy="347472"/>
          </a:xfrm>
          <a:prstGeom prst="rect">
            <a:avLst/>
          </a:prstGeom>
          <a:noFill/>
          <a:ln/>
        </p:spPr>
        <p:txBody>
          <a:bodyPr wrap="square" lIns="0" tIns="0" rIns="0" bIns="0" rtlCol="0" anchor="ctr"/>
          <a:lstStyle/>
          <a:p>
            <a:pPr marL="0" indent="0">
              <a:buNone/>
            </a:pPr>
            <a:r>
              <a:rPr lang="en-US" sz="1400" b="1" dirty="0">
                <a:solidFill>
                  <a:srgbClr val="FFFFFF"/>
                </a:solidFill>
              </a:rPr>
              <a:t>Job Market Gap</a:t>
            </a:r>
            <a:endParaRPr lang="en-US" sz="1400" dirty="0"/>
          </a:p>
        </p:txBody>
      </p:sp>
      <p:sp>
        <p:nvSpPr>
          <p:cNvPr id="29" name="Text 27"/>
          <p:cNvSpPr/>
          <p:nvPr/>
        </p:nvSpPr>
        <p:spPr>
          <a:xfrm>
            <a:off x="3355848" y="3502152"/>
            <a:ext cx="2514600" cy="621792"/>
          </a:xfrm>
          <a:prstGeom prst="rect">
            <a:avLst/>
          </a:prstGeom>
          <a:noFill/>
          <a:ln/>
        </p:spPr>
        <p:txBody>
          <a:bodyPr wrap="square" lIns="0" tIns="0" rIns="0" bIns="0" rtlCol="0" anchor="ctr"/>
          <a:lstStyle/>
          <a:p>
            <a:pPr marL="0" indent="0">
              <a:buNone/>
            </a:pPr>
            <a:r>
              <a:rPr lang="en-US" sz="1200" dirty="0">
                <a:solidFill>
                  <a:srgbClr val="8898AA"/>
                </a:solidFill>
              </a:rPr>
              <a:t>Traditional systems focus on exams, not real-world skills, ATS resumes, or career readiness.</a:t>
            </a:r>
            <a:endParaRPr lang="en-US" sz="1200" dirty="0"/>
          </a:p>
        </p:txBody>
      </p:sp>
      <p:sp>
        <p:nvSpPr>
          <p:cNvPr id="30" name="Shape 28"/>
          <p:cNvSpPr/>
          <p:nvPr/>
        </p:nvSpPr>
        <p:spPr>
          <a:xfrm>
            <a:off x="6217920" y="2788920"/>
            <a:ext cx="2743200" cy="1417320"/>
          </a:xfrm>
          <a:prstGeom prst="rect">
            <a:avLst/>
          </a:prstGeom>
          <a:solidFill>
            <a:srgbClr val="152535"/>
          </a:solidFill>
          <a:ln/>
          <a:effectLst>
            <a:outerShdw blurRad="101600" dist="38100" dir="8100000" algn="bl" rotWithShape="0">
              <a:srgbClr val="000000">
                <a:alpha val="18000"/>
              </a:srgbClr>
            </a:outerShdw>
          </a:effectLst>
        </p:spPr>
      </p:sp>
      <p:sp>
        <p:nvSpPr>
          <p:cNvPr id="31" name="Shape 29"/>
          <p:cNvSpPr/>
          <p:nvPr/>
        </p:nvSpPr>
        <p:spPr>
          <a:xfrm>
            <a:off x="6217920" y="2788920"/>
            <a:ext cx="54864" cy="1417320"/>
          </a:xfrm>
          <a:prstGeom prst="rect">
            <a:avLst/>
          </a:prstGeom>
          <a:solidFill>
            <a:srgbClr val="F5A623"/>
          </a:solidFill>
          <a:ln/>
        </p:spPr>
      </p:sp>
      <p:sp>
        <p:nvSpPr>
          <p:cNvPr id="32" name="Text 30"/>
          <p:cNvSpPr/>
          <p:nvPr/>
        </p:nvSpPr>
        <p:spPr>
          <a:xfrm>
            <a:off x="6327648" y="2880360"/>
            <a:ext cx="457200" cy="365760"/>
          </a:xfrm>
          <a:prstGeom prst="rect">
            <a:avLst/>
          </a:prstGeom>
          <a:noFill/>
          <a:ln/>
        </p:spPr>
        <p:txBody>
          <a:bodyPr wrap="square" lIns="0" tIns="0" rIns="0" bIns="0" rtlCol="0" anchor="ctr"/>
          <a:lstStyle/>
          <a:p>
            <a:pPr marL="0" indent="0">
              <a:buNone/>
            </a:pPr>
            <a:r>
              <a:rPr lang="en-US" sz="1100" b="1" dirty="0">
                <a:solidFill>
                  <a:srgbClr val="F5A623"/>
                </a:solidFill>
              </a:rPr>
              <a:t>06</a:t>
            </a:r>
            <a:endParaRPr lang="en-US" sz="1100" dirty="0"/>
          </a:p>
        </p:txBody>
      </p:sp>
      <p:sp>
        <p:nvSpPr>
          <p:cNvPr id="33" name="Text 31"/>
          <p:cNvSpPr/>
          <p:nvPr/>
        </p:nvSpPr>
        <p:spPr>
          <a:xfrm>
            <a:off x="6327648" y="3172968"/>
            <a:ext cx="2514600" cy="347472"/>
          </a:xfrm>
          <a:prstGeom prst="rect">
            <a:avLst/>
          </a:prstGeom>
          <a:noFill/>
          <a:ln/>
        </p:spPr>
        <p:txBody>
          <a:bodyPr wrap="square" lIns="0" tIns="0" rIns="0" bIns="0" rtlCol="0" anchor="ctr"/>
          <a:lstStyle/>
          <a:p>
            <a:pPr marL="0" indent="0">
              <a:buNone/>
            </a:pPr>
            <a:r>
              <a:rPr lang="en-US" sz="1400" b="1" dirty="0">
                <a:solidFill>
                  <a:srgbClr val="FFFFFF"/>
                </a:solidFill>
              </a:rPr>
              <a:t>Socio-Economic Divide</a:t>
            </a:r>
            <a:endParaRPr lang="en-US" sz="1400" dirty="0"/>
          </a:p>
        </p:txBody>
      </p:sp>
      <p:sp>
        <p:nvSpPr>
          <p:cNvPr id="34" name="Text 32"/>
          <p:cNvSpPr/>
          <p:nvPr/>
        </p:nvSpPr>
        <p:spPr>
          <a:xfrm>
            <a:off x="6327648" y="3502152"/>
            <a:ext cx="2514600" cy="621792"/>
          </a:xfrm>
          <a:prstGeom prst="rect">
            <a:avLst/>
          </a:prstGeom>
          <a:noFill/>
          <a:ln/>
        </p:spPr>
        <p:txBody>
          <a:bodyPr wrap="square" lIns="0" tIns="0" rIns="0" bIns="0" rtlCol="0" anchor="ctr"/>
          <a:lstStyle/>
          <a:p>
            <a:pPr marL="0" indent="0">
              <a:buNone/>
            </a:pPr>
            <a:r>
              <a:rPr lang="en-US" sz="1200" dirty="0">
                <a:solidFill>
                  <a:srgbClr val="8898AA"/>
                </a:solidFill>
              </a:rPr>
              <a:t>Underprivileged students have no access to personalised digital education tools.</a:t>
            </a:r>
            <a:endParaRPr lang="en-US" sz="1200" dirty="0"/>
          </a:p>
        </p:txBody>
      </p:sp>
      <p:pic>
        <p:nvPicPr>
          <p:cNvPr id="35" name="Google Shape;238;p6" title="Witch Hunt finalized logo-modified.png">
            <a:extLst>
              <a:ext uri="{FF2B5EF4-FFF2-40B4-BE49-F238E27FC236}">
                <a16:creationId xmlns:a16="http://schemas.microsoft.com/office/drawing/2014/main" id="{943539A0-26BA-0EA5-E409-903931F07D62}"/>
              </a:ext>
            </a:extLst>
          </p:cNvPr>
          <p:cNvPicPr preferRelativeResize="0"/>
          <p:nvPr/>
        </p:nvPicPr>
        <p:blipFill rotWithShape="1">
          <a:blip r:embed="rId3">
            <a:alphaModFix/>
          </a:blip>
          <a:srcRect/>
          <a:stretch/>
        </p:blipFill>
        <p:spPr>
          <a:xfrm>
            <a:off x="129475" y="110938"/>
            <a:ext cx="680849" cy="6808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buNone/>
            </a:pPr>
            <a:r>
              <a:rPr lang="en-US" sz="2800" b="1" dirty="0">
                <a:solidFill>
                  <a:srgbClr val="FFFFFF"/>
                </a:solidFill>
              </a:rPr>
              <a:t>      PROJECT DETAILS</a:t>
            </a:r>
            <a:endParaRPr lang="en-US" sz="2800" dirty="0"/>
          </a:p>
        </p:txBody>
      </p:sp>
      <p:sp>
        <p:nvSpPr>
          <p:cNvPr id="4" name="Shape 2"/>
          <p:cNvSpPr/>
          <p:nvPr/>
        </p:nvSpPr>
        <p:spPr>
          <a:xfrm>
            <a:off x="0" y="914400"/>
            <a:ext cx="9144000" cy="54864"/>
          </a:xfrm>
          <a:prstGeom prst="rect">
            <a:avLst/>
          </a:prstGeom>
          <a:solidFill>
            <a:srgbClr val="0ABFBC"/>
          </a:solidFill>
          <a:ln/>
        </p:spPr>
      </p:sp>
      <p:sp>
        <p:nvSpPr>
          <p:cNvPr id="5" name="Shape 3"/>
          <p:cNvSpPr/>
          <p:nvPr/>
        </p:nvSpPr>
        <p:spPr>
          <a:xfrm>
            <a:off x="274320" y="1188720"/>
            <a:ext cx="4754880" cy="3474720"/>
          </a:xfrm>
          <a:prstGeom prst="rect">
            <a:avLst/>
          </a:prstGeom>
          <a:solidFill>
            <a:srgbClr val="FFFFFF"/>
          </a:solidFill>
          <a:ln/>
          <a:effectLst>
            <a:outerShdw blurRad="101600" dist="38100" dir="8100000" algn="bl" rotWithShape="0">
              <a:srgbClr val="000000">
                <a:alpha val="18000"/>
              </a:srgbClr>
            </a:outerShdw>
          </a:effectLst>
        </p:spPr>
      </p:sp>
      <p:sp>
        <p:nvSpPr>
          <p:cNvPr id="6" name="Shape 4"/>
          <p:cNvSpPr/>
          <p:nvPr/>
        </p:nvSpPr>
        <p:spPr>
          <a:xfrm>
            <a:off x="274320" y="1188720"/>
            <a:ext cx="4754880" cy="54864"/>
          </a:xfrm>
          <a:prstGeom prst="rect">
            <a:avLst/>
          </a:prstGeom>
          <a:solidFill>
            <a:srgbClr val="0ABFBC"/>
          </a:solidFill>
          <a:ln/>
        </p:spPr>
      </p:sp>
      <p:sp>
        <p:nvSpPr>
          <p:cNvPr id="7" name="Text 5"/>
          <p:cNvSpPr/>
          <p:nvPr/>
        </p:nvSpPr>
        <p:spPr>
          <a:xfrm>
            <a:off x="457200" y="1325880"/>
            <a:ext cx="4389120" cy="457200"/>
          </a:xfrm>
          <a:prstGeom prst="rect">
            <a:avLst/>
          </a:prstGeom>
          <a:noFill/>
          <a:ln/>
        </p:spPr>
        <p:txBody>
          <a:bodyPr wrap="square" lIns="0" tIns="0" rIns="0" bIns="0" rtlCol="0" anchor="ctr"/>
          <a:lstStyle/>
          <a:p>
            <a:pPr marL="0" indent="0">
              <a:buNone/>
            </a:pPr>
            <a:r>
              <a:rPr lang="en-US" sz="2200" b="1" dirty="0">
                <a:solidFill>
                  <a:srgbClr val="0D1B2A"/>
                </a:solidFill>
              </a:rPr>
              <a:t>EduAI Nexus</a:t>
            </a:r>
            <a:endParaRPr lang="en-US" sz="2200" dirty="0"/>
          </a:p>
        </p:txBody>
      </p:sp>
      <p:sp>
        <p:nvSpPr>
          <p:cNvPr id="8" name="Text 6"/>
          <p:cNvSpPr/>
          <p:nvPr/>
        </p:nvSpPr>
        <p:spPr>
          <a:xfrm>
            <a:off x="457200" y="1755648"/>
            <a:ext cx="4389120" cy="320040"/>
          </a:xfrm>
          <a:prstGeom prst="rect">
            <a:avLst/>
          </a:prstGeom>
          <a:noFill/>
          <a:ln/>
        </p:spPr>
        <p:txBody>
          <a:bodyPr wrap="square" lIns="0" tIns="0" rIns="0" bIns="0" rtlCol="0" anchor="ctr"/>
          <a:lstStyle/>
          <a:p>
            <a:pPr marL="0" indent="0">
              <a:buNone/>
            </a:pPr>
            <a:r>
              <a:rPr lang="en-US" sz="1200" i="1" dirty="0">
                <a:solidFill>
                  <a:srgbClr val="0ABFBC"/>
                </a:solidFill>
              </a:rPr>
              <a:t>AI-Powered Smart Education Ecosystem</a:t>
            </a:r>
            <a:endParaRPr lang="en-US" sz="1200" dirty="0"/>
          </a:p>
        </p:txBody>
      </p:sp>
      <p:sp>
        <p:nvSpPr>
          <p:cNvPr id="9" name="Text 7"/>
          <p:cNvSpPr/>
          <p:nvPr/>
        </p:nvSpPr>
        <p:spPr>
          <a:xfrm>
            <a:off x="457200" y="2103120"/>
            <a:ext cx="4389120" cy="2025748"/>
          </a:xfrm>
          <a:prstGeom prst="rect">
            <a:avLst/>
          </a:prstGeom>
          <a:noFill/>
          <a:ln/>
        </p:spPr>
        <p:txBody>
          <a:bodyPr wrap="square" lIns="0" tIns="0" rIns="0" bIns="0" rtlCol="0" anchor="ctr"/>
          <a:lstStyle/>
          <a:p>
            <a:pPr marL="0" indent="0">
              <a:buNone/>
            </a:pPr>
            <a:r>
              <a:rPr lang="en-US" sz="1500" dirty="0">
                <a:solidFill>
                  <a:srgbClr val="0D1B2A"/>
                </a:solidFill>
              </a:rPr>
              <a:t>EduAI Nexus is a cloud-native, microservices AI platform that transforms how students learn and how governments manage education. It integrates six AI-driven modules — personalised learning, virtual labs, multilingual support, career readiness, smart resource allocation, and micro-project learning — into one unified ecosystem accessible via smartphone</a:t>
            </a:r>
            <a:r>
              <a:rPr lang="en-US" sz="1100" dirty="0">
                <a:solidFill>
                  <a:srgbClr val="0D1B2A"/>
                </a:solidFill>
              </a:rPr>
              <a:t>.</a:t>
            </a:r>
            <a:endParaRPr lang="en-US" sz="1100" dirty="0"/>
          </a:p>
        </p:txBody>
      </p:sp>
      <p:sp>
        <p:nvSpPr>
          <p:cNvPr id="10" name="Shape 8"/>
          <p:cNvSpPr/>
          <p:nvPr/>
        </p:nvSpPr>
        <p:spPr>
          <a:xfrm>
            <a:off x="5349240" y="1188720"/>
            <a:ext cx="1691640" cy="1554480"/>
          </a:xfrm>
          <a:prstGeom prst="rect">
            <a:avLst/>
          </a:prstGeom>
          <a:solidFill>
            <a:srgbClr val="FFFFFF"/>
          </a:solidFill>
          <a:ln/>
          <a:effectLst>
            <a:outerShdw blurRad="101600" dist="38100" dir="8100000" algn="bl" rotWithShape="0">
              <a:srgbClr val="000000">
                <a:alpha val="18000"/>
              </a:srgbClr>
            </a:outerShdw>
          </a:effectLst>
        </p:spPr>
      </p:sp>
      <p:sp>
        <p:nvSpPr>
          <p:cNvPr id="11" name="Shape 9"/>
          <p:cNvSpPr/>
          <p:nvPr/>
        </p:nvSpPr>
        <p:spPr>
          <a:xfrm>
            <a:off x="5349240" y="1188720"/>
            <a:ext cx="1691640" cy="54864"/>
          </a:xfrm>
          <a:prstGeom prst="rect">
            <a:avLst/>
          </a:prstGeom>
          <a:solidFill>
            <a:srgbClr val="0ABFBC"/>
          </a:solidFill>
          <a:ln/>
        </p:spPr>
      </p:sp>
      <p:sp>
        <p:nvSpPr>
          <p:cNvPr id="12" name="Text 10"/>
          <p:cNvSpPr/>
          <p:nvPr/>
        </p:nvSpPr>
        <p:spPr>
          <a:xfrm>
            <a:off x="5349240" y="1417320"/>
            <a:ext cx="1691640" cy="685800"/>
          </a:xfrm>
          <a:prstGeom prst="rect">
            <a:avLst/>
          </a:prstGeom>
          <a:noFill/>
          <a:ln/>
        </p:spPr>
        <p:txBody>
          <a:bodyPr wrap="square" lIns="0" tIns="0" rIns="0" bIns="0" rtlCol="0" anchor="ctr"/>
          <a:lstStyle/>
          <a:p>
            <a:pPr marL="0" indent="0" algn="ctr">
              <a:buNone/>
            </a:pPr>
            <a:r>
              <a:rPr lang="en-US" sz="2800" b="1" dirty="0">
                <a:solidFill>
                  <a:srgbClr val="0ABFBC"/>
                </a:solidFill>
              </a:rPr>
              <a:t>250M+</a:t>
            </a:r>
            <a:endParaRPr lang="en-US" sz="2800" dirty="0"/>
          </a:p>
        </p:txBody>
      </p:sp>
      <p:sp>
        <p:nvSpPr>
          <p:cNvPr id="13" name="Text 11"/>
          <p:cNvSpPr/>
          <p:nvPr/>
        </p:nvSpPr>
        <p:spPr>
          <a:xfrm>
            <a:off x="5349240" y="2057400"/>
            <a:ext cx="1691640" cy="502920"/>
          </a:xfrm>
          <a:prstGeom prst="rect">
            <a:avLst/>
          </a:prstGeom>
          <a:noFill/>
          <a:ln/>
        </p:spPr>
        <p:txBody>
          <a:bodyPr wrap="square" lIns="0" tIns="0" rIns="0" bIns="0" rtlCol="0" anchor="ctr"/>
          <a:lstStyle/>
          <a:p>
            <a:pPr marL="0" indent="0" algn="ctr">
              <a:buNone/>
            </a:pPr>
            <a:r>
              <a:rPr lang="en-US" sz="1000" dirty="0">
                <a:solidFill>
                  <a:srgbClr val="8898AA"/>
                </a:solidFill>
              </a:rPr>
              <a:t>Students in India</a:t>
            </a:r>
            <a:endParaRPr lang="en-US" sz="1000" dirty="0"/>
          </a:p>
        </p:txBody>
      </p:sp>
      <p:sp>
        <p:nvSpPr>
          <p:cNvPr id="14" name="Shape 12"/>
          <p:cNvSpPr/>
          <p:nvPr/>
        </p:nvSpPr>
        <p:spPr>
          <a:xfrm>
            <a:off x="7178040" y="1188720"/>
            <a:ext cx="1691640" cy="1554480"/>
          </a:xfrm>
          <a:prstGeom prst="rect">
            <a:avLst/>
          </a:prstGeom>
          <a:solidFill>
            <a:srgbClr val="FFFFFF"/>
          </a:solidFill>
          <a:ln/>
          <a:effectLst>
            <a:outerShdw blurRad="101600" dist="38100" dir="8100000" algn="bl" rotWithShape="0">
              <a:srgbClr val="000000">
                <a:alpha val="18000"/>
              </a:srgbClr>
            </a:outerShdw>
          </a:effectLst>
        </p:spPr>
      </p:sp>
      <p:sp>
        <p:nvSpPr>
          <p:cNvPr id="15" name="Shape 13"/>
          <p:cNvSpPr/>
          <p:nvPr/>
        </p:nvSpPr>
        <p:spPr>
          <a:xfrm>
            <a:off x="7178040" y="1188720"/>
            <a:ext cx="1691640" cy="54864"/>
          </a:xfrm>
          <a:prstGeom prst="rect">
            <a:avLst/>
          </a:prstGeom>
          <a:solidFill>
            <a:srgbClr val="45D48A"/>
          </a:solidFill>
          <a:ln/>
        </p:spPr>
      </p:sp>
      <p:sp>
        <p:nvSpPr>
          <p:cNvPr id="16" name="Text 14"/>
          <p:cNvSpPr/>
          <p:nvPr/>
        </p:nvSpPr>
        <p:spPr>
          <a:xfrm>
            <a:off x="7178040" y="1417320"/>
            <a:ext cx="1691640" cy="685800"/>
          </a:xfrm>
          <a:prstGeom prst="rect">
            <a:avLst/>
          </a:prstGeom>
          <a:noFill/>
          <a:ln/>
        </p:spPr>
        <p:txBody>
          <a:bodyPr wrap="square" lIns="0" tIns="0" rIns="0" bIns="0" rtlCol="0" anchor="ctr"/>
          <a:lstStyle/>
          <a:p>
            <a:pPr marL="0" indent="0" algn="ctr">
              <a:buNone/>
            </a:pPr>
            <a:r>
              <a:rPr lang="en-US" sz="2800" b="1" dirty="0">
                <a:solidFill>
                  <a:srgbClr val="45D48A"/>
                </a:solidFill>
              </a:rPr>
              <a:t>6 AI</a:t>
            </a:r>
            <a:endParaRPr lang="en-US" sz="2800" dirty="0"/>
          </a:p>
        </p:txBody>
      </p:sp>
      <p:sp>
        <p:nvSpPr>
          <p:cNvPr id="17" name="Text 15"/>
          <p:cNvSpPr/>
          <p:nvPr/>
        </p:nvSpPr>
        <p:spPr>
          <a:xfrm>
            <a:off x="7178040" y="2057400"/>
            <a:ext cx="1691640" cy="502920"/>
          </a:xfrm>
          <a:prstGeom prst="rect">
            <a:avLst/>
          </a:prstGeom>
          <a:noFill/>
          <a:ln/>
        </p:spPr>
        <p:txBody>
          <a:bodyPr wrap="square" lIns="0" tIns="0" rIns="0" bIns="0" rtlCol="0" anchor="ctr"/>
          <a:lstStyle/>
          <a:p>
            <a:pPr marL="0" indent="0" algn="ctr">
              <a:buNone/>
            </a:pPr>
            <a:r>
              <a:rPr lang="en-US" sz="1000" dirty="0">
                <a:solidFill>
                  <a:srgbClr val="8898AA"/>
                </a:solidFill>
              </a:rPr>
              <a:t>Core Modules</a:t>
            </a:r>
            <a:endParaRPr lang="en-US" sz="1000" dirty="0"/>
          </a:p>
        </p:txBody>
      </p:sp>
      <p:sp>
        <p:nvSpPr>
          <p:cNvPr id="18" name="Shape 16"/>
          <p:cNvSpPr/>
          <p:nvPr/>
        </p:nvSpPr>
        <p:spPr>
          <a:xfrm>
            <a:off x="5349240" y="2926080"/>
            <a:ext cx="1691640" cy="1554480"/>
          </a:xfrm>
          <a:prstGeom prst="rect">
            <a:avLst/>
          </a:prstGeom>
          <a:solidFill>
            <a:srgbClr val="FFFFFF"/>
          </a:solidFill>
          <a:ln/>
          <a:effectLst>
            <a:outerShdw blurRad="101600" dist="38100" dir="8100000" algn="bl" rotWithShape="0">
              <a:srgbClr val="000000">
                <a:alpha val="18000"/>
              </a:srgbClr>
            </a:outerShdw>
          </a:effectLst>
        </p:spPr>
      </p:sp>
      <p:sp>
        <p:nvSpPr>
          <p:cNvPr id="19" name="Shape 17"/>
          <p:cNvSpPr/>
          <p:nvPr/>
        </p:nvSpPr>
        <p:spPr>
          <a:xfrm>
            <a:off x="5349240" y="2926080"/>
            <a:ext cx="1691640" cy="54864"/>
          </a:xfrm>
          <a:prstGeom prst="rect">
            <a:avLst/>
          </a:prstGeom>
          <a:solidFill>
            <a:srgbClr val="F5A623"/>
          </a:solidFill>
          <a:ln/>
        </p:spPr>
      </p:sp>
      <p:sp>
        <p:nvSpPr>
          <p:cNvPr id="20" name="Text 18"/>
          <p:cNvSpPr/>
          <p:nvPr/>
        </p:nvSpPr>
        <p:spPr>
          <a:xfrm>
            <a:off x="5349240" y="3154680"/>
            <a:ext cx="1691640" cy="685800"/>
          </a:xfrm>
          <a:prstGeom prst="rect">
            <a:avLst/>
          </a:prstGeom>
          <a:noFill/>
          <a:ln/>
        </p:spPr>
        <p:txBody>
          <a:bodyPr wrap="square" lIns="0" tIns="0" rIns="0" bIns="0" rtlCol="0" anchor="ctr"/>
          <a:lstStyle/>
          <a:p>
            <a:pPr marL="0" indent="0" algn="ctr">
              <a:buNone/>
            </a:pPr>
            <a:r>
              <a:rPr lang="en-US" sz="2800" b="1" dirty="0">
                <a:solidFill>
                  <a:srgbClr val="F5A623"/>
                </a:solidFill>
              </a:rPr>
              <a:t>22+</a:t>
            </a:r>
            <a:endParaRPr lang="en-US" sz="2800" dirty="0"/>
          </a:p>
        </p:txBody>
      </p:sp>
      <p:sp>
        <p:nvSpPr>
          <p:cNvPr id="21" name="Text 19"/>
          <p:cNvSpPr/>
          <p:nvPr/>
        </p:nvSpPr>
        <p:spPr>
          <a:xfrm>
            <a:off x="5349240" y="3794760"/>
            <a:ext cx="1691640" cy="502920"/>
          </a:xfrm>
          <a:prstGeom prst="rect">
            <a:avLst/>
          </a:prstGeom>
          <a:noFill/>
          <a:ln/>
        </p:spPr>
        <p:txBody>
          <a:bodyPr wrap="square" lIns="0" tIns="0" rIns="0" bIns="0" rtlCol="0" anchor="ctr"/>
          <a:lstStyle/>
          <a:p>
            <a:pPr marL="0" indent="0" algn="ctr">
              <a:buNone/>
            </a:pPr>
            <a:r>
              <a:rPr lang="en-US" sz="1000" dirty="0">
                <a:solidFill>
                  <a:srgbClr val="8898AA"/>
                </a:solidFill>
              </a:rPr>
              <a:t>Regional Languages</a:t>
            </a:r>
            <a:endParaRPr lang="en-US" sz="1000" dirty="0"/>
          </a:p>
        </p:txBody>
      </p:sp>
      <p:sp>
        <p:nvSpPr>
          <p:cNvPr id="22" name="Shape 20"/>
          <p:cNvSpPr/>
          <p:nvPr/>
        </p:nvSpPr>
        <p:spPr>
          <a:xfrm>
            <a:off x="7178040" y="2926080"/>
            <a:ext cx="1691640" cy="1554480"/>
          </a:xfrm>
          <a:prstGeom prst="rect">
            <a:avLst/>
          </a:prstGeom>
          <a:solidFill>
            <a:srgbClr val="FFFFFF"/>
          </a:solidFill>
          <a:ln/>
          <a:effectLst>
            <a:outerShdw blurRad="101600" dist="38100" dir="8100000" algn="bl" rotWithShape="0">
              <a:srgbClr val="000000">
                <a:alpha val="18000"/>
              </a:srgbClr>
            </a:outerShdw>
          </a:effectLst>
        </p:spPr>
      </p:sp>
      <p:sp>
        <p:nvSpPr>
          <p:cNvPr id="23" name="Shape 21"/>
          <p:cNvSpPr/>
          <p:nvPr/>
        </p:nvSpPr>
        <p:spPr>
          <a:xfrm>
            <a:off x="7178040" y="2926080"/>
            <a:ext cx="1691640" cy="54864"/>
          </a:xfrm>
          <a:prstGeom prst="rect">
            <a:avLst/>
          </a:prstGeom>
          <a:solidFill>
            <a:srgbClr val="0ABFBC"/>
          </a:solidFill>
          <a:ln/>
        </p:spPr>
      </p:sp>
      <p:sp>
        <p:nvSpPr>
          <p:cNvPr id="24" name="Text 22"/>
          <p:cNvSpPr/>
          <p:nvPr/>
        </p:nvSpPr>
        <p:spPr>
          <a:xfrm>
            <a:off x="7178040" y="3154680"/>
            <a:ext cx="1691640" cy="685800"/>
          </a:xfrm>
          <a:prstGeom prst="rect">
            <a:avLst/>
          </a:prstGeom>
          <a:noFill/>
          <a:ln/>
        </p:spPr>
        <p:txBody>
          <a:bodyPr wrap="square" lIns="0" tIns="0" rIns="0" bIns="0" rtlCol="0" anchor="ctr"/>
          <a:lstStyle/>
          <a:p>
            <a:pPr marL="0" indent="0" algn="ctr">
              <a:buNone/>
            </a:pPr>
            <a:r>
              <a:rPr lang="en-US" sz="2800" b="1" dirty="0">
                <a:solidFill>
                  <a:srgbClr val="0ABFBC"/>
                </a:solidFill>
              </a:rPr>
              <a:t>100%</a:t>
            </a:r>
            <a:endParaRPr lang="en-US" sz="2800" dirty="0"/>
          </a:p>
        </p:txBody>
      </p:sp>
      <p:sp>
        <p:nvSpPr>
          <p:cNvPr id="25" name="Text 23"/>
          <p:cNvSpPr/>
          <p:nvPr/>
        </p:nvSpPr>
        <p:spPr>
          <a:xfrm>
            <a:off x="7178040" y="3794760"/>
            <a:ext cx="1691640" cy="502920"/>
          </a:xfrm>
          <a:prstGeom prst="rect">
            <a:avLst/>
          </a:prstGeom>
          <a:noFill/>
          <a:ln/>
        </p:spPr>
        <p:txBody>
          <a:bodyPr wrap="square" lIns="0" tIns="0" rIns="0" bIns="0" rtlCol="0" anchor="ctr"/>
          <a:lstStyle/>
          <a:p>
            <a:pPr marL="0" indent="0" algn="ctr">
              <a:buNone/>
            </a:pPr>
            <a:r>
              <a:rPr lang="en-US" sz="1000" dirty="0">
                <a:solidFill>
                  <a:srgbClr val="8898AA"/>
                </a:solidFill>
              </a:rPr>
              <a:t>Smartphone Accessible</a:t>
            </a:r>
            <a:endParaRPr lang="en-US" sz="1000" dirty="0"/>
          </a:p>
        </p:txBody>
      </p:sp>
      <p:pic>
        <p:nvPicPr>
          <p:cNvPr id="26" name="Google Shape;238;p6" title="Witch Hunt finalized logo-modified.png">
            <a:extLst>
              <a:ext uri="{FF2B5EF4-FFF2-40B4-BE49-F238E27FC236}">
                <a16:creationId xmlns:a16="http://schemas.microsoft.com/office/drawing/2014/main" id="{9FC926B1-0541-64D5-A229-AB0207E9517B}"/>
              </a:ext>
            </a:extLst>
          </p:cNvPr>
          <p:cNvPicPr preferRelativeResize="0"/>
          <p:nvPr/>
        </p:nvPicPr>
        <p:blipFill rotWithShape="1">
          <a:blip r:embed="rId3">
            <a:alphaModFix/>
          </a:blip>
          <a:srcRect/>
          <a:stretch/>
        </p:blipFill>
        <p:spPr>
          <a:xfrm>
            <a:off x="129475" y="110938"/>
            <a:ext cx="680849" cy="6808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A623"/>
          </a:solidFill>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600" b="1" dirty="0">
                <a:solidFill>
                  <a:srgbClr val="FFFFFF"/>
                </a:solidFill>
              </a:rPr>
              <a:t>       USER PERSONA MINDSET </a:t>
            </a:r>
            <a:endParaRPr lang="en-US" sz="2600" dirty="0"/>
          </a:p>
        </p:txBody>
      </p:sp>
      <p:sp>
        <p:nvSpPr>
          <p:cNvPr id="4" name="Text 2"/>
          <p:cNvSpPr/>
          <p:nvPr/>
        </p:nvSpPr>
        <p:spPr>
          <a:xfrm>
            <a:off x="457200" y="667512"/>
            <a:ext cx="5486400" cy="320040"/>
          </a:xfrm>
          <a:prstGeom prst="rect">
            <a:avLst/>
          </a:prstGeom>
          <a:noFill/>
          <a:ln/>
        </p:spPr>
        <p:txBody>
          <a:bodyPr wrap="square" lIns="0" tIns="0" rIns="0" bIns="0" rtlCol="0" anchor="ctr"/>
          <a:lstStyle/>
          <a:p>
            <a:pPr marL="0" indent="0">
              <a:buNone/>
            </a:pPr>
            <a:r>
              <a:rPr lang="en-US" sz="1300" i="1" dirty="0">
                <a:solidFill>
                  <a:srgbClr val="F5A623"/>
                </a:solidFill>
              </a:rPr>
              <a:t>Who we are building for</a:t>
            </a:r>
            <a:endParaRPr lang="en-US" sz="1300" dirty="0"/>
          </a:p>
        </p:txBody>
      </p:sp>
      <p:sp>
        <p:nvSpPr>
          <p:cNvPr id="5" name="Shape 3"/>
          <p:cNvSpPr/>
          <p:nvPr/>
        </p:nvSpPr>
        <p:spPr>
          <a:xfrm>
            <a:off x="274320" y="1234440"/>
            <a:ext cx="274320" cy="274320"/>
          </a:xfrm>
          <a:prstGeom prst="ellipse">
            <a:avLst/>
          </a:prstGeom>
          <a:solidFill>
            <a:srgbClr val="0ABFBC"/>
          </a:solidFill>
          <a:ln/>
        </p:spPr>
      </p:sp>
      <p:sp>
        <p:nvSpPr>
          <p:cNvPr id="6" name="Text 4"/>
          <p:cNvSpPr/>
          <p:nvPr/>
        </p:nvSpPr>
        <p:spPr>
          <a:xfrm>
            <a:off x="685800" y="1188720"/>
            <a:ext cx="8229600" cy="384048"/>
          </a:xfrm>
          <a:prstGeom prst="rect">
            <a:avLst/>
          </a:prstGeom>
          <a:noFill/>
          <a:ln/>
        </p:spPr>
        <p:txBody>
          <a:bodyPr wrap="square" lIns="0" tIns="0" rIns="0" bIns="0" rtlCol="0" anchor="ctr"/>
          <a:lstStyle/>
          <a:p>
            <a:pPr marL="0" indent="0">
              <a:buNone/>
            </a:pPr>
            <a:r>
              <a:rPr lang="en-US" sz="1400" dirty="0">
                <a:solidFill>
                  <a:srgbClr val="FFFFFF"/>
                </a:solidFill>
              </a:rPr>
              <a:t>Build for real humans, not hypothetical users</a:t>
            </a:r>
            <a:endParaRPr lang="en-US" sz="1400" dirty="0"/>
          </a:p>
        </p:txBody>
      </p:sp>
      <p:sp>
        <p:nvSpPr>
          <p:cNvPr id="7" name="Shape 5"/>
          <p:cNvSpPr/>
          <p:nvPr/>
        </p:nvSpPr>
        <p:spPr>
          <a:xfrm>
            <a:off x="274320" y="1856232"/>
            <a:ext cx="274320" cy="274320"/>
          </a:xfrm>
          <a:prstGeom prst="ellipse">
            <a:avLst/>
          </a:prstGeom>
          <a:solidFill>
            <a:srgbClr val="45D48A"/>
          </a:solidFill>
          <a:ln/>
        </p:spPr>
      </p:sp>
      <p:sp>
        <p:nvSpPr>
          <p:cNvPr id="8" name="Text 6"/>
          <p:cNvSpPr/>
          <p:nvPr/>
        </p:nvSpPr>
        <p:spPr>
          <a:xfrm>
            <a:off x="685800" y="1810512"/>
            <a:ext cx="8229600" cy="384048"/>
          </a:xfrm>
          <a:prstGeom prst="rect">
            <a:avLst/>
          </a:prstGeom>
          <a:noFill/>
          <a:ln/>
        </p:spPr>
        <p:txBody>
          <a:bodyPr wrap="square" lIns="0" tIns="0" rIns="0" bIns="0" rtlCol="0" anchor="ctr"/>
          <a:lstStyle/>
          <a:p>
            <a:pPr marL="0" indent="0">
              <a:buNone/>
            </a:pPr>
            <a:r>
              <a:rPr lang="en-US" sz="1400" dirty="0">
                <a:solidFill>
                  <a:srgbClr val="FFFFFF"/>
                </a:solidFill>
              </a:rPr>
              <a:t>Start with people who face real friction every day</a:t>
            </a:r>
            <a:endParaRPr lang="en-US" sz="1400" dirty="0"/>
          </a:p>
        </p:txBody>
      </p:sp>
      <p:sp>
        <p:nvSpPr>
          <p:cNvPr id="9" name="Shape 7"/>
          <p:cNvSpPr/>
          <p:nvPr/>
        </p:nvSpPr>
        <p:spPr>
          <a:xfrm>
            <a:off x="274320" y="2478024"/>
            <a:ext cx="274320" cy="274320"/>
          </a:xfrm>
          <a:prstGeom prst="ellipse">
            <a:avLst/>
          </a:prstGeom>
          <a:solidFill>
            <a:srgbClr val="F5A623"/>
          </a:solidFill>
          <a:ln/>
        </p:spPr>
      </p:sp>
      <p:sp>
        <p:nvSpPr>
          <p:cNvPr id="10" name="Text 8"/>
          <p:cNvSpPr/>
          <p:nvPr/>
        </p:nvSpPr>
        <p:spPr>
          <a:xfrm>
            <a:off x="685800" y="2432304"/>
            <a:ext cx="8229600" cy="384048"/>
          </a:xfrm>
          <a:prstGeom prst="rect">
            <a:avLst/>
          </a:prstGeom>
          <a:noFill/>
          <a:ln/>
        </p:spPr>
        <p:txBody>
          <a:bodyPr wrap="square" lIns="0" tIns="0" rIns="0" bIns="0" rtlCol="0" anchor="ctr"/>
          <a:lstStyle/>
          <a:p>
            <a:pPr marL="0" indent="0">
              <a:buNone/>
            </a:pPr>
            <a:r>
              <a:rPr lang="en-US" sz="1400" dirty="0">
                <a:solidFill>
                  <a:srgbClr val="FFFFFF"/>
                </a:solidFill>
              </a:rPr>
              <a:t>Think beyond convenience — focus on need and necessity</a:t>
            </a:r>
            <a:endParaRPr lang="en-US" sz="1400" dirty="0"/>
          </a:p>
        </p:txBody>
      </p:sp>
      <p:sp>
        <p:nvSpPr>
          <p:cNvPr id="11" name="Shape 9"/>
          <p:cNvSpPr/>
          <p:nvPr/>
        </p:nvSpPr>
        <p:spPr>
          <a:xfrm>
            <a:off x="274320" y="3099816"/>
            <a:ext cx="274320" cy="274320"/>
          </a:xfrm>
          <a:prstGeom prst="ellipse">
            <a:avLst/>
          </a:prstGeom>
          <a:solidFill>
            <a:srgbClr val="0ABFBC"/>
          </a:solidFill>
          <a:ln/>
        </p:spPr>
      </p:sp>
      <p:sp>
        <p:nvSpPr>
          <p:cNvPr id="12" name="Text 10"/>
          <p:cNvSpPr/>
          <p:nvPr/>
        </p:nvSpPr>
        <p:spPr>
          <a:xfrm>
            <a:off x="685800" y="3054096"/>
            <a:ext cx="8229600" cy="384048"/>
          </a:xfrm>
          <a:prstGeom prst="rect">
            <a:avLst/>
          </a:prstGeom>
          <a:noFill/>
          <a:ln/>
        </p:spPr>
        <p:txBody>
          <a:bodyPr wrap="square" lIns="0" tIns="0" rIns="0" bIns="0" rtlCol="0" anchor="ctr"/>
          <a:lstStyle/>
          <a:p>
            <a:pPr marL="0" indent="0">
              <a:buNone/>
            </a:pPr>
            <a:r>
              <a:rPr lang="en-US" sz="1300" dirty="0">
                <a:solidFill>
                  <a:srgbClr val="FFFFFF"/>
                </a:solidFill>
              </a:rPr>
              <a:t>Assume constraints, not perfect conditions</a:t>
            </a:r>
            <a:endParaRPr lang="en-US" sz="1300" dirty="0"/>
          </a:p>
        </p:txBody>
      </p:sp>
      <p:sp>
        <p:nvSpPr>
          <p:cNvPr id="13" name="Shape 11"/>
          <p:cNvSpPr/>
          <p:nvPr/>
        </p:nvSpPr>
        <p:spPr>
          <a:xfrm>
            <a:off x="274320" y="3721608"/>
            <a:ext cx="274320" cy="274320"/>
          </a:xfrm>
          <a:prstGeom prst="ellipse">
            <a:avLst/>
          </a:prstGeom>
          <a:solidFill>
            <a:srgbClr val="45D48A"/>
          </a:solidFill>
          <a:ln/>
        </p:spPr>
      </p:sp>
      <p:sp>
        <p:nvSpPr>
          <p:cNvPr id="14" name="Text 12"/>
          <p:cNvSpPr/>
          <p:nvPr/>
        </p:nvSpPr>
        <p:spPr>
          <a:xfrm>
            <a:off x="685800" y="3675888"/>
            <a:ext cx="8229600" cy="384048"/>
          </a:xfrm>
          <a:prstGeom prst="rect">
            <a:avLst/>
          </a:prstGeom>
          <a:noFill/>
          <a:ln/>
        </p:spPr>
        <p:txBody>
          <a:bodyPr wrap="square" lIns="0" tIns="0" rIns="0" bIns="0" rtlCol="0" anchor="ctr"/>
          <a:lstStyle/>
          <a:p>
            <a:pPr marL="0" indent="0">
              <a:buNone/>
            </a:pPr>
            <a:r>
              <a:rPr lang="en-US" sz="1400" dirty="0">
                <a:solidFill>
                  <a:srgbClr val="FFFFFF"/>
                </a:solidFill>
              </a:rPr>
              <a:t>Design for simplicity, empathy, and dignity</a:t>
            </a:r>
            <a:endParaRPr lang="en-US" sz="1400" dirty="0"/>
          </a:p>
        </p:txBody>
      </p:sp>
      <p:sp>
        <p:nvSpPr>
          <p:cNvPr id="15" name="Shape 13"/>
          <p:cNvSpPr/>
          <p:nvPr/>
        </p:nvSpPr>
        <p:spPr>
          <a:xfrm>
            <a:off x="274320" y="4343400"/>
            <a:ext cx="274320" cy="274320"/>
          </a:xfrm>
          <a:prstGeom prst="ellipse">
            <a:avLst/>
          </a:prstGeom>
          <a:solidFill>
            <a:srgbClr val="F5A623"/>
          </a:solidFill>
          <a:ln/>
        </p:spPr>
      </p:sp>
      <p:sp>
        <p:nvSpPr>
          <p:cNvPr id="16" name="Text 14"/>
          <p:cNvSpPr/>
          <p:nvPr/>
        </p:nvSpPr>
        <p:spPr>
          <a:xfrm>
            <a:off x="685800" y="4297680"/>
            <a:ext cx="8229600" cy="384048"/>
          </a:xfrm>
          <a:prstGeom prst="rect">
            <a:avLst/>
          </a:prstGeom>
          <a:noFill/>
          <a:ln/>
        </p:spPr>
        <p:txBody>
          <a:bodyPr wrap="square" lIns="0" tIns="0" rIns="0" bIns="0" rtlCol="0" anchor="ctr"/>
          <a:lstStyle/>
          <a:p>
            <a:pPr marL="0" indent="0">
              <a:buNone/>
            </a:pPr>
            <a:r>
              <a:rPr lang="en-US" sz="1400" dirty="0">
                <a:solidFill>
                  <a:srgbClr val="FFFFFF"/>
                </a:solidFill>
              </a:rPr>
              <a:t>Aim for solutions that actually change someone's daily reality</a:t>
            </a:r>
            <a:endParaRPr lang="en-US" sz="1400" dirty="0"/>
          </a:p>
        </p:txBody>
      </p:sp>
      <p:pic>
        <p:nvPicPr>
          <p:cNvPr id="17" name="Google Shape;238;p6" title="Witch Hunt finalized logo-modified.png">
            <a:extLst>
              <a:ext uri="{FF2B5EF4-FFF2-40B4-BE49-F238E27FC236}">
                <a16:creationId xmlns:a16="http://schemas.microsoft.com/office/drawing/2014/main" id="{3ECA7423-F5AA-262F-F66F-06E9237662D5}"/>
              </a:ext>
            </a:extLst>
          </p:cNvPr>
          <p:cNvPicPr preferRelativeResize="0"/>
          <p:nvPr/>
        </p:nvPicPr>
        <p:blipFill rotWithShape="1">
          <a:blip r:embed="rId3">
            <a:alphaModFix/>
          </a:blip>
          <a:srcRect/>
          <a:stretch/>
        </p:blipFill>
        <p:spPr>
          <a:xfrm>
            <a:off x="129475" y="110938"/>
            <a:ext cx="680849" cy="6808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buNone/>
            </a:pPr>
            <a:r>
              <a:rPr lang="en-US" sz="2600" b="1" dirty="0">
                <a:solidFill>
                  <a:srgbClr val="FFFFFF"/>
                </a:solidFill>
              </a:rPr>
              <a:t>      USER PERSONA 1</a:t>
            </a:r>
            <a:endParaRPr lang="en-US" sz="2600" dirty="0"/>
          </a:p>
        </p:txBody>
      </p:sp>
      <p:sp>
        <p:nvSpPr>
          <p:cNvPr id="4" name="Shape 2"/>
          <p:cNvSpPr/>
          <p:nvPr/>
        </p:nvSpPr>
        <p:spPr>
          <a:xfrm>
            <a:off x="0" y="914400"/>
            <a:ext cx="9144000" cy="54864"/>
          </a:xfrm>
          <a:prstGeom prst="rect">
            <a:avLst/>
          </a:prstGeom>
          <a:solidFill>
            <a:srgbClr val="0ABFBC"/>
          </a:solidFill>
          <a:ln/>
        </p:spPr>
      </p:sp>
      <p:sp>
        <p:nvSpPr>
          <p:cNvPr id="5" name="Shape 3"/>
          <p:cNvSpPr/>
          <p:nvPr/>
        </p:nvSpPr>
        <p:spPr>
          <a:xfrm>
            <a:off x="365760" y="1188720"/>
            <a:ext cx="1280160" cy="1280160"/>
          </a:xfrm>
          <a:prstGeom prst="ellipse">
            <a:avLst/>
          </a:prstGeom>
          <a:solidFill>
            <a:srgbClr val="0ABFBC"/>
          </a:solidFill>
          <a:ln/>
        </p:spPr>
      </p:sp>
      <p:sp>
        <p:nvSpPr>
          <p:cNvPr id="6" name="Text 4"/>
          <p:cNvSpPr/>
          <p:nvPr/>
        </p:nvSpPr>
        <p:spPr>
          <a:xfrm>
            <a:off x="365760" y="1188720"/>
            <a:ext cx="1280160" cy="1280160"/>
          </a:xfrm>
          <a:prstGeom prst="rect">
            <a:avLst/>
          </a:prstGeom>
          <a:noFill/>
          <a:ln/>
        </p:spPr>
        <p:txBody>
          <a:bodyPr wrap="square" lIns="0" tIns="0" rIns="0" bIns="0" rtlCol="0" anchor="ctr"/>
          <a:lstStyle/>
          <a:p>
            <a:pPr marL="0" indent="0" algn="ctr">
              <a:buNone/>
            </a:pPr>
            <a:r>
              <a:rPr lang="en-US" sz="4200" b="1" dirty="0">
                <a:solidFill>
                  <a:srgbClr val="FFFFFF"/>
                </a:solidFill>
              </a:rPr>
              <a:t>P</a:t>
            </a:r>
            <a:endParaRPr lang="en-US" sz="4200" dirty="0"/>
          </a:p>
        </p:txBody>
      </p:sp>
      <p:sp>
        <p:nvSpPr>
          <p:cNvPr id="7" name="Text 5"/>
          <p:cNvSpPr/>
          <p:nvPr/>
        </p:nvSpPr>
        <p:spPr>
          <a:xfrm>
            <a:off x="1828800" y="1234440"/>
            <a:ext cx="4572000" cy="457200"/>
          </a:xfrm>
          <a:prstGeom prst="rect">
            <a:avLst/>
          </a:prstGeom>
          <a:noFill/>
          <a:ln/>
        </p:spPr>
        <p:txBody>
          <a:bodyPr wrap="square" lIns="0" tIns="0" rIns="0" bIns="0" rtlCol="0" anchor="ctr"/>
          <a:lstStyle/>
          <a:p>
            <a:pPr marL="0" indent="0">
              <a:buNone/>
            </a:pPr>
            <a:r>
              <a:rPr lang="en-US" sz="2000" b="1" dirty="0">
                <a:solidFill>
                  <a:srgbClr val="0D1B2A"/>
                </a:solidFill>
              </a:rPr>
              <a:t>Priya</a:t>
            </a:r>
            <a:endParaRPr lang="en-US" sz="2000" dirty="0"/>
          </a:p>
        </p:txBody>
      </p:sp>
      <p:sp>
        <p:nvSpPr>
          <p:cNvPr id="8" name="Text 6"/>
          <p:cNvSpPr/>
          <p:nvPr/>
        </p:nvSpPr>
        <p:spPr>
          <a:xfrm>
            <a:off x="1828800" y="1664208"/>
            <a:ext cx="4572000" cy="320040"/>
          </a:xfrm>
          <a:prstGeom prst="rect">
            <a:avLst/>
          </a:prstGeom>
          <a:noFill/>
          <a:ln/>
        </p:spPr>
        <p:txBody>
          <a:bodyPr wrap="square" lIns="0" tIns="0" rIns="0" bIns="0" rtlCol="0" anchor="ctr"/>
          <a:lstStyle/>
          <a:p>
            <a:pPr marL="0" indent="0">
              <a:buNone/>
            </a:pPr>
            <a:r>
              <a:rPr lang="en-US" sz="1100" dirty="0">
                <a:solidFill>
                  <a:srgbClr val="8898AA"/>
                </a:solidFill>
              </a:rPr>
              <a:t>Class 10 Student (Rural Maharashtra)  ·  15 years old</a:t>
            </a:r>
            <a:endParaRPr lang="en-US" sz="1100" dirty="0"/>
          </a:p>
        </p:txBody>
      </p:sp>
      <p:sp>
        <p:nvSpPr>
          <p:cNvPr id="9" name="Shape 7"/>
          <p:cNvSpPr/>
          <p:nvPr/>
        </p:nvSpPr>
        <p:spPr>
          <a:xfrm>
            <a:off x="1828800" y="2057400"/>
            <a:ext cx="1280160" cy="292608"/>
          </a:xfrm>
          <a:prstGeom prst="roundRect">
            <a:avLst>
              <a:gd name="adj" fmla="val 15625"/>
            </a:avLst>
          </a:prstGeom>
          <a:solidFill>
            <a:srgbClr val="0ABFBC"/>
          </a:solidFill>
          <a:ln/>
        </p:spPr>
      </p:sp>
      <p:sp>
        <p:nvSpPr>
          <p:cNvPr id="10" name="Text 8"/>
          <p:cNvSpPr/>
          <p:nvPr/>
        </p:nvSpPr>
        <p:spPr>
          <a:xfrm>
            <a:off x="1828800" y="2057400"/>
            <a:ext cx="1280160" cy="292608"/>
          </a:xfrm>
          <a:prstGeom prst="rect">
            <a:avLst/>
          </a:prstGeom>
          <a:noFill/>
          <a:ln/>
        </p:spPr>
        <p:txBody>
          <a:bodyPr wrap="square" lIns="0" tIns="0" rIns="0" bIns="0" rtlCol="0" anchor="ctr"/>
          <a:lstStyle/>
          <a:p>
            <a:pPr marL="0" indent="0" algn="ctr">
              <a:buNone/>
            </a:pPr>
            <a:r>
              <a:rPr lang="en-US" sz="900" b="1" dirty="0">
                <a:solidFill>
                  <a:srgbClr val="FFFFFF"/>
                </a:solidFill>
              </a:rPr>
              <a:t>Motivated</a:t>
            </a:r>
            <a:endParaRPr lang="en-US" sz="900" dirty="0"/>
          </a:p>
        </p:txBody>
      </p:sp>
      <p:sp>
        <p:nvSpPr>
          <p:cNvPr id="11" name="Shape 9"/>
          <p:cNvSpPr/>
          <p:nvPr/>
        </p:nvSpPr>
        <p:spPr>
          <a:xfrm>
            <a:off x="3246120" y="2057400"/>
            <a:ext cx="1280160" cy="292608"/>
          </a:xfrm>
          <a:prstGeom prst="roundRect">
            <a:avLst>
              <a:gd name="adj" fmla="val 15625"/>
            </a:avLst>
          </a:prstGeom>
          <a:solidFill>
            <a:srgbClr val="0ABFBC"/>
          </a:solidFill>
          <a:ln/>
        </p:spPr>
      </p:sp>
      <p:sp>
        <p:nvSpPr>
          <p:cNvPr id="12" name="Text 10"/>
          <p:cNvSpPr/>
          <p:nvPr/>
        </p:nvSpPr>
        <p:spPr>
          <a:xfrm>
            <a:off x="3246120" y="2057400"/>
            <a:ext cx="1280160" cy="292608"/>
          </a:xfrm>
          <a:prstGeom prst="rect">
            <a:avLst/>
          </a:prstGeom>
          <a:noFill/>
          <a:ln/>
        </p:spPr>
        <p:txBody>
          <a:bodyPr wrap="square" lIns="0" tIns="0" rIns="0" bIns="0" rtlCol="0" anchor="ctr"/>
          <a:lstStyle/>
          <a:p>
            <a:pPr marL="0" indent="0" algn="ctr">
              <a:buNone/>
            </a:pPr>
            <a:r>
              <a:rPr lang="en-US" sz="900" b="1" dirty="0">
                <a:solidFill>
                  <a:srgbClr val="FFFFFF"/>
                </a:solidFill>
              </a:rPr>
              <a:t>Digital Learner</a:t>
            </a:r>
            <a:endParaRPr lang="en-US" sz="900" dirty="0"/>
          </a:p>
        </p:txBody>
      </p:sp>
      <p:sp>
        <p:nvSpPr>
          <p:cNvPr id="13" name="Shape 11"/>
          <p:cNvSpPr/>
          <p:nvPr/>
        </p:nvSpPr>
        <p:spPr>
          <a:xfrm>
            <a:off x="4663440" y="2057400"/>
            <a:ext cx="1280160" cy="292608"/>
          </a:xfrm>
          <a:prstGeom prst="roundRect">
            <a:avLst>
              <a:gd name="adj" fmla="val 15625"/>
            </a:avLst>
          </a:prstGeom>
          <a:solidFill>
            <a:srgbClr val="0ABFBC"/>
          </a:solidFill>
          <a:ln/>
        </p:spPr>
      </p:sp>
      <p:sp>
        <p:nvSpPr>
          <p:cNvPr id="14" name="Text 12"/>
          <p:cNvSpPr/>
          <p:nvPr/>
        </p:nvSpPr>
        <p:spPr>
          <a:xfrm>
            <a:off x="4663440" y="2057400"/>
            <a:ext cx="1280160" cy="292608"/>
          </a:xfrm>
          <a:prstGeom prst="rect">
            <a:avLst/>
          </a:prstGeom>
          <a:noFill/>
          <a:ln/>
        </p:spPr>
        <p:txBody>
          <a:bodyPr wrap="square" lIns="0" tIns="0" rIns="0" bIns="0" rtlCol="0" anchor="ctr"/>
          <a:lstStyle/>
          <a:p>
            <a:pPr marL="0" indent="0" algn="ctr">
              <a:buNone/>
            </a:pPr>
            <a:r>
              <a:rPr lang="en-US" sz="900" b="1" dirty="0">
                <a:solidFill>
                  <a:srgbClr val="FFFFFF"/>
                </a:solidFill>
              </a:rPr>
              <a:t>Goal-Driven</a:t>
            </a:r>
            <a:endParaRPr lang="en-US" sz="900" dirty="0"/>
          </a:p>
        </p:txBody>
      </p:sp>
      <p:sp>
        <p:nvSpPr>
          <p:cNvPr id="15" name="Shape 13"/>
          <p:cNvSpPr/>
          <p:nvPr/>
        </p:nvSpPr>
        <p:spPr>
          <a:xfrm>
            <a:off x="274320" y="2514600"/>
            <a:ext cx="2834640" cy="2331720"/>
          </a:xfrm>
          <a:prstGeom prst="rect">
            <a:avLst/>
          </a:prstGeom>
          <a:solidFill>
            <a:srgbClr val="FFF5F5"/>
          </a:solidFill>
          <a:ln/>
          <a:effectLst>
            <a:outerShdw blurRad="101600" dist="38100" dir="8100000" algn="bl" rotWithShape="0">
              <a:srgbClr val="000000">
                <a:alpha val="18000"/>
              </a:srgbClr>
            </a:outerShdw>
          </a:effectLst>
        </p:spPr>
      </p:sp>
      <p:sp>
        <p:nvSpPr>
          <p:cNvPr id="16" name="Shape 14"/>
          <p:cNvSpPr/>
          <p:nvPr/>
        </p:nvSpPr>
        <p:spPr>
          <a:xfrm>
            <a:off x="274320" y="2514600"/>
            <a:ext cx="2834640" cy="347472"/>
          </a:xfrm>
          <a:prstGeom prst="rect">
            <a:avLst/>
          </a:prstGeom>
          <a:solidFill>
            <a:srgbClr val="E74C3C"/>
          </a:solidFill>
          <a:ln/>
        </p:spPr>
      </p:sp>
      <p:sp>
        <p:nvSpPr>
          <p:cNvPr id="17" name="Text 15"/>
          <p:cNvSpPr/>
          <p:nvPr/>
        </p:nvSpPr>
        <p:spPr>
          <a:xfrm>
            <a:off x="274320" y="2514600"/>
            <a:ext cx="2834640" cy="347472"/>
          </a:xfrm>
          <a:prstGeom prst="rect">
            <a:avLst/>
          </a:prstGeom>
          <a:noFill/>
          <a:ln/>
        </p:spPr>
        <p:txBody>
          <a:bodyPr wrap="square" lIns="0" tIns="0" rIns="0" bIns="0" rtlCol="0" anchor="ctr"/>
          <a:lstStyle/>
          <a:p>
            <a:pPr marL="0" indent="0" algn="ctr">
              <a:buNone/>
            </a:pPr>
            <a:r>
              <a:rPr lang="en-US" sz="1000" b="1" dirty="0">
                <a:solidFill>
                  <a:srgbClr val="FFFFFF"/>
                </a:solidFill>
              </a:rPr>
              <a:t>PROBLEMS</a:t>
            </a:r>
            <a:endParaRPr lang="en-US" sz="1000" dirty="0"/>
          </a:p>
        </p:txBody>
      </p:sp>
      <p:sp>
        <p:nvSpPr>
          <p:cNvPr id="18" name="Shape 16"/>
          <p:cNvSpPr/>
          <p:nvPr/>
        </p:nvSpPr>
        <p:spPr>
          <a:xfrm>
            <a:off x="411480" y="3017520"/>
            <a:ext cx="164592" cy="164592"/>
          </a:xfrm>
          <a:prstGeom prst="ellipse">
            <a:avLst/>
          </a:prstGeom>
          <a:solidFill>
            <a:srgbClr val="E74C3C"/>
          </a:solidFill>
          <a:ln/>
        </p:spPr>
      </p:sp>
      <p:sp>
        <p:nvSpPr>
          <p:cNvPr id="19" name="Text 17"/>
          <p:cNvSpPr/>
          <p:nvPr/>
        </p:nvSpPr>
        <p:spPr>
          <a:xfrm>
            <a:off x="658368" y="2944368"/>
            <a:ext cx="2331720" cy="384048"/>
          </a:xfrm>
          <a:prstGeom prst="rect">
            <a:avLst/>
          </a:prstGeom>
          <a:noFill/>
          <a:ln/>
        </p:spPr>
        <p:txBody>
          <a:bodyPr wrap="square" lIns="0" tIns="0" rIns="0" bIns="0" rtlCol="0" anchor="ctr"/>
          <a:lstStyle/>
          <a:p>
            <a:pPr marL="0" indent="0">
              <a:buNone/>
            </a:pPr>
            <a:r>
              <a:rPr lang="en-US" sz="1000" dirty="0">
                <a:solidFill>
                  <a:srgbClr val="0D1B2A"/>
                </a:solidFill>
              </a:rPr>
              <a:t>No science lab at school</a:t>
            </a:r>
            <a:endParaRPr lang="en-US" sz="1000" dirty="0"/>
          </a:p>
        </p:txBody>
      </p:sp>
      <p:sp>
        <p:nvSpPr>
          <p:cNvPr id="20" name="Shape 18"/>
          <p:cNvSpPr/>
          <p:nvPr/>
        </p:nvSpPr>
        <p:spPr>
          <a:xfrm>
            <a:off x="411480" y="3547872"/>
            <a:ext cx="164592" cy="164592"/>
          </a:xfrm>
          <a:prstGeom prst="ellipse">
            <a:avLst/>
          </a:prstGeom>
          <a:solidFill>
            <a:srgbClr val="E74C3C"/>
          </a:solidFill>
          <a:ln/>
        </p:spPr>
      </p:sp>
      <p:sp>
        <p:nvSpPr>
          <p:cNvPr id="21" name="Text 19"/>
          <p:cNvSpPr/>
          <p:nvPr/>
        </p:nvSpPr>
        <p:spPr>
          <a:xfrm>
            <a:off x="658368" y="3474720"/>
            <a:ext cx="2331720" cy="384048"/>
          </a:xfrm>
          <a:prstGeom prst="rect">
            <a:avLst/>
          </a:prstGeom>
          <a:noFill/>
          <a:ln/>
        </p:spPr>
        <p:txBody>
          <a:bodyPr wrap="square" lIns="0" tIns="0" rIns="0" bIns="0" rtlCol="0" anchor="ctr"/>
          <a:lstStyle/>
          <a:p>
            <a:pPr marL="0" indent="0">
              <a:buNone/>
            </a:pPr>
            <a:r>
              <a:rPr lang="en-US" sz="1000" dirty="0">
                <a:solidFill>
                  <a:srgbClr val="0D1B2A"/>
                </a:solidFill>
              </a:rPr>
              <a:t>Textbooks only in English</a:t>
            </a:r>
            <a:endParaRPr lang="en-US" sz="1000" dirty="0"/>
          </a:p>
        </p:txBody>
      </p:sp>
      <p:sp>
        <p:nvSpPr>
          <p:cNvPr id="22" name="Shape 20"/>
          <p:cNvSpPr/>
          <p:nvPr/>
        </p:nvSpPr>
        <p:spPr>
          <a:xfrm>
            <a:off x="411480" y="4078224"/>
            <a:ext cx="164592" cy="164592"/>
          </a:xfrm>
          <a:prstGeom prst="ellipse">
            <a:avLst/>
          </a:prstGeom>
          <a:solidFill>
            <a:srgbClr val="E74C3C"/>
          </a:solidFill>
          <a:ln/>
        </p:spPr>
      </p:sp>
      <p:sp>
        <p:nvSpPr>
          <p:cNvPr id="23" name="Text 21"/>
          <p:cNvSpPr/>
          <p:nvPr/>
        </p:nvSpPr>
        <p:spPr>
          <a:xfrm>
            <a:off x="658368" y="4005072"/>
            <a:ext cx="2331720" cy="384048"/>
          </a:xfrm>
          <a:prstGeom prst="rect">
            <a:avLst/>
          </a:prstGeom>
          <a:noFill/>
          <a:ln/>
        </p:spPr>
        <p:txBody>
          <a:bodyPr wrap="square" lIns="0" tIns="0" rIns="0" bIns="0" rtlCol="0" anchor="ctr"/>
          <a:lstStyle/>
          <a:p>
            <a:pPr marL="0" indent="0">
              <a:buNone/>
            </a:pPr>
            <a:r>
              <a:rPr lang="en-US" sz="1000" dirty="0">
                <a:solidFill>
                  <a:srgbClr val="0D1B2A"/>
                </a:solidFill>
              </a:rPr>
              <a:t>No career guidance available</a:t>
            </a:r>
            <a:endParaRPr lang="en-US" sz="1000" dirty="0"/>
          </a:p>
        </p:txBody>
      </p:sp>
      <p:sp>
        <p:nvSpPr>
          <p:cNvPr id="24" name="Shape 22"/>
          <p:cNvSpPr/>
          <p:nvPr/>
        </p:nvSpPr>
        <p:spPr>
          <a:xfrm>
            <a:off x="3246120" y="2514600"/>
            <a:ext cx="2834640" cy="2331720"/>
          </a:xfrm>
          <a:prstGeom prst="rect">
            <a:avLst/>
          </a:prstGeom>
          <a:solidFill>
            <a:srgbClr val="F0FFF5"/>
          </a:solidFill>
          <a:ln/>
          <a:effectLst>
            <a:outerShdw blurRad="101600" dist="38100" dir="8100000" algn="bl" rotWithShape="0">
              <a:srgbClr val="000000">
                <a:alpha val="18000"/>
              </a:srgbClr>
            </a:outerShdw>
          </a:effectLst>
        </p:spPr>
      </p:sp>
      <p:sp>
        <p:nvSpPr>
          <p:cNvPr id="25" name="Shape 23"/>
          <p:cNvSpPr/>
          <p:nvPr/>
        </p:nvSpPr>
        <p:spPr>
          <a:xfrm>
            <a:off x="3246120" y="2514600"/>
            <a:ext cx="2834640" cy="347472"/>
          </a:xfrm>
          <a:prstGeom prst="rect">
            <a:avLst/>
          </a:prstGeom>
          <a:solidFill>
            <a:srgbClr val="27AE60"/>
          </a:solidFill>
          <a:ln/>
        </p:spPr>
      </p:sp>
      <p:sp>
        <p:nvSpPr>
          <p:cNvPr id="26" name="Text 24"/>
          <p:cNvSpPr/>
          <p:nvPr/>
        </p:nvSpPr>
        <p:spPr>
          <a:xfrm>
            <a:off x="3246120" y="2514600"/>
            <a:ext cx="2834640" cy="347472"/>
          </a:xfrm>
          <a:prstGeom prst="rect">
            <a:avLst/>
          </a:prstGeom>
          <a:noFill/>
          <a:ln/>
        </p:spPr>
        <p:txBody>
          <a:bodyPr wrap="square" lIns="0" tIns="0" rIns="0" bIns="0" rtlCol="0" anchor="ctr"/>
          <a:lstStyle/>
          <a:p>
            <a:pPr marL="0" indent="0" algn="ctr">
              <a:buNone/>
            </a:pPr>
            <a:r>
              <a:rPr lang="en-US" sz="1000" b="1" dirty="0">
                <a:solidFill>
                  <a:srgbClr val="FFFFFF"/>
                </a:solidFill>
              </a:rPr>
              <a:t>GOALS &amp; NEEDS</a:t>
            </a:r>
            <a:endParaRPr lang="en-US" sz="1000" dirty="0"/>
          </a:p>
        </p:txBody>
      </p:sp>
      <p:sp>
        <p:nvSpPr>
          <p:cNvPr id="27" name="Shape 25"/>
          <p:cNvSpPr/>
          <p:nvPr/>
        </p:nvSpPr>
        <p:spPr>
          <a:xfrm>
            <a:off x="3383280" y="3017520"/>
            <a:ext cx="164592" cy="164592"/>
          </a:xfrm>
          <a:prstGeom prst="ellipse">
            <a:avLst/>
          </a:prstGeom>
          <a:solidFill>
            <a:srgbClr val="27AE60"/>
          </a:solidFill>
          <a:ln/>
        </p:spPr>
      </p:sp>
      <p:sp>
        <p:nvSpPr>
          <p:cNvPr id="28" name="Text 26"/>
          <p:cNvSpPr/>
          <p:nvPr/>
        </p:nvSpPr>
        <p:spPr>
          <a:xfrm>
            <a:off x="3630168" y="2944368"/>
            <a:ext cx="2331720" cy="384048"/>
          </a:xfrm>
          <a:prstGeom prst="rect">
            <a:avLst/>
          </a:prstGeom>
          <a:noFill/>
          <a:ln/>
        </p:spPr>
        <p:txBody>
          <a:bodyPr wrap="square" lIns="0" tIns="0" rIns="0" bIns="0" rtlCol="0" anchor="ctr"/>
          <a:lstStyle/>
          <a:p>
            <a:pPr marL="0" indent="0">
              <a:buNone/>
            </a:pPr>
            <a:r>
              <a:rPr lang="en-US" sz="1000" dirty="0">
                <a:solidFill>
                  <a:srgbClr val="0D1B2A"/>
                </a:solidFill>
              </a:rPr>
              <a:t>Understand concepts practically</a:t>
            </a:r>
            <a:endParaRPr lang="en-US" sz="1000" dirty="0"/>
          </a:p>
        </p:txBody>
      </p:sp>
      <p:sp>
        <p:nvSpPr>
          <p:cNvPr id="29" name="Shape 27"/>
          <p:cNvSpPr/>
          <p:nvPr/>
        </p:nvSpPr>
        <p:spPr>
          <a:xfrm>
            <a:off x="3383280" y="3547872"/>
            <a:ext cx="164592" cy="164592"/>
          </a:xfrm>
          <a:prstGeom prst="ellipse">
            <a:avLst/>
          </a:prstGeom>
          <a:solidFill>
            <a:srgbClr val="27AE60"/>
          </a:solidFill>
          <a:ln/>
        </p:spPr>
      </p:sp>
      <p:sp>
        <p:nvSpPr>
          <p:cNvPr id="30" name="Text 28"/>
          <p:cNvSpPr/>
          <p:nvPr/>
        </p:nvSpPr>
        <p:spPr>
          <a:xfrm>
            <a:off x="3630168" y="3474720"/>
            <a:ext cx="2331720" cy="384048"/>
          </a:xfrm>
          <a:prstGeom prst="rect">
            <a:avLst/>
          </a:prstGeom>
          <a:noFill/>
          <a:ln/>
        </p:spPr>
        <p:txBody>
          <a:bodyPr wrap="square" lIns="0" tIns="0" rIns="0" bIns="0" rtlCol="0" anchor="ctr"/>
          <a:lstStyle/>
          <a:p>
            <a:pPr marL="0" indent="0">
              <a:buNone/>
            </a:pPr>
            <a:r>
              <a:rPr lang="en-US" sz="1000" dirty="0">
                <a:solidFill>
                  <a:srgbClr val="0D1B2A"/>
                </a:solidFill>
              </a:rPr>
              <a:t>Learn in Marathi</a:t>
            </a:r>
            <a:endParaRPr lang="en-US" sz="1000" dirty="0"/>
          </a:p>
        </p:txBody>
      </p:sp>
      <p:sp>
        <p:nvSpPr>
          <p:cNvPr id="31" name="Shape 29"/>
          <p:cNvSpPr/>
          <p:nvPr/>
        </p:nvSpPr>
        <p:spPr>
          <a:xfrm>
            <a:off x="3383280" y="4078224"/>
            <a:ext cx="164592" cy="164592"/>
          </a:xfrm>
          <a:prstGeom prst="ellipse">
            <a:avLst/>
          </a:prstGeom>
          <a:solidFill>
            <a:srgbClr val="27AE60"/>
          </a:solidFill>
          <a:ln/>
        </p:spPr>
      </p:sp>
      <p:sp>
        <p:nvSpPr>
          <p:cNvPr id="32" name="Text 30"/>
          <p:cNvSpPr/>
          <p:nvPr/>
        </p:nvSpPr>
        <p:spPr>
          <a:xfrm>
            <a:off x="3630168" y="4005072"/>
            <a:ext cx="2331720" cy="384048"/>
          </a:xfrm>
          <a:prstGeom prst="rect">
            <a:avLst/>
          </a:prstGeom>
          <a:noFill/>
          <a:ln/>
        </p:spPr>
        <p:txBody>
          <a:bodyPr wrap="square" lIns="0" tIns="0" rIns="0" bIns="0" rtlCol="0" anchor="ctr"/>
          <a:lstStyle/>
          <a:p>
            <a:pPr marL="0" indent="0">
              <a:buNone/>
            </a:pPr>
            <a:r>
              <a:rPr lang="en-US" sz="1000" dirty="0">
                <a:solidFill>
                  <a:srgbClr val="0D1B2A"/>
                </a:solidFill>
              </a:rPr>
              <a:t>Prepare for competitive exams</a:t>
            </a:r>
            <a:endParaRPr lang="en-US" sz="1000" dirty="0"/>
          </a:p>
        </p:txBody>
      </p:sp>
      <p:sp>
        <p:nvSpPr>
          <p:cNvPr id="33" name="Shape 31"/>
          <p:cNvSpPr/>
          <p:nvPr/>
        </p:nvSpPr>
        <p:spPr>
          <a:xfrm>
            <a:off x="6217920" y="2514600"/>
            <a:ext cx="2834640" cy="2331720"/>
          </a:xfrm>
          <a:prstGeom prst="rect">
            <a:avLst/>
          </a:prstGeom>
          <a:solidFill>
            <a:srgbClr val="FFFBF0"/>
          </a:solidFill>
          <a:ln/>
          <a:effectLst>
            <a:outerShdw blurRad="101600" dist="38100" dir="8100000" algn="bl" rotWithShape="0">
              <a:srgbClr val="000000">
                <a:alpha val="18000"/>
              </a:srgbClr>
            </a:outerShdw>
          </a:effectLst>
        </p:spPr>
      </p:sp>
      <p:sp>
        <p:nvSpPr>
          <p:cNvPr id="34" name="Shape 32"/>
          <p:cNvSpPr/>
          <p:nvPr/>
        </p:nvSpPr>
        <p:spPr>
          <a:xfrm>
            <a:off x="6217920" y="2514600"/>
            <a:ext cx="2834640" cy="347472"/>
          </a:xfrm>
          <a:prstGeom prst="rect">
            <a:avLst/>
          </a:prstGeom>
          <a:solidFill>
            <a:srgbClr val="E67E22"/>
          </a:solidFill>
          <a:ln/>
        </p:spPr>
      </p:sp>
      <p:sp>
        <p:nvSpPr>
          <p:cNvPr id="35" name="Text 33"/>
          <p:cNvSpPr/>
          <p:nvPr/>
        </p:nvSpPr>
        <p:spPr>
          <a:xfrm>
            <a:off x="6217920" y="2514600"/>
            <a:ext cx="2834640" cy="347472"/>
          </a:xfrm>
          <a:prstGeom prst="rect">
            <a:avLst/>
          </a:prstGeom>
          <a:noFill/>
          <a:ln/>
        </p:spPr>
        <p:txBody>
          <a:bodyPr wrap="square" lIns="0" tIns="0" rIns="0" bIns="0" rtlCol="0" anchor="ctr"/>
          <a:lstStyle/>
          <a:p>
            <a:pPr marL="0" indent="0" algn="ctr">
              <a:buNone/>
            </a:pPr>
            <a:r>
              <a:rPr lang="en-US" sz="1000" b="1" dirty="0">
                <a:solidFill>
                  <a:srgbClr val="FFFFFF"/>
                </a:solidFill>
              </a:rPr>
              <a:t>CHALLENGES</a:t>
            </a:r>
            <a:endParaRPr lang="en-US" sz="1000" dirty="0"/>
          </a:p>
        </p:txBody>
      </p:sp>
      <p:sp>
        <p:nvSpPr>
          <p:cNvPr id="36" name="Shape 34"/>
          <p:cNvSpPr/>
          <p:nvPr/>
        </p:nvSpPr>
        <p:spPr>
          <a:xfrm>
            <a:off x="6355080" y="3017520"/>
            <a:ext cx="164592" cy="164592"/>
          </a:xfrm>
          <a:prstGeom prst="ellipse">
            <a:avLst/>
          </a:prstGeom>
          <a:solidFill>
            <a:srgbClr val="E67E22"/>
          </a:solidFill>
          <a:ln/>
        </p:spPr>
      </p:sp>
      <p:sp>
        <p:nvSpPr>
          <p:cNvPr id="37" name="Text 35"/>
          <p:cNvSpPr/>
          <p:nvPr/>
        </p:nvSpPr>
        <p:spPr>
          <a:xfrm>
            <a:off x="6601968" y="2944368"/>
            <a:ext cx="2331720" cy="384048"/>
          </a:xfrm>
          <a:prstGeom prst="rect">
            <a:avLst/>
          </a:prstGeom>
          <a:noFill/>
          <a:ln/>
        </p:spPr>
        <p:txBody>
          <a:bodyPr wrap="square" lIns="0" tIns="0" rIns="0" bIns="0" rtlCol="0" anchor="ctr"/>
          <a:lstStyle/>
          <a:p>
            <a:pPr marL="0" indent="0">
              <a:buNone/>
            </a:pPr>
            <a:r>
              <a:rPr lang="en-US" sz="1000" dirty="0">
                <a:solidFill>
                  <a:srgbClr val="0D1B2A"/>
                </a:solidFill>
              </a:rPr>
              <a:t>Poor internet connectivity</a:t>
            </a:r>
            <a:endParaRPr lang="en-US" sz="1000" dirty="0"/>
          </a:p>
        </p:txBody>
      </p:sp>
      <p:sp>
        <p:nvSpPr>
          <p:cNvPr id="38" name="Shape 36"/>
          <p:cNvSpPr/>
          <p:nvPr/>
        </p:nvSpPr>
        <p:spPr>
          <a:xfrm>
            <a:off x="6355080" y="3547872"/>
            <a:ext cx="164592" cy="164592"/>
          </a:xfrm>
          <a:prstGeom prst="ellipse">
            <a:avLst/>
          </a:prstGeom>
          <a:solidFill>
            <a:srgbClr val="E67E22"/>
          </a:solidFill>
          <a:ln/>
        </p:spPr>
      </p:sp>
      <p:sp>
        <p:nvSpPr>
          <p:cNvPr id="39" name="Text 37"/>
          <p:cNvSpPr/>
          <p:nvPr/>
        </p:nvSpPr>
        <p:spPr>
          <a:xfrm>
            <a:off x="6601968" y="3474720"/>
            <a:ext cx="2331720" cy="384048"/>
          </a:xfrm>
          <a:prstGeom prst="rect">
            <a:avLst/>
          </a:prstGeom>
          <a:noFill/>
          <a:ln/>
        </p:spPr>
        <p:txBody>
          <a:bodyPr wrap="square" lIns="0" tIns="0" rIns="0" bIns="0" rtlCol="0" anchor="ctr"/>
          <a:lstStyle/>
          <a:p>
            <a:pPr marL="0" indent="0">
              <a:buNone/>
            </a:pPr>
            <a:r>
              <a:rPr lang="en-US" sz="1000" dirty="0">
                <a:solidFill>
                  <a:srgbClr val="0D1B2A"/>
                </a:solidFill>
              </a:rPr>
              <a:t>No smartphone of her own</a:t>
            </a:r>
            <a:endParaRPr lang="en-US" sz="1000" dirty="0"/>
          </a:p>
        </p:txBody>
      </p:sp>
      <p:sp>
        <p:nvSpPr>
          <p:cNvPr id="40" name="Shape 38"/>
          <p:cNvSpPr/>
          <p:nvPr/>
        </p:nvSpPr>
        <p:spPr>
          <a:xfrm>
            <a:off x="6355080" y="4078224"/>
            <a:ext cx="164592" cy="164592"/>
          </a:xfrm>
          <a:prstGeom prst="ellipse">
            <a:avLst/>
          </a:prstGeom>
          <a:solidFill>
            <a:srgbClr val="E67E22"/>
          </a:solidFill>
          <a:ln/>
        </p:spPr>
      </p:sp>
      <p:sp>
        <p:nvSpPr>
          <p:cNvPr id="41" name="Text 39"/>
          <p:cNvSpPr/>
          <p:nvPr/>
        </p:nvSpPr>
        <p:spPr>
          <a:xfrm>
            <a:off x="6601968" y="4005072"/>
            <a:ext cx="2331720" cy="384048"/>
          </a:xfrm>
          <a:prstGeom prst="rect">
            <a:avLst/>
          </a:prstGeom>
          <a:noFill/>
          <a:ln/>
        </p:spPr>
        <p:txBody>
          <a:bodyPr wrap="square" lIns="0" tIns="0" rIns="0" bIns="0" rtlCol="0" anchor="ctr"/>
          <a:lstStyle/>
          <a:p>
            <a:pPr marL="0" indent="0">
              <a:buNone/>
            </a:pPr>
            <a:r>
              <a:rPr lang="en-US" sz="1000" dirty="0">
                <a:solidFill>
                  <a:srgbClr val="0D1B2A"/>
                </a:solidFill>
              </a:rPr>
              <a:t>Falling behind urban peers</a:t>
            </a:r>
            <a:endParaRPr lang="en-US" sz="1000" dirty="0"/>
          </a:p>
        </p:txBody>
      </p:sp>
      <p:pic>
        <p:nvPicPr>
          <p:cNvPr id="42" name="Google Shape;238;p6" title="Witch Hunt finalized logo-modified.png">
            <a:extLst>
              <a:ext uri="{FF2B5EF4-FFF2-40B4-BE49-F238E27FC236}">
                <a16:creationId xmlns:a16="http://schemas.microsoft.com/office/drawing/2014/main" id="{F7CA99DC-709E-018A-33D2-A443001CD44F}"/>
              </a:ext>
            </a:extLst>
          </p:cNvPr>
          <p:cNvPicPr preferRelativeResize="0"/>
          <p:nvPr/>
        </p:nvPicPr>
        <p:blipFill rotWithShape="1">
          <a:blip r:embed="rId3">
            <a:alphaModFix/>
          </a:blip>
          <a:srcRect/>
          <a:stretch/>
        </p:blipFill>
        <p:spPr>
          <a:xfrm>
            <a:off x="129475" y="110938"/>
            <a:ext cx="680849" cy="6808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buNone/>
            </a:pPr>
            <a:r>
              <a:rPr lang="en-US" sz="2600" b="1" dirty="0">
                <a:solidFill>
                  <a:srgbClr val="FFFFFF"/>
                </a:solidFill>
              </a:rPr>
              <a:t>     USER PERSONA 2</a:t>
            </a:r>
            <a:endParaRPr lang="en-US" sz="2600" dirty="0"/>
          </a:p>
        </p:txBody>
      </p:sp>
      <p:sp>
        <p:nvSpPr>
          <p:cNvPr id="4" name="Shape 2"/>
          <p:cNvSpPr/>
          <p:nvPr/>
        </p:nvSpPr>
        <p:spPr>
          <a:xfrm>
            <a:off x="0" y="914400"/>
            <a:ext cx="9144000" cy="54864"/>
          </a:xfrm>
          <a:prstGeom prst="rect">
            <a:avLst/>
          </a:prstGeom>
          <a:solidFill>
            <a:srgbClr val="45D48A"/>
          </a:solidFill>
          <a:ln/>
        </p:spPr>
      </p:sp>
      <p:sp>
        <p:nvSpPr>
          <p:cNvPr id="5" name="Shape 3"/>
          <p:cNvSpPr/>
          <p:nvPr/>
        </p:nvSpPr>
        <p:spPr>
          <a:xfrm>
            <a:off x="365760" y="1188720"/>
            <a:ext cx="1280160" cy="1280160"/>
          </a:xfrm>
          <a:prstGeom prst="ellipse">
            <a:avLst/>
          </a:prstGeom>
          <a:solidFill>
            <a:srgbClr val="45D48A"/>
          </a:solidFill>
          <a:ln/>
        </p:spPr>
      </p:sp>
      <p:sp>
        <p:nvSpPr>
          <p:cNvPr id="6" name="Text 4"/>
          <p:cNvSpPr/>
          <p:nvPr/>
        </p:nvSpPr>
        <p:spPr>
          <a:xfrm>
            <a:off x="365760" y="1188720"/>
            <a:ext cx="1280160" cy="1280160"/>
          </a:xfrm>
          <a:prstGeom prst="rect">
            <a:avLst/>
          </a:prstGeom>
          <a:noFill/>
          <a:ln/>
        </p:spPr>
        <p:txBody>
          <a:bodyPr wrap="square" lIns="0" tIns="0" rIns="0" bIns="0" rtlCol="0" anchor="ctr"/>
          <a:lstStyle/>
          <a:p>
            <a:pPr marL="0" indent="0" algn="ctr">
              <a:buNone/>
            </a:pPr>
            <a:r>
              <a:rPr lang="en-US" sz="4200" b="1" dirty="0">
                <a:solidFill>
                  <a:srgbClr val="FFFFFF"/>
                </a:solidFill>
              </a:rPr>
              <a:t>R</a:t>
            </a:r>
            <a:endParaRPr lang="en-US" sz="4200" dirty="0"/>
          </a:p>
        </p:txBody>
      </p:sp>
      <p:sp>
        <p:nvSpPr>
          <p:cNvPr id="7" name="Text 5"/>
          <p:cNvSpPr/>
          <p:nvPr/>
        </p:nvSpPr>
        <p:spPr>
          <a:xfrm>
            <a:off x="1828800" y="1234440"/>
            <a:ext cx="4572000" cy="457200"/>
          </a:xfrm>
          <a:prstGeom prst="rect">
            <a:avLst/>
          </a:prstGeom>
          <a:noFill/>
          <a:ln/>
        </p:spPr>
        <p:txBody>
          <a:bodyPr wrap="square" lIns="0" tIns="0" rIns="0" bIns="0" rtlCol="0" anchor="ctr"/>
          <a:lstStyle/>
          <a:p>
            <a:pPr marL="0" indent="0">
              <a:buNone/>
            </a:pPr>
            <a:r>
              <a:rPr lang="en-US" sz="2000" b="1" dirty="0">
                <a:solidFill>
                  <a:srgbClr val="0D1B2A"/>
                </a:solidFill>
              </a:rPr>
              <a:t>Ramesh</a:t>
            </a:r>
            <a:endParaRPr lang="en-US" sz="2000" dirty="0"/>
          </a:p>
        </p:txBody>
      </p:sp>
      <p:sp>
        <p:nvSpPr>
          <p:cNvPr id="8" name="Text 6"/>
          <p:cNvSpPr/>
          <p:nvPr/>
        </p:nvSpPr>
        <p:spPr>
          <a:xfrm>
            <a:off x="1828800" y="1664208"/>
            <a:ext cx="4572000" cy="320040"/>
          </a:xfrm>
          <a:prstGeom prst="rect">
            <a:avLst/>
          </a:prstGeom>
          <a:noFill/>
          <a:ln/>
        </p:spPr>
        <p:txBody>
          <a:bodyPr wrap="square" lIns="0" tIns="0" rIns="0" bIns="0" rtlCol="0" anchor="ctr"/>
          <a:lstStyle/>
          <a:p>
            <a:pPr marL="0" indent="0">
              <a:buNone/>
            </a:pPr>
            <a:r>
              <a:rPr lang="en-US" sz="1100" dirty="0">
                <a:solidFill>
                  <a:srgbClr val="8898AA"/>
                </a:solidFill>
              </a:rPr>
              <a:t>Government School Teacher  ·  38 years old</a:t>
            </a:r>
            <a:endParaRPr lang="en-US" sz="1100" dirty="0"/>
          </a:p>
        </p:txBody>
      </p:sp>
      <p:sp>
        <p:nvSpPr>
          <p:cNvPr id="9" name="Shape 7"/>
          <p:cNvSpPr/>
          <p:nvPr/>
        </p:nvSpPr>
        <p:spPr>
          <a:xfrm>
            <a:off x="1828800" y="2057400"/>
            <a:ext cx="1280160" cy="292608"/>
          </a:xfrm>
          <a:prstGeom prst="roundRect">
            <a:avLst>
              <a:gd name="adj" fmla="val 15625"/>
            </a:avLst>
          </a:prstGeom>
          <a:solidFill>
            <a:srgbClr val="45D48A"/>
          </a:solidFill>
          <a:ln/>
        </p:spPr>
      </p:sp>
      <p:sp>
        <p:nvSpPr>
          <p:cNvPr id="10" name="Text 8"/>
          <p:cNvSpPr/>
          <p:nvPr/>
        </p:nvSpPr>
        <p:spPr>
          <a:xfrm>
            <a:off x="1828800" y="2057400"/>
            <a:ext cx="1280160" cy="292608"/>
          </a:xfrm>
          <a:prstGeom prst="rect">
            <a:avLst/>
          </a:prstGeom>
          <a:noFill/>
          <a:ln/>
        </p:spPr>
        <p:txBody>
          <a:bodyPr wrap="square" lIns="0" tIns="0" rIns="0" bIns="0" rtlCol="0" anchor="ctr"/>
          <a:lstStyle/>
          <a:p>
            <a:pPr marL="0" indent="0" algn="ctr">
              <a:buNone/>
            </a:pPr>
            <a:r>
              <a:rPr lang="en-US" sz="900" b="1" dirty="0">
                <a:solidFill>
                  <a:srgbClr val="FFFFFF"/>
                </a:solidFill>
              </a:rPr>
              <a:t>Motivated</a:t>
            </a:r>
            <a:endParaRPr lang="en-US" sz="900" dirty="0"/>
          </a:p>
        </p:txBody>
      </p:sp>
      <p:sp>
        <p:nvSpPr>
          <p:cNvPr id="11" name="Shape 9"/>
          <p:cNvSpPr/>
          <p:nvPr/>
        </p:nvSpPr>
        <p:spPr>
          <a:xfrm>
            <a:off x="3246120" y="2057400"/>
            <a:ext cx="1280160" cy="292608"/>
          </a:xfrm>
          <a:prstGeom prst="roundRect">
            <a:avLst>
              <a:gd name="adj" fmla="val 15625"/>
            </a:avLst>
          </a:prstGeom>
          <a:solidFill>
            <a:srgbClr val="45D48A"/>
          </a:solidFill>
          <a:ln/>
        </p:spPr>
      </p:sp>
      <p:sp>
        <p:nvSpPr>
          <p:cNvPr id="12" name="Text 10"/>
          <p:cNvSpPr/>
          <p:nvPr/>
        </p:nvSpPr>
        <p:spPr>
          <a:xfrm>
            <a:off x="3246120" y="2057400"/>
            <a:ext cx="1280160" cy="292608"/>
          </a:xfrm>
          <a:prstGeom prst="rect">
            <a:avLst/>
          </a:prstGeom>
          <a:noFill/>
          <a:ln/>
        </p:spPr>
        <p:txBody>
          <a:bodyPr wrap="square" lIns="0" tIns="0" rIns="0" bIns="0" rtlCol="0" anchor="ctr"/>
          <a:lstStyle/>
          <a:p>
            <a:pPr marL="0" indent="0" algn="ctr">
              <a:buNone/>
            </a:pPr>
            <a:r>
              <a:rPr lang="en-US" sz="900" b="1" dirty="0">
                <a:solidFill>
                  <a:srgbClr val="FFFFFF"/>
                </a:solidFill>
              </a:rPr>
              <a:t>Digital Learner</a:t>
            </a:r>
            <a:endParaRPr lang="en-US" sz="900" dirty="0"/>
          </a:p>
        </p:txBody>
      </p:sp>
      <p:sp>
        <p:nvSpPr>
          <p:cNvPr id="13" name="Shape 11"/>
          <p:cNvSpPr/>
          <p:nvPr/>
        </p:nvSpPr>
        <p:spPr>
          <a:xfrm>
            <a:off x="4663440" y="2057400"/>
            <a:ext cx="1280160" cy="292608"/>
          </a:xfrm>
          <a:prstGeom prst="roundRect">
            <a:avLst>
              <a:gd name="adj" fmla="val 15625"/>
            </a:avLst>
          </a:prstGeom>
          <a:solidFill>
            <a:srgbClr val="45D48A"/>
          </a:solidFill>
          <a:ln/>
        </p:spPr>
      </p:sp>
      <p:sp>
        <p:nvSpPr>
          <p:cNvPr id="14" name="Text 12"/>
          <p:cNvSpPr/>
          <p:nvPr/>
        </p:nvSpPr>
        <p:spPr>
          <a:xfrm>
            <a:off x="4663440" y="2057400"/>
            <a:ext cx="1280160" cy="292608"/>
          </a:xfrm>
          <a:prstGeom prst="rect">
            <a:avLst/>
          </a:prstGeom>
          <a:noFill/>
          <a:ln/>
        </p:spPr>
        <p:txBody>
          <a:bodyPr wrap="square" lIns="0" tIns="0" rIns="0" bIns="0" rtlCol="0" anchor="ctr"/>
          <a:lstStyle/>
          <a:p>
            <a:pPr marL="0" indent="0" algn="ctr">
              <a:buNone/>
            </a:pPr>
            <a:r>
              <a:rPr lang="en-US" sz="900" b="1" dirty="0">
                <a:solidFill>
                  <a:srgbClr val="FFFFFF"/>
                </a:solidFill>
              </a:rPr>
              <a:t>Goal-Driven</a:t>
            </a:r>
            <a:endParaRPr lang="en-US" sz="900" dirty="0"/>
          </a:p>
        </p:txBody>
      </p:sp>
      <p:sp>
        <p:nvSpPr>
          <p:cNvPr id="15" name="Shape 13"/>
          <p:cNvSpPr/>
          <p:nvPr/>
        </p:nvSpPr>
        <p:spPr>
          <a:xfrm>
            <a:off x="274320" y="2514600"/>
            <a:ext cx="2834640" cy="2331720"/>
          </a:xfrm>
          <a:prstGeom prst="rect">
            <a:avLst/>
          </a:prstGeom>
          <a:solidFill>
            <a:srgbClr val="FFF5F5"/>
          </a:solidFill>
          <a:ln/>
          <a:effectLst>
            <a:outerShdw blurRad="101600" dist="38100" dir="8100000" algn="bl" rotWithShape="0">
              <a:srgbClr val="000000">
                <a:alpha val="18000"/>
              </a:srgbClr>
            </a:outerShdw>
          </a:effectLst>
        </p:spPr>
      </p:sp>
      <p:sp>
        <p:nvSpPr>
          <p:cNvPr id="16" name="Shape 14"/>
          <p:cNvSpPr/>
          <p:nvPr/>
        </p:nvSpPr>
        <p:spPr>
          <a:xfrm>
            <a:off x="274320" y="2514600"/>
            <a:ext cx="2834640" cy="347472"/>
          </a:xfrm>
          <a:prstGeom prst="rect">
            <a:avLst/>
          </a:prstGeom>
          <a:solidFill>
            <a:srgbClr val="E74C3C"/>
          </a:solidFill>
          <a:ln/>
        </p:spPr>
      </p:sp>
      <p:sp>
        <p:nvSpPr>
          <p:cNvPr id="17" name="Text 15"/>
          <p:cNvSpPr/>
          <p:nvPr/>
        </p:nvSpPr>
        <p:spPr>
          <a:xfrm>
            <a:off x="274320" y="2514600"/>
            <a:ext cx="2834640" cy="347472"/>
          </a:xfrm>
          <a:prstGeom prst="rect">
            <a:avLst/>
          </a:prstGeom>
          <a:noFill/>
          <a:ln/>
        </p:spPr>
        <p:txBody>
          <a:bodyPr wrap="square" lIns="0" tIns="0" rIns="0" bIns="0" rtlCol="0" anchor="ctr"/>
          <a:lstStyle/>
          <a:p>
            <a:pPr marL="0" indent="0" algn="ctr">
              <a:buNone/>
            </a:pPr>
            <a:r>
              <a:rPr lang="en-US" sz="1000" b="1" dirty="0">
                <a:solidFill>
                  <a:srgbClr val="FFFFFF"/>
                </a:solidFill>
              </a:rPr>
              <a:t>PROBLEMS</a:t>
            </a:r>
            <a:endParaRPr lang="en-US" sz="1000" dirty="0"/>
          </a:p>
        </p:txBody>
      </p:sp>
      <p:sp>
        <p:nvSpPr>
          <p:cNvPr id="18" name="Shape 16"/>
          <p:cNvSpPr/>
          <p:nvPr/>
        </p:nvSpPr>
        <p:spPr>
          <a:xfrm>
            <a:off x="411480" y="3017520"/>
            <a:ext cx="164592" cy="164592"/>
          </a:xfrm>
          <a:prstGeom prst="ellipse">
            <a:avLst/>
          </a:prstGeom>
          <a:solidFill>
            <a:srgbClr val="E74C3C"/>
          </a:solidFill>
          <a:ln/>
        </p:spPr>
      </p:sp>
      <p:sp>
        <p:nvSpPr>
          <p:cNvPr id="19" name="Text 17"/>
          <p:cNvSpPr/>
          <p:nvPr/>
        </p:nvSpPr>
        <p:spPr>
          <a:xfrm>
            <a:off x="658368" y="2944368"/>
            <a:ext cx="2331720" cy="384048"/>
          </a:xfrm>
          <a:prstGeom prst="rect">
            <a:avLst/>
          </a:prstGeom>
          <a:noFill/>
          <a:ln/>
        </p:spPr>
        <p:txBody>
          <a:bodyPr wrap="square" lIns="0" tIns="0" rIns="0" bIns="0" rtlCol="0" anchor="ctr"/>
          <a:lstStyle/>
          <a:p>
            <a:pPr marL="0" indent="0">
              <a:buNone/>
            </a:pPr>
            <a:r>
              <a:rPr lang="en-US" sz="1000" dirty="0">
                <a:solidFill>
                  <a:srgbClr val="0D1B2A"/>
                </a:solidFill>
              </a:rPr>
              <a:t>No real-time data on student performance</a:t>
            </a:r>
            <a:endParaRPr lang="en-US" sz="1000" dirty="0"/>
          </a:p>
        </p:txBody>
      </p:sp>
      <p:sp>
        <p:nvSpPr>
          <p:cNvPr id="20" name="Shape 18"/>
          <p:cNvSpPr/>
          <p:nvPr/>
        </p:nvSpPr>
        <p:spPr>
          <a:xfrm>
            <a:off x="411480" y="3547872"/>
            <a:ext cx="164592" cy="164592"/>
          </a:xfrm>
          <a:prstGeom prst="ellipse">
            <a:avLst/>
          </a:prstGeom>
          <a:solidFill>
            <a:srgbClr val="E74C3C"/>
          </a:solidFill>
          <a:ln/>
        </p:spPr>
      </p:sp>
      <p:sp>
        <p:nvSpPr>
          <p:cNvPr id="21" name="Text 19"/>
          <p:cNvSpPr/>
          <p:nvPr/>
        </p:nvSpPr>
        <p:spPr>
          <a:xfrm>
            <a:off x="658368" y="3474720"/>
            <a:ext cx="2331720" cy="384048"/>
          </a:xfrm>
          <a:prstGeom prst="rect">
            <a:avLst/>
          </a:prstGeom>
          <a:noFill/>
          <a:ln/>
        </p:spPr>
        <p:txBody>
          <a:bodyPr wrap="square" lIns="0" tIns="0" rIns="0" bIns="0" rtlCol="0" anchor="ctr"/>
          <a:lstStyle/>
          <a:p>
            <a:pPr marL="0" indent="0">
              <a:buNone/>
            </a:pPr>
            <a:r>
              <a:rPr lang="en-US" sz="1000" dirty="0">
                <a:solidFill>
                  <a:srgbClr val="0D1B2A"/>
                </a:solidFill>
              </a:rPr>
              <a:t>Teaching 60+ students single-handedly</a:t>
            </a:r>
            <a:endParaRPr lang="en-US" sz="1000" dirty="0"/>
          </a:p>
        </p:txBody>
      </p:sp>
      <p:sp>
        <p:nvSpPr>
          <p:cNvPr id="22" name="Shape 20"/>
          <p:cNvSpPr/>
          <p:nvPr/>
        </p:nvSpPr>
        <p:spPr>
          <a:xfrm>
            <a:off x="411480" y="4078224"/>
            <a:ext cx="164592" cy="164592"/>
          </a:xfrm>
          <a:prstGeom prst="ellipse">
            <a:avLst/>
          </a:prstGeom>
          <a:solidFill>
            <a:srgbClr val="E74C3C"/>
          </a:solidFill>
          <a:ln/>
        </p:spPr>
      </p:sp>
      <p:sp>
        <p:nvSpPr>
          <p:cNvPr id="23" name="Text 21"/>
          <p:cNvSpPr/>
          <p:nvPr/>
        </p:nvSpPr>
        <p:spPr>
          <a:xfrm>
            <a:off x="658368" y="4005072"/>
            <a:ext cx="2331720" cy="384048"/>
          </a:xfrm>
          <a:prstGeom prst="rect">
            <a:avLst/>
          </a:prstGeom>
          <a:noFill/>
          <a:ln/>
        </p:spPr>
        <p:txBody>
          <a:bodyPr wrap="square" lIns="0" tIns="0" rIns="0" bIns="0" rtlCol="0" anchor="ctr"/>
          <a:lstStyle/>
          <a:p>
            <a:pPr marL="0" indent="0">
              <a:buNone/>
            </a:pPr>
            <a:r>
              <a:rPr lang="en-US" sz="1000" dirty="0">
                <a:solidFill>
                  <a:srgbClr val="0D1B2A"/>
                </a:solidFill>
              </a:rPr>
              <a:t>No personalised teaching tools</a:t>
            </a:r>
            <a:endParaRPr lang="en-US" sz="1000" dirty="0"/>
          </a:p>
        </p:txBody>
      </p:sp>
      <p:sp>
        <p:nvSpPr>
          <p:cNvPr id="24" name="Shape 22"/>
          <p:cNvSpPr/>
          <p:nvPr/>
        </p:nvSpPr>
        <p:spPr>
          <a:xfrm>
            <a:off x="3246120" y="2514600"/>
            <a:ext cx="2834640" cy="2331720"/>
          </a:xfrm>
          <a:prstGeom prst="rect">
            <a:avLst/>
          </a:prstGeom>
          <a:solidFill>
            <a:srgbClr val="F0FFF5"/>
          </a:solidFill>
          <a:ln/>
          <a:effectLst>
            <a:outerShdw blurRad="101600" dist="38100" dir="8100000" algn="bl" rotWithShape="0">
              <a:srgbClr val="000000">
                <a:alpha val="18000"/>
              </a:srgbClr>
            </a:outerShdw>
          </a:effectLst>
        </p:spPr>
      </p:sp>
      <p:sp>
        <p:nvSpPr>
          <p:cNvPr id="25" name="Shape 23"/>
          <p:cNvSpPr/>
          <p:nvPr/>
        </p:nvSpPr>
        <p:spPr>
          <a:xfrm>
            <a:off x="3246120" y="2514600"/>
            <a:ext cx="2834640" cy="347472"/>
          </a:xfrm>
          <a:prstGeom prst="rect">
            <a:avLst/>
          </a:prstGeom>
          <a:solidFill>
            <a:srgbClr val="27AE60"/>
          </a:solidFill>
          <a:ln/>
        </p:spPr>
      </p:sp>
      <p:sp>
        <p:nvSpPr>
          <p:cNvPr id="26" name="Text 24"/>
          <p:cNvSpPr/>
          <p:nvPr/>
        </p:nvSpPr>
        <p:spPr>
          <a:xfrm>
            <a:off x="3246120" y="2514600"/>
            <a:ext cx="2834640" cy="347472"/>
          </a:xfrm>
          <a:prstGeom prst="rect">
            <a:avLst/>
          </a:prstGeom>
          <a:noFill/>
          <a:ln/>
        </p:spPr>
        <p:txBody>
          <a:bodyPr wrap="square" lIns="0" tIns="0" rIns="0" bIns="0" rtlCol="0" anchor="ctr"/>
          <a:lstStyle/>
          <a:p>
            <a:pPr marL="0" indent="0" algn="ctr">
              <a:buNone/>
            </a:pPr>
            <a:r>
              <a:rPr lang="en-US" sz="1000" b="1" dirty="0">
                <a:solidFill>
                  <a:srgbClr val="FFFFFF"/>
                </a:solidFill>
              </a:rPr>
              <a:t>GOALS &amp; NEEDS</a:t>
            </a:r>
            <a:endParaRPr lang="en-US" sz="1000" dirty="0"/>
          </a:p>
        </p:txBody>
      </p:sp>
      <p:sp>
        <p:nvSpPr>
          <p:cNvPr id="27" name="Shape 25"/>
          <p:cNvSpPr/>
          <p:nvPr/>
        </p:nvSpPr>
        <p:spPr>
          <a:xfrm>
            <a:off x="3383280" y="3017520"/>
            <a:ext cx="164592" cy="164592"/>
          </a:xfrm>
          <a:prstGeom prst="ellipse">
            <a:avLst/>
          </a:prstGeom>
          <a:solidFill>
            <a:srgbClr val="27AE60"/>
          </a:solidFill>
          <a:ln/>
        </p:spPr>
      </p:sp>
      <p:sp>
        <p:nvSpPr>
          <p:cNvPr id="28" name="Text 26"/>
          <p:cNvSpPr/>
          <p:nvPr/>
        </p:nvSpPr>
        <p:spPr>
          <a:xfrm>
            <a:off x="3630168" y="2944368"/>
            <a:ext cx="2331720" cy="384048"/>
          </a:xfrm>
          <a:prstGeom prst="rect">
            <a:avLst/>
          </a:prstGeom>
          <a:noFill/>
          <a:ln/>
        </p:spPr>
        <p:txBody>
          <a:bodyPr wrap="square" lIns="0" tIns="0" rIns="0" bIns="0" rtlCol="0" anchor="ctr"/>
          <a:lstStyle/>
          <a:p>
            <a:pPr marL="0" indent="0">
              <a:buNone/>
            </a:pPr>
            <a:r>
              <a:rPr lang="en-US" sz="1000" dirty="0">
                <a:solidFill>
                  <a:srgbClr val="0D1B2A"/>
                </a:solidFill>
              </a:rPr>
              <a:t>Identify weak students early</a:t>
            </a:r>
            <a:endParaRPr lang="en-US" sz="1000" dirty="0"/>
          </a:p>
        </p:txBody>
      </p:sp>
      <p:sp>
        <p:nvSpPr>
          <p:cNvPr id="29" name="Shape 27"/>
          <p:cNvSpPr/>
          <p:nvPr/>
        </p:nvSpPr>
        <p:spPr>
          <a:xfrm>
            <a:off x="3383280" y="3547872"/>
            <a:ext cx="164592" cy="164592"/>
          </a:xfrm>
          <a:prstGeom prst="ellipse">
            <a:avLst/>
          </a:prstGeom>
          <a:solidFill>
            <a:srgbClr val="27AE60"/>
          </a:solidFill>
          <a:ln/>
        </p:spPr>
      </p:sp>
      <p:sp>
        <p:nvSpPr>
          <p:cNvPr id="30" name="Text 28"/>
          <p:cNvSpPr/>
          <p:nvPr/>
        </p:nvSpPr>
        <p:spPr>
          <a:xfrm>
            <a:off x="3630168" y="3474720"/>
            <a:ext cx="2331720" cy="384048"/>
          </a:xfrm>
          <a:prstGeom prst="rect">
            <a:avLst/>
          </a:prstGeom>
          <a:noFill/>
          <a:ln/>
        </p:spPr>
        <p:txBody>
          <a:bodyPr wrap="square" lIns="0" tIns="0" rIns="0" bIns="0" rtlCol="0" anchor="ctr"/>
          <a:lstStyle/>
          <a:p>
            <a:pPr marL="0" indent="0">
              <a:buNone/>
            </a:pPr>
            <a:r>
              <a:rPr lang="en-US" sz="1000" dirty="0">
                <a:solidFill>
                  <a:srgbClr val="0D1B2A"/>
                </a:solidFill>
              </a:rPr>
              <a:t>Personalise teaching methods</a:t>
            </a:r>
            <a:endParaRPr lang="en-US" sz="1000" dirty="0"/>
          </a:p>
        </p:txBody>
      </p:sp>
      <p:sp>
        <p:nvSpPr>
          <p:cNvPr id="31" name="Shape 29"/>
          <p:cNvSpPr/>
          <p:nvPr/>
        </p:nvSpPr>
        <p:spPr>
          <a:xfrm>
            <a:off x="3383280" y="4078224"/>
            <a:ext cx="164592" cy="164592"/>
          </a:xfrm>
          <a:prstGeom prst="ellipse">
            <a:avLst/>
          </a:prstGeom>
          <a:solidFill>
            <a:srgbClr val="27AE60"/>
          </a:solidFill>
          <a:ln/>
        </p:spPr>
      </p:sp>
      <p:sp>
        <p:nvSpPr>
          <p:cNvPr id="32" name="Text 30"/>
          <p:cNvSpPr/>
          <p:nvPr/>
        </p:nvSpPr>
        <p:spPr>
          <a:xfrm>
            <a:off x="3630168" y="4005072"/>
            <a:ext cx="2331720" cy="384048"/>
          </a:xfrm>
          <a:prstGeom prst="rect">
            <a:avLst/>
          </a:prstGeom>
          <a:noFill/>
          <a:ln/>
        </p:spPr>
        <p:txBody>
          <a:bodyPr wrap="square" lIns="0" tIns="0" rIns="0" bIns="0" rtlCol="0" anchor="ctr"/>
          <a:lstStyle/>
          <a:p>
            <a:pPr marL="0" indent="0">
              <a:buNone/>
            </a:pPr>
            <a:r>
              <a:rPr lang="en-US" sz="1000" dirty="0">
                <a:solidFill>
                  <a:srgbClr val="0D1B2A"/>
                </a:solidFill>
              </a:rPr>
              <a:t>Reduce administrative workload</a:t>
            </a:r>
            <a:endParaRPr lang="en-US" sz="1000" dirty="0"/>
          </a:p>
        </p:txBody>
      </p:sp>
      <p:sp>
        <p:nvSpPr>
          <p:cNvPr id="33" name="Shape 31"/>
          <p:cNvSpPr/>
          <p:nvPr/>
        </p:nvSpPr>
        <p:spPr>
          <a:xfrm>
            <a:off x="6217920" y="2514600"/>
            <a:ext cx="2834640" cy="2331720"/>
          </a:xfrm>
          <a:prstGeom prst="rect">
            <a:avLst/>
          </a:prstGeom>
          <a:solidFill>
            <a:srgbClr val="FFFBF0"/>
          </a:solidFill>
          <a:ln/>
          <a:effectLst>
            <a:outerShdw blurRad="101600" dist="38100" dir="8100000" algn="bl" rotWithShape="0">
              <a:srgbClr val="000000">
                <a:alpha val="18000"/>
              </a:srgbClr>
            </a:outerShdw>
          </a:effectLst>
        </p:spPr>
      </p:sp>
      <p:sp>
        <p:nvSpPr>
          <p:cNvPr id="34" name="Shape 32"/>
          <p:cNvSpPr/>
          <p:nvPr/>
        </p:nvSpPr>
        <p:spPr>
          <a:xfrm>
            <a:off x="6217920" y="2514600"/>
            <a:ext cx="2834640" cy="347472"/>
          </a:xfrm>
          <a:prstGeom prst="rect">
            <a:avLst/>
          </a:prstGeom>
          <a:solidFill>
            <a:srgbClr val="E67E22"/>
          </a:solidFill>
          <a:ln/>
        </p:spPr>
      </p:sp>
      <p:sp>
        <p:nvSpPr>
          <p:cNvPr id="35" name="Text 33"/>
          <p:cNvSpPr/>
          <p:nvPr/>
        </p:nvSpPr>
        <p:spPr>
          <a:xfrm>
            <a:off x="6217920" y="2514600"/>
            <a:ext cx="2834640" cy="347472"/>
          </a:xfrm>
          <a:prstGeom prst="rect">
            <a:avLst/>
          </a:prstGeom>
          <a:noFill/>
          <a:ln/>
        </p:spPr>
        <p:txBody>
          <a:bodyPr wrap="square" lIns="0" tIns="0" rIns="0" bIns="0" rtlCol="0" anchor="ctr"/>
          <a:lstStyle/>
          <a:p>
            <a:pPr marL="0" indent="0" algn="ctr">
              <a:buNone/>
            </a:pPr>
            <a:r>
              <a:rPr lang="en-US" sz="1000" b="1" dirty="0">
                <a:solidFill>
                  <a:srgbClr val="FFFFFF"/>
                </a:solidFill>
              </a:rPr>
              <a:t>CHALLENGES</a:t>
            </a:r>
            <a:endParaRPr lang="en-US" sz="1000" dirty="0"/>
          </a:p>
        </p:txBody>
      </p:sp>
      <p:sp>
        <p:nvSpPr>
          <p:cNvPr id="36" name="Shape 34"/>
          <p:cNvSpPr/>
          <p:nvPr/>
        </p:nvSpPr>
        <p:spPr>
          <a:xfrm>
            <a:off x="6355080" y="3017520"/>
            <a:ext cx="164592" cy="164592"/>
          </a:xfrm>
          <a:prstGeom prst="ellipse">
            <a:avLst/>
          </a:prstGeom>
          <a:solidFill>
            <a:srgbClr val="E67E22"/>
          </a:solidFill>
          <a:ln/>
        </p:spPr>
      </p:sp>
      <p:sp>
        <p:nvSpPr>
          <p:cNvPr id="37" name="Text 35"/>
          <p:cNvSpPr/>
          <p:nvPr/>
        </p:nvSpPr>
        <p:spPr>
          <a:xfrm>
            <a:off x="6601968" y="2944368"/>
            <a:ext cx="2331720" cy="384048"/>
          </a:xfrm>
          <a:prstGeom prst="rect">
            <a:avLst/>
          </a:prstGeom>
          <a:noFill/>
          <a:ln/>
        </p:spPr>
        <p:txBody>
          <a:bodyPr wrap="square" lIns="0" tIns="0" rIns="0" bIns="0" rtlCol="0" anchor="ctr"/>
          <a:lstStyle/>
          <a:p>
            <a:pPr marL="0" indent="0">
              <a:buNone/>
            </a:pPr>
            <a:r>
              <a:rPr lang="en-US" sz="1000" dirty="0">
                <a:solidFill>
                  <a:srgbClr val="0D1B2A"/>
                </a:solidFill>
              </a:rPr>
              <a:t>Overwhelming class sizes</a:t>
            </a:r>
            <a:endParaRPr lang="en-US" sz="1000" dirty="0"/>
          </a:p>
        </p:txBody>
      </p:sp>
      <p:sp>
        <p:nvSpPr>
          <p:cNvPr id="38" name="Shape 36"/>
          <p:cNvSpPr/>
          <p:nvPr/>
        </p:nvSpPr>
        <p:spPr>
          <a:xfrm>
            <a:off x="6355080" y="3547872"/>
            <a:ext cx="164592" cy="164592"/>
          </a:xfrm>
          <a:prstGeom prst="ellipse">
            <a:avLst/>
          </a:prstGeom>
          <a:solidFill>
            <a:srgbClr val="E67E22"/>
          </a:solidFill>
          <a:ln/>
        </p:spPr>
      </p:sp>
      <p:sp>
        <p:nvSpPr>
          <p:cNvPr id="39" name="Text 37"/>
          <p:cNvSpPr/>
          <p:nvPr/>
        </p:nvSpPr>
        <p:spPr>
          <a:xfrm>
            <a:off x="6601968" y="3474720"/>
            <a:ext cx="2331720" cy="384048"/>
          </a:xfrm>
          <a:prstGeom prst="rect">
            <a:avLst/>
          </a:prstGeom>
          <a:noFill/>
          <a:ln/>
        </p:spPr>
        <p:txBody>
          <a:bodyPr wrap="square" lIns="0" tIns="0" rIns="0" bIns="0" rtlCol="0" anchor="ctr"/>
          <a:lstStyle/>
          <a:p>
            <a:pPr marL="0" indent="0">
              <a:buNone/>
            </a:pPr>
            <a:r>
              <a:rPr lang="en-US" sz="1000" dirty="0">
                <a:solidFill>
                  <a:srgbClr val="0D1B2A"/>
                </a:solidFill>
              </a:rPr>
              <a:t>No digital support tools</a:t>
            </a:r>
            <a:endParaRPr lang="en-US" sz="1000" dirty="0"/>
          </a:p>
        </p:txBody>
      </p:sp>
      <p:sp>
        <p:nvSpPr>
          <p:cNvPr id="40" name="Shape 38"/>
          <p:cNvSpPr/>
          <p:nvPr/>
        </p:nvSpPr>
        <p:spPr>
          <a:xfrm>
            <a:off x="6355080" y="4078224"/>
            <a:ext cx="164592" cy="164592"/>
          </a:xfrm>
          <a:prstGeom prst="ellipse">
            <a:avLst/>
          </a:prstGeom>
          <a:solidFill>
            <a:srgbClr val="E67E22"/>
          </a:solidFill>
          <a:ln/>
        </p:spPr>
      </p:sp>
      <p:sp>
        <p:nvSpPr>
          <p:cNvPr id="41" name="Text 39"/>
          <p:cNvSpPr/>
          <p:nvPr/>
        </p:nvSpPr>
        <p:spPr>
          <a:xfrm>
            <a:off x="6601968" y="4005072"/>
            <a:ext cx="2331720" cy="384048"/>
          </a:xfrm>
          <a:prstGeom prst="rect">
            <a:avLst/>
          </a:prstGeom>
          <a:noFill/>
          <a:ln/>
        </p:spPr>
        <p:txBody>
          <a:bodyPr wrap="square" lIns="0" tIns="0" rIns="0" bIns="0" rtlCol="0" anchor="ctr"/>
          <a:lstStyle/>
          <a:p>
            <a:pPr marL="0" indent="0">
              <a:buNone/>
            </a:pPr>
            <a:r>
              <a:rPr lang="en-US" sz="1000" dirty="0">
                <a:solidFill>
                  <a:srgbClr val="0D1B2A"/>
                </a:solidFill>
              </a:rPr>
              <a:t>Resisting technology adoption</a:t>
            </a:r>
            <a:endParaRPr lang="en-US" sz="1000" dirty="0"/>
          </a:p>
        </p:txBody>
      </p:sp>
      <p:pic>
        <p:nvPicPr>
          <p:cNvPr id="42" name="Google Shape;238;p6" title="Witch Hunt finalized logo-modified.png">
            <a:extLst>
              <a:ext uri="{FF2B5EF4-FFF2-40B4-BE49-F238E27FC236}">
                <a16:creationId xmlns:a16="http://schemas.microsoft.com/office/drawing/2014/main" id="{29D362A7-7A54-B875-A437-EE320759789F}"/>
              </a:ext>
            </a:extLst>
          </p:cNvPr>
          <p:cNvPicPr preferRelativeResize="0"/>
          <p:nvPr/>
        </p:nvPicPr>
        <p:blipFill rotWithShape="1">
          <a:blip r:embed="rId3">
            <a:alphaModFix/>
          </a:blip>
          <a:srcRect/>
          <a:stretch/>
        </p:blipFill>
        <p:spPr>
          <a:xfrm>
            <a:off x="129475" y="117972"/>
            <a:ext cx="680849" cy="6808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buNone/>
            </a:pPr>
            <a:r>
              <a:rPr lang="en-US" sz="2600" b="1" dirty="0">
                <a:solidFill>
                  <a:srgbClr val="FFFFFF"/>
                </a:solidFill>
              </a:rPr>
              <a:t>      USER PERSONA 3</a:t>
            </a:r>
            <a:endParaRPr lang="en-US" sz="2600" dirty="0"/>
          </a:p>
        </p:txBody>
      </p:sp>
      <p:sp>
        <p:nvSpPr>
          <p:cNvPr id="4" name="Shape 2"/>
          <p:cNvSpPr/>
          <p:nvPr/>
        </p:nvSpPr>
        <p:spPr>
          <a:xfrm>
            <a:off x="0" y="914400"/>
            <a:ext cx="9144000" cy="54864"/>
          </a:xfrm>
          <a:prstGeom prst="rect">
            <a:avLst/>
          </a:prstGeom>
          <a:solidFill>
            <a:srgbClr val="F5A623"/>
          </a:solidFill>
          <a:ln/>
        </p:spPr>
      </p:sp>
      <p:sp>
        <p:nvSpPr>
          <p:cNvPr id="5" name="Shape 3"/>
          <p:cNvSpPr/>
          <p:nvPr/>
        </p:nvSpPr>
        <p:spPr>
          <a:xfrm>
            <a:off x="365760" y="1188720"/>
            <a:ext cx="1280160" cy="1280160"/>
          </a:xfrm>
          <a:prstGeom prst="ellipse">
            <a:avLst/>
          </a:prstGeom>
          <a:solidFill>
            <a:srgbClr val="F5A623"/>
          </a:solidFill>
          <a:ln/>
        </p:spPr>
      </p:sp>
      <p:sp>
        <p:nvSpPr>
          <p:cNvPr id="6" name="Text 4"/>
          <p:cNvSpPr/>
          <p:nvPr/>
        </p:nvSpPr>
        <p:spPr>
          <a:xfrm>
            <a:off x="365760" y="1188720"/>
            <a:ext cx="1280160" cy="1280160"/>
          </a:xfrm>
          <a:prstGeom prst="rect">
            <a:avLst/>
          </a:prstGeom>
          <a:noFill/>
          <a:ln/>
        </p:spPr>
        <p:txBody>
          <a:bodyPr wrap="square" lIns="0" tIns="0" rIns="0" bIns="0" rtlCol="0" anchor="ctr"/>
          <a:lstStyle/>
          <a:p>
            <a:pPr marL="0" indent="0" algn="ctr">
              <a:buNone/>
            </a:pPr>
            <a:r>
              <a:rPr lang="en-US" sz="4200" b="1" dirty="0">
                <a:solidFill>
                  <a:srgbClr val="FFFFFF"/>
                </a:solidFill>
              </a:rPr>
              <a:t>A</a:t>
            </a:r>
            <a:endParaRPr lang="en-US" sz="4200" dirty="0"/>
          </a:p>
        </p:txBody>
      </p:sp>
      <p:sp>
        <p:nvSpPr>
          <p:cNvPr id="7" name="Text 5"/>
          <p:cNvSpPr/>
          <p:nvPr/>
        </p:nvSpPr>
        <p:spPr>
          <a:xfrm>
            <a:off x="1828800" y="1234440"/>
            <a:ext cx="4572000" cy="457200"/>
          </a:xfrm>
          <a:prstGeom prst="rect">
            <a:avLst/>
          </a:prstGeom>
          <a:noFill/>
          <a:ln/>
        </p:spPr>
        <p:txBody>
          <a:bodyPr wrap="square" lIns="0" tIns="0" rIns="0" bIns="0" rtlCol="0" anchor="ctr"/>
          <a:lstStyle/>
          <a:p>
            <a:pPr marL="0" indent="0">
              <a:buNone/>
            </a:pPr>
            <a:r>
              <a:rPr lang="en-US" sz="2000" b="1" dirty="0">
                <a:solidFill>
                  <a:srgbClr val="0D1B2A"/>
                </a:solidFill>
              </a:rPr>
              <a:t>Aruna IAS</a:t>
            </a:r>
            <a:endParaRPr lang="en-US" sz="2000" dirty="0"/>
          </a:p>
        </p:txBody>
      </p:sp>
      <p:sp>
        <p:nvSpPr>
          <p:cNvPr id="8" name="Text 6"/>
          <p:cNvSpPr/>
          <p:nvPr/>
        </p:nvSpPr>
        <p:spPr>
          <a:xfrm>
            <a:off x="1828800" y="1664208"/>
            <a:ext cx="4572000" cy="320040"/>
          </a:xfrm>
          <a:prstGeom prst="rect">
            <a:avLst/>
          </a:prstGeom>
          <a:noFill/>
          <a:ln/>
        </p:spPr>
        <p:txBody>
          <a:bodyPr wrap="square" lIns="0" tIns="0" rIns="0" bIns="0" rtlCol="0" anchor="ctr"/>
          <a:lstStyle/>
          <a:p>
            <a:pPr marL="0" indent="0">
              <a:buNone/>
            </a:pPr>
            <a:r>
              <a:rPr lang="en-US" sz="1100" dirty="0">
                <a:solidFill>
                  <a:srgbClr val="8898AA"/>
                </a:solidFill>
              </a:rPr>
              <a:t>District Education Officer  ·  48 years old</a:t>
            </a:r>
            <a:endParaRPr lang="en-US" sz="1100" dirty="0"/>
          </a:p>
        </p:txBody>
      </p:sp>
      <p:sp>
        <p:nvSpPr>
          <p:cNvPr id="9" name="Shape 7"/>
          <p:cNvSpPr/>
          <p:nvPr/>
        </p:nvSpPr>
        <p:spPr>
          <a:xfrm>
            <a:off x="1828800" y="2057400"/>
            <a:ext cx="1280160" cy="292608"/>
          </a:xfrm>
          <a:prstGeom prst="roundRect">
            <a:avLst>
              <a:gd name="adj" fmla="val 15625"/>
            </a:avLst>
          </a:prstGeom>
          <a:solidFill>
            <a:srgbClr val="F5A623"/>
          </a:solidFill>
          <a:ln/>
        </p:spPr>
      </p:sp>
      <p:sp>
        <p:nvSpPr>
          <p:cNvPr id="10" name="Text 8"/>
          <p:cNvSpPr/>
          <p:nvPr/>
        </p:nvSpPr>
        <p:spPr>
          <a:xfrm>
            <a:off x="1828800" y="2057400"/>
            <a:ext cx="1280160" cy="292608"/>
          </a:xfrm>
          <a:prstGeom prst="rect">
            <a:avLst/>
          </a:prstGeom>
          <a:noFill/>
          <a:ln/>
        </p:spPr>
        <p:txBody>
          <a:bodyPr wrap="square" lIns="0" tIns="0" rIns="0" bIns="0" rtlCol="0" anchor="ctr"/>
          <a:lstStyle/>
          <a:p>
            <a:pPr marL="0" indent="0" algn="ctr">
              <a:buNone/>
            </a:pPr>
            <a:r>
              <a:rPr lang="en-US" sz="900" b="1" dirty="0">
                <a:solidFill>
                  <a:srgbClr val="FFFFFF"/>
                </a:solidFill>
              </a:rPr>
              <a:t>Motivated</a:t>
            </a:r>
            <a:endParaRPr lang="en-US" sz="900" dirty="0"/>
          </a:p>
        </p:txBody>
      </p:sp>
      <p:sp>
        <p:nvSpPr>
          <p:cNvPr id="11" name="Shape 9"/>
          <p:cNvSpPr/>
          <p:nvPr/>
        </p:nvSpPr>
        <p:spPr>
          <a:xfrm>
            <a:off x="3246120" y="2057400"/>
            <a:ext cx="1280160" cy="292608"/>
          </a:xfrm>
          <a:prstGeom prst="roundRect">
            <a:avLst>
              <a:gd name="adj" fmla="val 15625"/>
            </a:avLst>
          </a:prstGeom>
          <a:solidFill>
            <a:srgbClr val="F5A623"/>
          </a:solidFill>
          <a:ln/>
        </p:spPr>
      </p:sp>
      <p:sp>
        <p:nvSpPr>
          <p:cNvPr id="12" name="Text 10"/>
          <p:cNvSpPr/>
          <p:nvPr/>
        </p:nvSpPr>
        <p:spPr>
          <a:xfrm>
            <a:off x="3246120" y="2057400"/>
            <a:ext cx="1280160" cy="292608"/>
          </a:xfrm>
          <a:prstGeom prst="rect">
            <a:avLst/>
          </a:prstGeom>
          <a:noFill/>
          <a:ln/>
        </p:spPr>
        <p:txBody>
          <a:bodyPr wrap="square" lIns="0" tIns="0" rIns="0" bIns="0" rtlCol="0" anchor="ctr"/>
          <a:lstStyle/>
          <a:p>
            <a:pPr marL="0" indent="0" algn="ctr">
              <a:buNone/>
            </a:pPr>
            <a:r>
              <a:rPr lang="en-US" sz="900" b="1" dirty="0">
                <a:solidFill>
                  <a:srgbClr val="FFFFFF"/>
                </a:solidFill>
              </a:rPr>
              <a:t>Digital Learner</a:t>
            </a:r>
            <a:endParaRPr lang="en-US" sz="900" dirty="0"/>
          </a:p>
        </p:txBody>
      </p:sp>
      <p:sp>
        <p:nvSpPr>
          <p:cNvPr id="13" name="Shape 11"/>
          <p:cNvSpPr/>
          <p:nvPr/>
        </p:nvSpPr>
        <p:spPr>
          <a:xfrm>
            <a:off x="4663440" y="2057400"/>
            <a:ext cx="1280160" cy="292608"/>
          </a:xfrm>
          <a:prstGeom prst="roundRect">
            <a:avLst>
              <a:gd name="adj" fmla="val 15625"/>
            </a:avLst>
          </a:prstGeom>
          <a:solidFill>
            <a:srgbClr val="F5A623"/>
          </a:solidFill>
          <a:ln/>
        </p:spPr>
      </p:sp>
      <p:sp>
        <p:nvSpPr>
          <p:cNvPr id="14" name="Text 12"/>
          <p:cNvSpPr/>
          <p:nvPr/>
        </p:nvSpPr>
        <p:spPr>
          <a:xfrm>
            <a:off x="4663440" y="2057400"/>
            <a:ext cx="1280160" cy="292608"/>
          </a:xfrm>
          <a:prstGeom prst="rect">
            <a:avLst/>
          </a:prstGeom>
          <a:noFill/>
          <a:ln/>
        </p:spPr>
        <p:txBody>
          <a:bodyPr wrap="square" lIns="0" tIns="0" rIns="0" bIns="0" rtlCol="0" anchor="ctr"/>
          <a:lstStyle/>
          <a:p>
            <a:pPr marL="0" indent="0" algn="ctr">
              <a:buNone/>
            </a:pPr>
            <a:r>
              <a:rPr lang="en-US" sz="900" b="1" dirty="0">
                <a:solidFill>
                  <a:srgbClr val="FFFFFF"/>
                </a:solidFill>
              </a:rPr>
              <a:t>Goal-Driven</a:t>
            </a:r>
            <a:endParaRPr lang="en-US" sz="900" dirty="0"/>
          </a:p>
        </p:txBody>
      </p:sp>
      <p:sp>
        <p:nvSpPr>
          <p:cNvPr id="15" name="Shape 13"/>
          <p:cNvSpPr/>
          <p:nvPr/>
        </p:nvSpPr>
        <p:spPr>
          <a:xfrm>
            <a:off x="274320" y="2514600"/>
            <a:ext cx="2834640" cy="2331720"/>
          </a:xfrm>
          <a:prstGeom prst="rect">
            <a:avLst/>
          </a:prstGeom>
          <a:solidFill>
            <a:srgbClr val="FFF5F5"/>
          </a:solidFill>
          <a:ln/>
          <a:effectLst>
            <a:outerShdw blurRad="101600" dist="38100" dir="8100000" algn="bl" rotWithShape="0">
              <a:srgbClr val="000000">
                <a:alpha val="18000"/>
              </a:srgbClr>
            </a:outerShdw>
          </a:effectLst>
        </p:spPr>
      </p:sp>
      <p:sp>
        <p:nvSpPr>
          <p:cNvPr id="16" name="Shape 14"/>
          <p:cNvSpPr/>
          <p:nvPr/>
        </p:nvSpPr>
        <p:spPr>
          <a:xfrm>
            <a:off x="274320" y="2514600"/>
            <a:ext cx="2834640" cy="347472"/>
          </a:xfrm>
          <a:prstGeom prst="rect">
            <a:avLst/>
          </a:prstGeom>
          <a:solidFill>
            <a:srgbClr val="E74C3C"/>
          </a:solidFill>
          <a:ln/>
        </p:spPr>
      </p:sp>
      <p:sp>
        <p:nvSpPr>
          <p:cNvPr id="17" name="Text 15"/>
          <p:cNvSpPr/>
          <p:nvPr/>
        </p:nvSpPr>
        <p:spPr>
          <a:xfrm>
            <a:off x="274320" y="2514600"/>
            <a:ext cx="2834640" cy="347472"/>
          </a:xfrm>
          <a:prstGeom prst="rect">
            <a:avLst/>
          </a:prstGeom>
          <a:noFill/>
          <a:ln/>
        </p:spPr>
        <p:txBody>
          <a:bodyPr wrap="square" lIns="0" tIns="0" rIns="0" bIns="0" rtlCol="0" anchor="ctr"/>
          <a:lstStyle/>
          <a:p>
            <a:pPr marL="0" indent="0" algn="ctr">
              <a:buNone/>
            </a:pPr>
            <a:r>
              <a:rPr lang="en-US" sz="1000" b="1" dirty="0">
                <a:solidFill>
                  <a:srgbClr val="FFFFFF"/>
                </a:solidFill>
              </a:rPr>
              <a:t>PROBLEMS</a:t>
            </a:r>
            <a:endParaRPr lang="en-US" sz="1000" dirty="0"/>
          </a:p>
        </p:txBody>
      </p:sp>
      <p:sp>
        <p:nvSpPr>
          <p:cNvPr id="18" name="Shape 16"/>
          <p:cNvSpPr/>
          <p:nvPr/>
        </p:nvSpPr>
        <p:spPr>
          <a:xfrm>
            <a:off x="411480" y="3017520"/>
            <a:ext cx="164592" cy="164592"/>
          </a:xfrm>
          <a:prstGeom prst="ellipse">
            <a:avLst/>
          </a:prstGeom>
          <a:solidFill>
            <a:srgbClr val="E74C3C"/>
          </a:solidFill>
          <a:ln/>
        </p:spPr>
      </p:sp>
      <p:sp>
        <p:nvSpPr>
          <p:cNvPr id="19" name="Text 17"/>
          <p:cNvSpPr/>
          <p:nvPr/>
        </p:nvSpPr>
        <p:spPr>
          <a:xfrm>
            <a:off x="658368" y="2944368"/>
            <a:ext cx="2331720" cy="384048"/>
          </a:xfrm>
          <a:prstGeom prst="rect">
            <a:avLst/>
          </a:prstGeom>
          <a:noFill/>
          <a:ln/>
        </p:spPr>
        <p:txBody>
          <a:bodyPr wrap="square" lIns="0" tIns="0" rIns="0" bIns="0" rtlCol="0" anchor="ctr"/>
          <a:lstStyle/>
          <a:p>
            <a:pPr marL="0" indent="0">
              <a:buNone/>
            </a:pPr>
            <a:r>
              <a:rPr lang="en-US" sz="1000" dirty="0">
                <a:solidFill>
                  <a:srgbClr val="0D1B2A"/>
                </a:solidFill>
              </a:rPr>
              <a:t>No data-driven resource allocation tools</a:t>
            </a:r>
            <a:endParaRPr lang="en-US" sz="1000" dirty="0"/>
          </a:p>
        </p:txBody>
      </p:sp>
      <p:sp>
        <p:nvSpPr>
          <p:cNvPr id="20" name="Shape 18"/>
          <p:cNvSpPr/>
          <p:nvPr/>
        </p:nvSpPr>
        <p:spPr>
          <a:xfrm>
            <a:off x="411480" y="3547872"/>
            <a:ext cx="164592" cy="164592"/>
          </a:xfrm>
          <a:prstGeom prst="ellipse">
            <a:avLst/>
          </a:prstGeom>
          <a:solidFill>
            <a:srgbClr val="E74C3C"/>
          </a:solidFill>
          <a:ln/>
        </p:spPr>
      </p:sp>
      <p:sp>
        <p:nvSpPr>
          <p:cNvPr id="21" name="Text 19"/>
          <p:cNvSpPr/>
          <p:nvPr/>
        </p:nvSpPr>
        <p:spPr>
          <a:xfrm>
            <a:off x="658368" y="3474720"/>
            <a:ext cx="2331720" cy="384048"/>
          </a:xfrm>
          <a:prstGeom prst="rect">
            <a:avLst/>
          </a:prstGeom>
          <a:noFill/>
          <a:ln/>
        </p:spPr>
        <p:txBody>
          <a:bodyPr wrap="square" lIns="0" tIns="0" rIns="0" bIns="0" rtlCol="0" anchor="ctr"/>
          <a:lstStyle/>
          <a:p>
            <a:pPr marL="0" indent="0">
              <a:buNone/>
            </a:pPr>
            <a:r>
              <a:rPr lang="en-US" sz="1000" dirty="0">
                <a:solidFill>
                  <a:srgbClr val="0D1B2A"/>
                </a:solidFill>
              </a:rPr>
              <a:t>Teacher surplus in cities, shortage in villages</a:t>
            </a:r>
            <a:endParaRPr lang="en-US" sz="1000" dirty="0"/>
          </a:p>
        </p:txBody>
      </p:sp>
      <p:sp>
        <p:nvSpPr>
          <p:cNvPr id="22" name="Shape 20"/>
          <p:cNvSpPr/>
          <p:nvPr/>
        </p:nvSpPr>
        <p:spPr>
          <a:xfrm>
            <a:off x="411480" y="4078224"/>
            <a:ext cx="164592" cy="164592"/>
          </a:xfrm>
          <a:prstGeom prst="ellipse">
            <a:avLst/>
          </a:prstGeom>
          <a:solidFill>
            <a:srgbClr val="E74C3C"/>
          </a:solidFill>
          <a:ln/>
        </p:spPr>
      </p:sp>
      <p:sp>
        <p:nvSpPr>
          <p:cNvPr id="23" name="Text 21"/>
          <p:cNvSpPr/>
          <p:nvPr/>
        </p:nvSpPr>
        <p:spPr>
          <a:xfrm>
            <a:off x="658368" y="4005072"/>
            <a:ext cx="2331720" cy="384048"/>
          </a:xfrm>
          <a:prstGeom prst="rect">
            <a:avLst/>
          </a:prstGeom>
          <a:noFill/>
          <a:ln/>
        </p:spPr>
        <p:txBody>
          <a:bodyPr wrap="square" lIns="0" tIns="0" rIns="0" bIns="0" rtlCol="0" anchor="ctr"/>
          <a:lstStyle/>
          <a:p>
            <a:pPr marL="0" indent="0">
              <a:buNone/>
            </a:pPr>
            <a:r>
              <a:rPr lang="en-US" sz="1000" dirty="0">
                <a:solidFill>
                  <a:srgbClr val="0D1B2A"/>
                </a:solidFill>
              </a:rPr>
              <a:t>Budget wasted on wrong priorities</a:t>
            </a:r>
            <a:endParaRPr lang="en-US" sz="1000" dirty="0"/>
          </a:p>
        </p:txBody>
      </p:sp>
      <p:sp>
        <p:nvSpPr>
          <p:cNvPr id="24" name="Shape 22"/>
          <p:cNvSpPr/>
          <p:nvPr/>
        </p:nvSpPr>
        <p:spPr>
          <a:xfrm>
            <a:off x="3246120" y="2514600"/>
            <a:ext cx="2834640" cy="2331720"/>
          </a:xfrm>
          <a:prstGeom prst="rect">
            <a:avLst/>
          </a:prstGeom>
          <a:solidFill>
            <a:srgbClr val="F0FFF5"/>
          </a:solidFill>
          <a:ln/>
          <a:effectLst>
            <a:outerShdw blurRad="101600" dist="38100" dir="8100000" algn="bl" rotWithShape="0">
              <a:srgbClr val="000000">
                <a:alpha val="18000"/>
              </a:srgbClr>
            </a:outerShdw>
          </a:effectLst>
        </p:spPr>
      </p:sp>
      <p:sp>
        <p:nvSpPr>
          <p:cNvPr id="25" name="Shape 23"/>
          <p:cNvSpPr/>
          <p:nvPr/>
        </p:nvSpPr>
        <p:spPr>
          <a:xfrm>
            <a:off x="3246120" y="2514600"/>
            <a:ext cx="2834640" cy="347472"/>
          </a:xfrm>
          <a:prstGeom prst="rect">
            <a:avLst/>
          </a:prstGeom>
          <a:solidFill>
            <a:srgbClr val="27AE60"/>
          </a:solidFill>
          <a:ln/>
        </p:spPr>
      </p:sp>
      <p:sp>
        <p:nvSpPr>
          <p:cNvPr id="26" name="Text 24"/>
          <p:cNvSpPr/>
          <p:nvPr/>
        </p:nvSpPr>
        <p:spPr>
          <a:xfrm>
            <a:off x="3246120" y="2514600"/>
            <a:ext cx="2834640" cy="347472"/>
          </a:xfrm>
          <a:prstGeom prst="rect">
            <a:avLst/>
          </a:prstGeom>
          <a:noFill/>
          <a:ln/>
        </p:spPr>
        <p:txBody>
          <a:bodyPr wrap="square" lIns="0" tIns="0" rIns="0" bIns="0" rtlCol="0" anchor="ctr"/>
          <a:lstStyle/>
          <a:p>
            <a:pPr marL="0" indent="0" algn="ctr">
              <a:buNone/>
            </a:pPr>
            <a:r>
              <a:rPr lang="en-US" sz="1000" b="1" dirty="0">
                <a:solidFill>
                  <a:srgbClr val="FFFFFF"/>
                </a:solidFill>
              </a:rPr>
              <a:t>GOALS &amp; NEEDS</a:t>
            </a:r>
            <a:endParaRPr lang="en-US" sz="1000" dirty="0"/>
          </a:p>
        </p:txBody>
      </p:sp>
      <p:sp>
        <p:nvSpPr>
          <p:cNvPr id="27" name="Shape 25"/>
          <p:cNvSpPr/>
          <p:nvPr/>
        </p:nvSpPr>
        <p:spPr>
          <a:xfrm>
            <a:off x="3383280" y="3017520"/>
            <a:ext cx="164592" cy="164592"/>
          </a:xfrm>
          <a:prstGeom prst="ellipse">
            <a:avLst/>
          </a:prstGeom>
          <a:solidFill>
            <a:srgbClr val="27AE60"/>
          </a:solidFill>
          <a:ln/>
        </p:spPr>
      </p:sp>
      <p:sp>
        <p:nvSpPr>
          <p:cNvPr id="28" name="Text 26"/>
          <p:cNvSpPr/>
          <p:nvPr/>
        </p:nvSpPr>
        <p:spPr>
          <a:xfrm>
            <a:off x="3630168" y="2944368"/>
            <a:ext cx="2331720" cy="384048"/>
          </a:xfrm>
          <a:prstGeom prst="rect">
            <a:avLst/>
          </a:prstGeom>
          <a:noFill/>
          <a:ln/>
        </p:spPr>
        <p:txBody>
          <a:bodyPr wrap="square" lIns="0" tIns="0" rIns="0" bIns="0" rtlCol="0" anchor="ctr"/>
          <a:lstStyle/>
          <a:p>
            <a:pPr marL="0" indent="0">
              <a:buNone/>
            </a:pPr>
            <a:r>
              <a:rPr lang="en-US" sz="1000" dirty="0">
                <a:solidFill>
                  <a:srgbClr val="0D1B2A"/>
                </a:solidFill>
              </a:rPr>
              <a:t>Equitable teacher distribution</a:t>
            </a:r>
            <a:endParaRPr lang="en-US" sz="1000" dirty="0"/>
          </a:p>
        </p:txBody>
      </p:sp>
      <p:sp>
        <p:nvSpPr>
          <p:cNvPr id="29" name="Shape 27"/>
          <p:cNvSpPr/>
          <p:nvPr/>
        </p:nvSpPr>
        <p:spPr>
          <a:xfrm>
            <a:off x="3383280" y="3547872"/>
            <a:ext cx="164592" cy="164592"/>
          </a:xfrm>
          <a:prstGeom prst="ellipse">
            <a:avLst/>
          </a:prstGeom>
          <a:solidFill>
            <a:srgbClr val="27AE60"/>
          </a:solidFill>
          <a:ln/>
        </p:spPr>
      </p:sp>
      <p:sp>
        <p:nvSpPr>
          <p:cNvPr id="30" name="Text 28"/>
          <p:cNvSpPr/>
          <p:nvPr/>
        </p:nvSpPr>
        <p:spPr>
          <a:xfrm>
            <a:off x="3630168" y="3474720"/>
            <a:ext cx="2331720" cy="384048"/>
          </a:xfrm>
          <a:prstGeom prst="rect">
            <a:avLst/>
          </a:prstGeom>
          <a:noFill/>
          <a:ln/>
        </p:spPr>
        <p:txBody>
          <a:bodyPr wrap="square" lIns="0" tIns="0" rIns="0" bIns="0" rtlCol="0" anchor="ctr"/>
          <a:lstStyle/>
          <a:p>
            <a:pPr marL="0" indent="0">
              <a:buNone/>
            </a:pPr>
            <a:r>
              <a:rPr lang="en-US" sz="1000" dirty="0">
                <a:solidFill>
                  <a:srgbClr val="0D1B2A"/>
                </a:solidFill>
              </a:rPr>
              <a:t>Forecast infrastructure needs early</a:t>
            </a:r>
            <a:endParaRPr lang="en-US" sz="1000" dirty="0"/>
          </a:p>
        </p:txBody>
      </p:sp>
      <p:sp>
        <p:nvSpPr>
          <p:cNvPr id="31" name="Shape 29"/>
          <p:cNvSpPr/>
          <p:nvPr/>
        </p:nvSpPr>
        <p:spPr>
          <a:xfrm>
            <a:off x="3383280" y="4078224"/>
            <a:ext cx="164592" cy="164592"/>
          </a:xfrm>
          <a:prstGeom prst="ellipse">
            <a:avLst/>
          </a:prstGeom>
          <a:solidFill>
            <a:srgbClr val="27AE60"/>
          </a:solidFill>
          <a:ln/>
        </p:spPr>
      </p:sp>
      <p:sp>
        <p:nvSpPr>
          <p:cNvPr id="32" name="Text 30"/>
          <p:cNvSpPr/>
          <p:nvPr/>
        </p:nvSpPr>
        <p:spPr>
          <a:xfrm>
            <a:off x="3630168" y="4005072"/>
            <a:ext cx="2331720" cy="384048"/>
          </a:xfrm>
          <a:prstGeom prst="rect">
            <a:avLst/>
          </a:prstGeom>
          <a:noFill/>
          <a:ln/>
        </p:spPr>
        <p:txBody>
          <a:bodyPr wrap="square" lIns="0" tIns="0" rIns="0" bIns="0" rtlCol="0" anchor="ctr"/>
          <a:lstStyle/>
          <a:p>
            <a:pPr marL="0" indent="0">
              <a:buNone/>
            </a:pPr>
            <a:r>
              <a:rPr lang="en-US" sz="1000" dirty="0">
                <a:solidFill>
                  <a:srgbClr val="0D1B2A"/>
                </a:solidFill>
              </a:rPr>
              <a:t>Prove policy impact with data</a:t>
            </a:r>
            <a:endParaRPr lang="en-US" sz="1000" dirty="0"/>
          </a:p>
        </p:txBody>
      </p:sp>
      <p:sp>
        <p:nvSpPr>
          <p:cNvPr id="33" name="Shape 31"/>
          <p:cNvSpPr/>
          <p:nvPr/>
        </p:nvSpPr>
        <p:spPr>
          <a:xfrm>
            <a:off x="6217920" y="2514600"/>
            <a:ext cx="2834640" cy="2331720"/>
          </a:xfrm>
          <a:prstGeom prst="rect">
            <a:avLst/>
          </a:prstGeom>
          <a:solidFill>
            <a:srgbClr val="FFFBF0"/>
          </a:solidFill>
          <a:ln/>
          <a:effectLst>
            <a:outerShdw blurRad="101600" dist="38100" dir="8100000" algn="bl" rotWithShape="0">
              <a:srgbClr val="000000">
                <a:alpha val="18000"/>
              </a:srgbClr>
            </a:outerShdw>
          </a:effectLst>
        </p:spPr>
      </p:sp>
      <p:sp>
        <p:nvSpPr>
          <p:cNvPr id="34" name="Shape 32"/>
          <p:cNvSpPr/>
          <p:nvPr/>
        </p:nvSpPr>
        <p:spPr>
          <a:xfrm>
            <a:off x="6217920" y="2514600"/>
            <a:ext cx="2834640" cy="347472"/>
          </a:xfrm>
          <a:prstGeom prst="rect">
            <a:avLst/>
          </a:prstGeom>
          <a:solidFill>
            <a:srgbClr val="E67E22"/>
          </a:solidFill>
          <a:ln/>
        </p:spPr>
      </p:sp>
      <p:sp>
        <p:nvSpPr>
          <p:cNvPr id="35" name="Text 33"/>
          <p:cNvSpPr/>
          <p:nvPr/>
        </p:nvSpPr>
        <p:spPr>
          <a:xfrm>
            <a:off x="6217920" y="2514600"/>
            <a:ext cx="2834640" cy="347472"/>
          </a:xfrm>
          <a:prstGeom prst="rect">
            <a:avLst/>
          </a:prstGeom>
          <a:noFill/>
          <a:ln/>
        </p:spPr>
        <p:txBody>
          <a:bodyPr wrap="square" lIns="0" tIns="0" rIns="0" bIns="0" rtlCol="0" anchor="ctr"/>
          <a:lstStyle/>
          <a:p>
            <a:pPr marL="0" indent="0" algn="ctr">
              <a:buNone/>
            </a:pPr>
            <a:r>
              <a:rPr lang="en-US" sz="1000" b="1" dirty="0">
                <a:solidFill>
                  <a:srgbClr val="FFFFFF"/>
                </a:solidFill>
              </a:rPr>
              <a:t>CHALLENGES</a:t>
            </a:r>
            <a:endParaRPr lang="en-US" sz="1000" dirty="0"/>
          </a:p>
        </p:txBody>
      </p:sp>
      <p:sp>
        <p:nvSpPr>
          <p:cNvPr id="36" name="Shape 34"/>
          <p:cNvSpPr/>
          <p:nvPr/>
        </p:nvSpPr>
        <p:spPr>
          <a:xfrm>
            <a:off x="6355080" y="3017520"/>
            <a:ext cx="164592" cy="164592"/>
          </a:xfrm>
          <a:prstGeom prst="ellipse">
            <a:avLst/>
          </a:prstGeom>
          <a:solidFill>
            <a:srgbClr val="E67E22"/>
          </a:solidFill>
          <a:ln/>
        </p:spPr>
      </p:sp>
      <p:sp>
        <p:nvSpPr>
          <p:cNvPr id="37" name="Text 35"/>
          <p:cNvSpPr/>
          <p:nvPr/>
        </p:nvSpPr>
        <p:spPr>
          <a:xfrm>
            <a:off x="6601968" y="2944368"/>
            <a:ext cx="2331720" cy="384048"/>
          </a:xfrm>
          <a:prstGeom prst="rect">
            <a:avLst/>
          </a:prstGeom>
          <a:noFill/>
          <a:ln/>
        </p:spPr>
        <p:txBody>
          <a:bodyPr wrap="square" lIns="0" tIns="0" rIns="0" bIns="0" rtlCol="0" anchor="ctr"/>
          <a:lstStyle/>
          <a:p>
            <a:pPr marL="0" indent="0">
              <a:buNone/>
            </a:pPr>
            <a:r>
              <a:rPr lang="en-US" sz="1000" dirty="0">
                <a:solidFill>
                  <a:srgbClr val="0D1B2A"/>
                </a:solidFill>
              </a:rPr>
              <a:t>Dependency on manual surveys</a:t>
            </a:r>
            <a:endParaRPr lang="en-US" sz="1000" dirty="0"/>
          </a:p>
        </p:txBody>
      </p:sp>
      <p:sp>
        <p:nvSpPr>
          <p:cNvPr id="38" name="Shape 36"/>
          <p:cNvSpPr/>
          <p:nvPr/>
        </p:nvSpPr>
        <p:spPr>
          <a:xfrm>
            <a:off x="6355080" y="3547872"/>
            <a:ext cx="164592" cy="164592"/>
          </a:xfrm>
          <a:prstGeom prst="ellipse">
            <a:avLst/>
          </a:prstGeom>
          <a:solidFill>
            <a:srgbClr val="E67E22"/>
          </a:solidFill>
          <a:ln/>
        </p:spPr>
      </p:sp>
      <p:sp>
        <p:nvSpPr>
          <p:cNvPr id="39" name="Text 37"/>
          <p:cNvSpPr/>
          <p:nvPr/>
        </p:nvSpPr>
        <p:spPr>
          <a:xfrm>
            <a:off x="6601968" y="3474720"/>
            <a:ext cx="2331720" cy="384048"/>
          </a:xfrm>
          <a:prstGeom prst="rect">
            <a:avLst/>
          </a:prstGeom>
          <a:noFill/>
          <a:ln/>
        </p:spPr>
        <p:txBody>
          <a:bodyPr wrap="square" lIns="0" tIns="0" rIns="0" bIns="0" rtlCol="0" anchor="ctr"/>
          <a:lstStyle/>
          <a:p>
            <a:pPr marL="0" indent="0">
              <a:buNone/>
            </a:pPr>
            <a:r>
              <a:rPr lang="en-US" sz="1000" dirty="0">
                <a:solidFill>
                  <a:srgbClr val="0D1B2A"/>
                </a:solidFill>
              </a:rPr>
              <a:t>Delayed reporting cycles</a:t>
            </a:r>
            <a:endParaRPr lang="en-US" sz="1000" dirty="0"/>
          </a:p>
        </p:txBody>
      </p:sp>
      <p:sp>
        <p:nvSpPr>
          <p:cNvPr id="40" name="Shape 38"/>
          <p:cNvSpPr/>
          <p:nvPr/>
        </p:nvSpPr>
        <p:spPr>
          <a:xfrm>
            <a:off x="6355080" y="4078224"/>
            <a:ext cx="164592" cy="164592"/>
          </a:xfrm>
          <a:prstGeom prst="ellipse">
            <a:avLst/>
          </a:prstGeom>
          <a:solidFill>
            <a:srgbClr val="E67E22"/>
          </a:solidFill>
          <a:ln/>
        </p:spPr>
      </p:sp>
      <p:sp>
        <p:nvSpPr>
          <p:cNvPr id="41" name="Text 39"/>
          <p:cNvSpPr/>
          <p:nvPr/>
        </p:nvSpPr>
        <p:spPr>
          <a:xfrm>
            <a:off x="6601968" y="4005072"/>
            <a:ext cx="2331720" cy="384048"/>
          </a:xfrm>
          <a:prstGeom prst="rect">
            <a:avLst/>
          </a:prstGeom>
          <a:noFill/>
          <a:ln/>
        </p:spPr>
        <p:txBody>
          <a:bodyPr wrap="square" lIns="0" tIns="0" rIns="0" bIns="0" rtlCol="0" anchor="ctr"/>
          <a:lstStyle/>
          <a:p>
            <a:pPr marL="0" indent="0">
              <a:buNone/>
            </a:pPr>
            <a:r>
              <a:rPr lang="en-US" sz="1000" dirty="0">
                <a:solidFill>
                  <a:srgbClr val="0D1B2A"/>
                </a:solidFill>
              </a:rPr>
              <a:t>Resistance from school principals</a:t>
            </a:r>
            <a:endParaRPr lang="en-US" sz="1000" dirty="0"/>
          </a:p>
        </p:txBody>
      </p:sp>
      <p:pic>
        <p:nvPicPr>
          <p:cNvPr id="42" name="Google Shape;238;p6" title="Witch Hunt finalized logo-modified.png">
            <a:extLst>
              <a:ext uri="{FF2B5EF4-FFF2-40B4-BE49-F238E27FC236}">
                <a16:creationId xmlns:a16="http://schemas.microsoft.com/office/drawing/2014/main" id="{BC5F9977-5E33-F77E-ACE1-9D58BBBAAFB1}"/>
              </a:ext>
            </a:extLst>
          </p:cNvPr>
          <p:cNvPicPr preferRelativeResize="0"/>
          <p:nvPr/>
        </p:nvPicPr>
        <p:blipFill rotWithShape="1">
          <a:blip r:embed="rId3">
            <a:alphaModFix/>
          </a:blip>
          <a:srcRect/>
          <a:stretch/>
        </p:blipFill>
        <p:spPr>
          <a:xfrm>
            <a:off x="129475" y="110938"/>
            <a:ext cx="680849" cy="6808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5D48A"/>
          </a:solidFill>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800" b="1" dirty="0">
                <a:solidFill>
                  <a:srgbClr val="FFFFFF"/>
                </a:solidFill>
              </a:rPr>
              <a:t>     OUR SOLUTION</a:t>
            </a:r>
            <a:endParaRPr lang="en-US" sz="2800" dirty="0"/>
          </a:p>
        </p:txBody>
      </p:sp>
      <p:sp>
        <p:nvSpPr>
          <p:cNvPr id="4" name="Text 2"/>
          <p:cNvSpPr/>
          <p:nvPr/>
        </p:nvSpPr>
        <p:spPr>
          <a:xfrm>
            <a:off x="457200" y="667512"/>
            <a:ext cx="8229600" cy="320040"/>
          </a:xfrm>
          <a:prstGeom prst="rect">
            <a:avLst/>
          </a:prstGeom>
          <a:noFill/>
          <a:ln/>
        </p:spPr>
        <p:txBody>
          <a:bodyPr wrap="square" lIns="0" tIns="0" rIns="0" bIns="0" rtlCol="0" anchor="ctr"/>
          <a:lstStyle/>
          <a:p>
            <a:pPr marL="0" indent="0">
              <a:buNone/>
            </a:pPr>
            <a:r>
              <a:rPr lang="en-US" sz="1300" i="1" dirty="0">
                <a:solidFill>
                  <a:srgbClr val="45D48A"/>
                </a:solidFill>
              </a:rPr>
              <a:t>EduAI Nexus — Six AI Modules, One Integrated Ecosystem</a:t>
            </a:r>
            <a:endParaRPr lang="en-US" sz="1300" dirty="0"/>
          </a:p>
        </p:txBody>
      </p:sp>
      <p:sp>
        <p:nvSpPr>
          <p:cNvPr id="5" name="Shape 3"/>
          <p:cNvSpPr/>
          <p:nvPr/>
        </p:nvSpPr>
        <p:spPr>
          <a:xfrm>
            <a:off x="3383280" y="1920240"/>
            <a:ext cx="2377440" cy="1005840"/>
          </a:xfrm>
          <a:prstGeom prst="rect">
            <a:avLst/>
          </a:prstGeom>
          <a:solidFill>
            <a:srgbClr val="0ABFBC"/>
          </a:solidFill>
          <a:ln/>
          <a:effectLst>
            <a:outerShdw blurRad="101600" dist="38100" dir="8100000" algn="bl" rotWithShape="0">
              <a:srgbClr val="000000">
                <a:alpha val="18000"/>
              </a:srgbClr>
            </a:outerShdw>
          </a:effectLst>
        </p:spPr>
      </p:sp>
      <p:sp>
        <p:nvSpPr>
          <p:cNvPr id="6" name="Text 4"/>
          <p:cNvSpPr/>
          <p:nvPr/>
        </p:nvSpPr>
        <p:spPr>
          <a:xfrm>
            <a:off x="3383280" y="1920240"/>
            <a:ext cx="2377440" cy="1005840"/>
          </a:xfrm>
          <a:prstGeom prst="rect">
            <a:avLst/>
          </a:prstGeom>
          <a:noFill/>
          <a:ln/>
        </p:spPr>
        <p:txBody>
          <a:bodyPr wrap="square" lIns="0" tIns="0" rIns="0" bIns="0" rtlCol="0" anchor="ctr"/>
          <a:lstStyle/>
          <a:p>
            <a:pPr marL="0" indent="0" algn="ctr">
              <a:buNone/>
            </a:pPr>
            <a:r>
              <a:rPr lang="en-US" sz="1800" b="1" dirty="0">
                <a:solidFill>
                  <a:srgbClr val="FFFFFF"/>
                </a:solidFill>
              </a:rPr>
              <a:t>EduAI</a:t>
            </a:r>
            <a:endParaRPr lang="en-US" sz="1800" dirty="0"/>
          </a:p>
          <a:p>
            <a:pPr marL="0" indent="0" algn="ctr">
              <a:buNone/>
            </a:pPr>
            <a:r>
              <a:rPr lang="en-US" sz="1800" b="1" dirty="0">
                <a:solidFill>
                  <a:srgbClr val="FFFFFF"/>
                </a:solidFill>
              </a:rPr>
              <a:t>NEXUS</a:t>
            </a:r>
            <a:endParaRPr lang="en-US" sz="1800" dirty="0"/>
          </a:p>
        </p:txBody>
      </p:sp>
      <p:sp>
        <p:nvSpPr>
          <p:cNvPr id="7" name="Shape 5"/>
          <p:cNvSpPr/>
          <p:nvPr/>
        </p:nvSpPr>
        <p:spPr>
          <a:xfrm>
            <a:off x="182880" y="1005840"/>
            <a:ext cx="2148840" cy="914400"/>
          </a:xfrm>
          <a:prstGeom prst="rect">
            <a:avLst/>
          </a:prstGeom>
          <a:solidFill>
            <a:srgbClr val="152535"/>
          </a:solidFill>
          <a:ln/>
          <a:effectLst>
            <a:outerShdw blurRad="101600" dist="38100" dir="8100000" algn="bl" rotWithShape="0">
              <a:srgbClr val="000000">
                <a:alpha val="18000"/>
              </a:srgbClr>
            </a:outerShdw>
          </a:effectLst>
        </p:spPr>
      </p:sp>
      <p:sp>
        <p:nvSpPr>
          <p:cNvPr id="8" name="Text 6"/>
          <p:cNvSpPr/>
          <p:nvPr/>
        </p:nvSpPr>
        <p:spPr>
          <a:xfrm>
            <a:off x="274320" y="1097280"/>
            <a:ext cx="1965960" cy="731520"/>
          </a:xfrm>
          <a:prstGeom prst="rect">
            <a:avLst/>
          </a:prstGeom>
          <a:noFill/>
          <a:ln/>
        </p:spPr>
        <p:txBody>
          <a:bodyPr wrap="square" lIns="0" tIns="0" rIns="0" bIns="0" rtlCol="0" anchor="ctr"/>
          <a:lstStyle/>
          <a:p>
            <a:pPr marL="0" indent="0">
              <a:buNone/>
            </a:pPr>
            <a:r>
              <a:rPr lang="en-US" sz="1600" b="1" dirty="0">
                <a:solidFill>
                  <a:srgbClr val="0ABFBC"/>
                </a:solidFill>
              </a:rPr>
              <a:t>🎯 Personalised</a:t>
            </a:r>
            <a:endParaRPr lang="en-US" sz="1600" b="1" dirty="0"/>
          </a:p>
          <a:p>
            <a:pPr marL="0" indent="0">
              <a:buNone/>
            </a:pPr>
            <a:r>
              <a:rPr lang="en-US" sz="1600" b="1" dirty="0">
                <a:solidFill>
                  <a:srgbClr val="0ABFBC"/>
                </a:solidFill>
              </a:rPr>
              <a:t>Learning Engine</a:t>
            </a:r>
            <a:endParaRPr lang="en-US" sz="1600" b="1" dirty="0"/>
          </a:p>
        </p:txBody>
      </p:sp>
      <p:sp>
        <p:nvSpPr>
          <p:cNvPr id="9" name="Shape 7"/>
          <p:cNvSpPr/>
          <p:nvPr/>
        </p:nvSpPr>
        <p:spPr>
          <a:xfrm>
            <a:off x="182880" y="2788920"/>
            <a:ext cx="2148840" cy="914400"/>
          </a:xfrm>
          <a:prstGeom prst="rect">
            <a:avLst/>
          </a:prstGeom>
          <a:solidFill>
            <a:srgbClr val="152535"/>
          </a:solidFill>
          <a:ln/>
          <a:effectLst>
            <a:outerShdw blurRad="101600" dist="38100" dir="8100000" algn="bl" rotWithShape="0">
              <a:srgbClr val="000000">
                <a:alpha val="18000"/>
              </a:srgbClr>
            </a:outerShdw>
          </a:effectLst>
        </p:spPr>
      </p:sp>
      <p:sp>
        <p:nvSpPr>
          <p:cNvPr id="10" name="Text 8"/>
          <p:cNvSpPr/>
          <p:nvPr/>
        </p:nvSpPr>
        <p:spPr>
          <a:xfrm>
            <a:off x="274320" y="2880360"/>
            <a:ext cx="1965960" cy="731520"/>
          </a:xfrm>
          <a:prstGeom prst="rect">
            <a:avLst/>
          </a:prstGeom>
          <a:noFill/>
          <a:ln/>
        </p:spPr>
        <p:txBody>
          <a:bodyPr wrap="square" lIns="0" tIns="0" rIns="0" bIns="0" rtlCol="0" anchor="ctr"/>
          <a:lstStyle/>
          <a:p>
            <a:pPr marL="0" indent="0">
              <a:buNone/>
            </a:pPr>
            <a:r>
              <a:rPr lang="en-US" sz="1100" b="1" dirty="0">
                <a:solidFill>
                  <a:srgbClr val="0ABFBC"/>
                </a:solidFill>
              </a:rPr>
              <a:t>🔬 </a:t>
            </a:r>
            <a:r>
              <a:rPr lang="en-US" sz="1600" b="1" dirty="0">
                <a:solidFill>
                  <a:srgbClr val="0ABFBC"/>
                </a:solidFill>
              </a:rPr>
              <a:t>Virtual Labs</a:t>
            </a:r>
            <a:endParaRPr lang="en-US" sz="1600" b="1" dirty="0"/>
          </a:p>
          <a:p>
            <a:pPr marL="0" indent="0">
              <a:buNone/>
            </a:pPr>
            <a:r>
              <a:rPr lang="en-US" sz="1600" b="1" dirty="0">
                <a:solidFill>
                  <a:srgbClr val="0ABFBC"/>
                </a:solidFill>
              </a:rPr>
              <a:t>for Rural Schools</a:t>
            </a:r>
            <a:endParaRPr lang="en-US" sz="1600" b="1" dirty="0"/>
          </a:p>
        </p:txBody>
      </p:sp>
      <p:sp>
        <p:nvSpPr>
          <p:cNvPr id="11" name="Shape 9"/>
          <p:cNvSpPr/>
          <p:nvPr/>
        </p:nvSpPr>
        <p:spPr>
          <a:xfrm>
            <a:off x="3474720" y="868680"/>
            <a:ext cx="2148840" cy="914400"/>
          </a:xfrm>
          <a:prstGeom prst="rect">
            <a:avLst/>
          </a:prstGeom>
          <a:solidFill>
            <a:srgbClr val="152535"/>
          </a:solidFill>
          <a:ln/>
          <a:effectLst>
            <a:outerShdw blurRad="101600" dist="38100" dir="8100000" algn="bl" rotWithShape="0">
              <a:srgbClr val="000000">
                <a:alpha val="18000"/>
              </a:srgbClr>
            </a:outerShdw>
          </a:effectLst>
        </p:spPr>
      </p:sp>
      <p:sp>
        <p:nvSpPr>
          <p:cNvPr id="12" name="Text 10"/>
          <p:cNvSpPr/>
          <p:nvPr/>
        </p:nvSpPr>
        <p:spPr>
          <a:xfrm>
            <a:off x="3566160" y="960120"/>
            <a:ext cx="1965960" cy="731520"/>
          </a:xfrm>
          <a:prstGeom prst="rect">
            <a:avLst/>
          </a:prstGeom>
          <a:noFill/>
          <a:ln/>
        </p:spPr>
        <p:txBody>
          <a:bodyPr wrap="square" lIns="0" tIns="0" rIns="0" bIns="0" rtlCol="0" anchor="ctr"/>
          <a:lstStyle/>
          <a:p>
            <a:pPr marL="0" indent="0">
              <a:buNone/>
            </a:pPr>
            <a:r>
              <a:rPr lang="en-US" dirty="0">
                <a:solidFill>
                  <a:srgbClr val="0ABFBC"/>
                </a:solidFill>
              </a:rPr>
              <a:t>🌐 Multilingual</a:t>
            </a:r>
            <a:endParaRPr lang="en-US" dirty="0"/>
          </a:p>
          <a:p>
            <a:pPr marL="0" indent="0">
              <a:buNone/>
            </a:pPr>
            <a:r>
              <a:rPr lang="en-US" dirty="0">
                <a:solidFill>
                  <a:srgbClr val="0ABFBC"/>
                </a:solidFill>
              </a:rPr>
              <a:t>Learning System</a:t>
            </a:r>
            <a:endParaRPr lang="en-US" dirty="0"/>
          </a:p>
        </p:txBody>
      </p:sp>
      <p:sp>
        <p:nvSpPr>
          <p:cNvPr id="13" name="Shape 11"/>
          <p:cNvSpPr/>
          <p:nvPr/>
        </p:nvSpPr>
        <p:spPr>
          <a:xfrm>
            <a:off x="3474720" y="3474720"/>
            <a:ext cx="2148840" cy="914400"/>
          </a:xfrm>
          <a:prstGeom prst="rect">
            <a:avLst/>
          </a:prstGeom>
          <a:solidFill>
            <a:srgbClr val="152535"/>
          </a:solidFill>
          <a:ln/>
          <a:effectLst>
            <a:outerShdw blurRad="101600" dist="38100" dir="8100000" algn="bl" rotWithShape="0">
              <a:srgbClr val="000000">
                <a:alpha val="18000"/>
              </a:srgbClr>
            </a:outerShdw>
          </a:effectLst>
        </p:spPr>
      </p:sp>
      <p:sp>
        <p:nvSpPr>
          <p:cNvPr id="14" name="Text 12"/>
          <p:cNvSpPr/>
          <p:nvPr/>
        </p:nvSpPr>
        <p:spPr>
          <a:xfrm>
            <a:off x="3566160" y="3566160"/>
            <a:ext cx="1965960" cy="731520"/>
          </a:xfrm>
          <a:prstGeom prst="rect">
            <a:avLst/>
          </a:prstGeom>
          <a:noFill/>
          <a:ln/>
        </p:spPr>
        <p:txBody>
          <a:bodyPr wrap="square" lIns="0" tIns="0" rIns="0" bIns="0" rtlCol="0" anchor="ctr"/>
          <a:lstStyle/>
          <a:p>
            <a:pPr marL="0" indent="0">
              <a:buNone/>
            </a:pPr>
            <a:r>
              <a:rPr lang="en-US" sz="1100" b="1" dirty="0">
                <a:solidFill>
                  <a:srgbClr val="0ABFBC"/>
                </a:solidFill>
              </a:rPr>
              <a:t>📊 </a:t>
            </a:r>
            <a:r>
              <a:rPr lang="en-US" b="1" dirty="0">
                <a:solidFill>
                  <a:srgbClr val="0ABFBC"/>
                </a:solidFill>
              </a:rPr>
              <a:t>Smart Resource</a:t>
            </a:r>
            <a:endParaRPr lang="en-US" b="1" dirty="0"/>
          </a:p>
          <a:p>
            <a:pPr marL="0" indent="0">
              <a:buNone/>
            </a:pPr>
            <a:r>
              <a:rPr lang="en-US" b="1" dirty="0">
                <a:solidFill>
                  <a:srgbClr val="0ABFBC"/>
                </a:solidFill>
              </a:rPr>
              <a:t>Allocation</a:t>
            </a:r>
            <a:endParaRPr lang="en-US" b="1" dirty="0"/>
          </a:p>
        </p:txBody>
      </p:sp>
      <p:sp>
        <p:nvSpPr>
          <p:cNvPr id="15" name="Shape 13"/>
          <p:cNvSpPr/>
          <p:nvPr/>
        </p:nvSpPr>
        <p:spPr>
          <a:xfrm>
            <a:off x="6995160" y="1170432"/>
            <a:ext cx="2148840" cy="914400"/>
          </a:xfrm>
          <a:prstGeom prst="rect">
            <a:avLst/>
          </a:prstGeom>
          <a:solidFill>
            <a:srgbClr val="152535"/>
          </a:solidFill>
          <a:ln/>
          <a:effectLst>
            <a:outerShdw blurRad="101600" dist="38100" dir="8100000" algn="bl" rotWithShape="0">
              <a:srgbClr val="000000">
                <a:alpha val="18000"/>
              </a:srgbClr>
            </a:outerShdw>
          </a:effectLst>
        </p:spPr>
      </p:sp>
      <p:sp>
        <p:nvSpPr>
          <p:cNvPr id="16" name="Text 14"/>
          <p:cNvSpPr/>
          <p:nvPr/>
        </p:nvSpPr>
        <p:spPr>
          <a:xfrm>
            <a:off x="6766560" y="1097280"/>
            <a:ext cx="1965960" cy="731520"/>
          </a:xfrm>
          <a:prstGeom prst="rect">
            <a:avLst/>
          </a:prstGeom>
          <a:noFill/>
          <a:ln/>
        </p:spPr>
        <p:txBody>
          <a:bodyPr wrap="square" lIns="0" tIns="0" rIns="0" bIns="0" rtlCol="0" anchor="ctr"/>
          <a:lstStyle/>
          <a:p>
            <a:pPr marL="0" indent="0">
              <a:buNone/>
            </a:pPr>
            <a:r>
              <a:rPr lang="en-US" sz="1100" b="1" dirty="0">
                <a:solidFill>
                  <a:srgbClr val="0ABFBC"/>
                </a:solidFill>
              </a:rPr>
              <a:t>💼 </a:t>
            </a:r>
            <a:r>
              <a:rPr lang="en-US" b="1" dirty="0">
                <a:solidFill>
                  <a:srgbClr val="0ABFBC"/>
                </a:solidFill>
              </a:rPr>
              <a:t>Career Readiness</a:t>
            </a:r>
            <a:endParaRPr lang="en-US" b="1" dirty="0"/>
          </a:p>
          <a:p>
            <a:pPr marL="0" indent="0">
              <a:buNone/>
            </a:pPr>
            <a:r>
              <a:rPr lang="en-US" b="1" dirty="0">
                <a:solidFill>
                  <a:srgbClr val="0ABFBC"/>
                </a:solidFill>
              </a:rPr>
              <a:t>System</a:t>
            </a:r>
            <a:endParaRPr lang="en-US" b="1" dirty="0"/>
          </a:p>
        </p:txBody>
      </p:sp>
      <p:sp>
        <p:nvSpPr>
          <p:cNvPr id="17" name="Shape 15"/>
          <p:cNvSpPr/>
          <p:nvPr/>
        </p:nvSpPr>
        <p:spPr>
          <a:xfrm>
            <a:off x="6675120" y="2788920"/>
            <a:ext cx="2148840" cy="914400"/>
          </a:xfrm>
          <a:prstGeom prst="rect">
            <a:avLst/>
          </a:prstGeom>
          <a:solidFill>
            <a:srgbClr val="152535"/>
          </a:solidFill>
          <a:ln/>
          <a:effectLst>
            <a:outerShdw blurRad="101600" dist="38100" dir="8100000" algn="bl" rotWithShape="0">
              <a:srgbClr val="000000">
                <a:alpha val="18000"/>
              </a:srgbClr>
            </a:outerShdw>
          </a:effectLst>
        </p:spPr>
      </p:sp>
      <p:sp>
        <p:nvSpPr>
          <p:cNvPr id="18" name="Text 16"/>
          <p:cNvSpPr/>
          <p:nvPr/>
        </p:nvSpPr>
        <p:spPr>
          <a:xfrm>
            <a:off x="6766560" y="2880360"/>
            <a:ext cx="1965960" cy="731520"/>
          </a:xfrm>
          <a:prstGeom prst="rect">
            <a:avLst/>
          </a:prstGeom>
          <a:noFill/>
          <a:ln/>
        </p:spPr>
        <p:txBody>
          <a:bodyPr wrap="square" lIns="0" tIns="0" rIns="0" bIns="0" rtlCol="0" anchor="ctr"/>
          <a:lstStyle/>
          <a:p>
            <a:pPr marL="0" indent="0">
              <a:buNone/>
            </a:pPr>
            <a:r>
              <a:rPr lang="en-US" sz="1100" b="1" dirty="0">
                <a:solidFill>
                  <a:srgbClr val="0ABFBC"/>
                </a:solidFill>
              </a:rPr>
              <a:t>🚀 </a:t>
            </a:r>
            <a:r>
              <a:rPr lang="en-US" sz="1400" b="1" dirty="0">
                <a:solidFill>
                  <a:srgbClr val="0ABFBC"/>
                </a:solidFill>
              </a:rPr>
              <a:t>Micro-Project</a:t>
            </a:r>
            <a:endParaRPr lang="en-US" sz="1400" b="1" dirty="0"/>
          </a:p>
          <a:p>
            <a:pPr marL="0" indent="0">
              <a:buNone/>
            </a:pPr>
            <a:r>
              <a:rPr lang="en-US" sz="1400" b="1" dirty="0">
                <a:solidFill>
                  <a:srgbClr val="0ABFBC"/>
                </a:solidFill>
              </a:rPr>
              <a:t>Learning</a:t>
            </a:r>
            <a:endParaRPr lang="en-US" sz="1400" b="1" dirty="0"/>
          </a:p>
        </p:txBody>
      </p:sp>
      <p:pic>
        <p:nvPicPr>
          <p:cNvPr id="19" name="Google Shape;238;p6" title="Witch Hunt finalized logo-modified.png">
            <a:extLst>
              <a:ext uri="{FF2B5EF4-FFF2-40B4-BE49-F238E27FC236}">
                <a16:creationId xmlns:a16="http://schemas.microsoft.com/office/drawing/2014/main" id="{E585E6FC-1082-1A26-B25C-5915A497A9DE}"/>
              </a:ext>
            </a:extLst>
          </p:cNvPr>
          <p:cNvPicPr preferRelativeResize="0"/>
          <p:nvPr/>
        </p:nvPicPr>
        <p:blipFill rotWithShape="1">
          <a:blip r:embed="rId3">
            <a:alphaModFix/>
          </a:blip>
          <a:srcRect/>
          <a:stretch/>
        </p:blipFill>
        <p:spPr>
          <a:xfrm>
            <a:off x="129475" y="110939"/>
            <a:ext cx="680849" cy="5565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buNone/>
            </a:pPr>
            <a:r>
              <a:rPr lang="en-US" sz="2400" b="1" dirty="0">
                <a:solidFill>
                  <a:srgbClr val="FFFFFF"/>
                </a:solidFill>
              </a:rPr>
              <a:t>     OUR SOLUTION — CONTINUED</a:t>
            </a:r>
            <a:endParaRPr lang="en-US" sz="2400" dirty="0"/>
          </a:p>
        </p:txBody>
      </p:sp>
      <p:sp>
        <p:nvSpPr>
          <p:cNvPr id="4" name="Shape 2"/>
          <p:cNvSpPr/>
          <p:nvPr/>
        </p:nvSpPr>
        <p:spPr>
          <a:xfrm>
            <a:off x="0" y="914400"/>
            <a:ext cx="9144000" cy="54864"/>
          </a:xfrm>
          <a:prstGeom prst="rect">
            <a:avLst/>
          </a:prstGeom>
          <a:solidFill>
            <a:srgbClr val="45D48A"/>
          </a:solidFill>
          <a:ln/>
        </p:spPr>
      </p:sp>
      <p:sp>
        <p:nvSpPr>
          <p:cNvPr id="5" name="Shape 3"/>
          <p:cNvSpPr/>
          <p:nvPr/>
        </p:nvSpPr>
        <p:spPr>
          <a:xfrm>
            <a:off x="182880" y="1097280"/>
            <a:ext cx="2743200" cy="1508760"/>
          </a:xfrm>
          <a:prstGeom prst="rect">
            <a:avLst/>
          </a:prstGeom>
          <a:solidFill>
            <a:srgbClr val="FFFFFF"/>
          </a:solidFill>
          <a:ln/>
          <a:effectLst>
            <a:outerShdw blurRad="101600" dist="38100" dir="8100000" algn="bl" rotWithShape="0">
              <a:srgbClr val="000000">
                <a:alpha val="18000"/>
              </a:srgbClr>
            </a:outerShdw>
          </a:effectLst>
        </p:spPr>
      </p:sp>
      <p:sp>
        <p:nvSpPr>
          <p:cNvPr id="6" name="Shape 4"/>
          <p:cNvSpPr/>
          <p:nvPr/>
        </p:nvSpPr>
        <p:spPr>
          <a:xfrm>
            <a:off x="182880" y="1097280"/>
            <a:ext cx="2743200" cy="54864"/>
          </a:xfrm>
          <a:prstGeom prst="rect">
            <a:avLst/>
          </a:prstGeom>
          <a:solidFill>
            <a:srgbClr val="0ABFBC"/>
          </a:solidFill>
          <a:ln/>
        </p:spPr>
      </p:sp>
      <p:sp>
        <p:nvSpPr>
          <p:cNvPr id="7" name="Text 5"/>
          <p:cNvSpPr/>
          <p:nvPr/>
        </p:nvSpPr>
        <p:spPr>
          <a:xfrm>
            <a:off x="292608" y="1207008"/>
            <a:ext cx="2514600" cy="384048"/>
          </a:xfrm>
          <a:prstGeom prst="rect">
            <a:avLst/>
          </a:prstGeom>
          <a:noFill/>
          <a:ln/>
        </p:spPr>
        <p:txBody>
          <a:bodyPr wrap="square" lIns="0" tIns="0" rIns="0" bIns="0" rtlCol="0" anchor="ctr"/>
          <a:lstStyle/>
          <a:p>
            <a:pPr marL="0" indent="0">
              <a:buNone/>
            </a:pPr>
            <a:r>
              <a:rPr lang="en-US" sz="1200" b="1" dirty="0">
                <a:solidFill>
                  <a:srgbClr val="0D1B2A"/>
                </a:solidFill>
              </a:rPr>
              <a:t>🎯 Personalised Learning Engine</a:t>
            </a:r>
            <a:endParaRPr lang="en-US" sz="1200" dirty="0"/>
          </a:p>
        </p:txBody>
      </p:sp>
      <p:sp>
        <p:nvSpPr>
          <p:cNvPr id="8" name="Text 6"/>
          <p:cNvSpPr/>
          <p:nvPr/>
        </p:nvSpPr>
        <p:spPr>
          <a:xfrm>
            <a:off x="292608" y="1591056"/>
            <a:ext cx="2514600" cy="914400"/>
          </a:xfrm>
          <a:prstGeom prst="rect">
            <a:avLst/>
          </a:prstGeom>
          <a:noFill/>
          <a:ln/>
        </p:spPr>
        <p:txBody>
          <a:bodyPr wrap="square" lIns="0" tIns="0" rIns="0" bIns="0" rtlCol="0" anchor="ctr"/>
          <a:lstStyle/>
          <a:p>
            <a:pPr marL="0" indent="0">
              <a:buNone/>
            </a:pPr>
            <a:r>
              <a:rPr lang="en-US" sz="1100" dirty="0">
                <a:solidFill>
                  <a:srgbClr val="8898AA"/>
                </a:solidFill>
              </a:rPr>
              <a:t>Adaptive content delivery by learning style. Current affairs flash cards. PDF-to-MCQ exam interface. Student dashboard with performance heat maps. Educational games &amp; quiz battles</a:t>
            </a:r>
            <a:r>
              <a:rPr lang="en-US" sz="900" dirty="0">
                <a:solidFill>
                  <a:srgbClr val="8898AA"/>
                </a:solidFill>
              </a:rPr>
              <a:t>.</a:t>
            </a:r>
            <a:endParaRPr lang="en-US" sz="900" dirty="0"/>
          </a:p>
        </p:txBody>
      </p:sp>
      <p:sp>
        <p:nvSpPr>
          <p:cNvPr id="9" name="Shape 7"/>
          <p:cNvSpPr/>
          <p:nvPr/>
        </p:nvSpPr>
        <p:spPr>
          <a:xfrm>
            <a:off x="3154680" y="1097280"/>
            <a:ext cx="2743200" cy="1508760"/>
          </a:xfrm>
          <a:prstGeom prst="rect">
            <a:avLst/>
          </a:prstGeom>
          <a:solidFill>
            <a:srgbClr val="FFFFFF"/>
          </a:solidFill>
          <a:ln/>
          <a:effectLst>
            <a:outerShdw blurRad="101600" dist="38100" dir="8100000" algn="bl" rotWithShape="0">
              <a:srgbClr val="000000">
                <a:alpha val="18000"/>
              </a:srgbClr>
            </a:outerShdw>
          </a:effectLst>
        </p:spPr>
      </p:sp>
      <p:sp>
        <p:nvSpPr>
          <p:cNvPr id="10" name="Shape 8"/>
          <p:cNvSpPr/>
          <p:nvPr/>
        </p:nvSpPr>
        <p:spPr>
          <a:xfrm>
            <a:off x="3154680" y="1097280"/>
            <a:ext cx="2743200" cy="54864"/>
          </a:xfrm>
          <a:prstGeom prst="rect">
            <a:avLst/>
          </a:prstGeom>
          <a:solidFill>
            <a:srgbClr val="45D48A"/>
          </a:solidFill>
          <a:ln/>
        </p:spPr>
      </p:sp>
      <p:sp>
        <p:nvSpPr>
          <p:cNvPr id="11" name="Text 9"/>
          <p:cNvSpPr/>
          <p:nvPr/>
        </p:nvSpPr>
        <p:spPr>
          <a:xfrm>
            <a:off x="3264408" y="1207008"/>
            <a:ext cx="2514600" cy="384048"/>
          </a:xfrm>
          <a:prstGeom prst="rect">
            <a:avLst/>
          </a:prstGeom>
          <a:noFill/>
          <a:ln/>
        </p:spPr>
        <p:txBody>
          <a:bodyPr wrap="square" lIns="0" tIns="0" rIns="0" bIns="0" rtlCol="0" anchor="ctr"/>
          <a:lstStyle/>
          <a:p>
            <a:pPr marL="0" indent="0">
              <a:buNone/>
            </a:pPr>
            <a:r>
              <a:rPr lang="en-US" sz="1000" b="1" dirty="0">
                <a:solidFill>
                  <a:srgbClr val="0D1B2A"/>
                </a:solidFill>
              </a:rPr>
              <a:t>🔬 </a:t>
            </a:r>
            <a:r>
              <a:rPr lang="en-US" sz="1200" b="1" dirty="0">
                <a:solidFill>
                  <a:srgbClr val="0D1B2A"/>
                </a:solidFill>
              </a:rPr>
              <a:t>Virtual Labs for Rural Schools</a:t>
            </a:r>
            <a:endParaRPr lang="en-US" sz="1200" dirty="0"/>
          </a:p>
        </p:txBody>
      </p:sp>
      <p:sp>
        <p:nvSpPr>
          <p:cNvPr id="12" name="Text 10"/>
          <p:cNvSpPr/>
          <p:nvPr/>
        </p:nvSpPr>
        <p:spPr>
          <a:xfrm>
            <a:off x="3264408" y="1591056"/>
            <a:ext cx="2514600" cy="914400"/>
          </a:xfrm>
          <a:prstGeom prst="rect">
            <a:avLst/>
          </a:prstGeom>
          <a:noFill/>
          <a:ln/>
        </p:spPr>
        <p:txBody>
          <a:bodyPr wrap="square" lIns="0" tIns="0" rIns="0" bIns="0" rtlCol="0" anchor="ctr"/>
          <a:lstStyle/>
          <a:p>
            <a:pPr marL="0" indent="0">
              <a:buNone/>
            </a:pPr>
            <a:r>
              <a:rPr lang="en-US" sz="1100" dirty="0">
                <a:solidFill>
                  <a:srgbClr val="8898AA"/>
                </a:solidFill>
              </a:rPr>
              <a:t>Physics, Chemistry, Biology &amp; Agriculture simulations on smartphones. 3D anatomy models. AI step-by-step lab guidance. Auto-generated experiment reports</a:t>
            </a:r>
            <a:r>
              <a:rPr lang="en-US" sz="900" dirty="0">
                <a:solidFill>
                  <a:srgbClr val="8898AA"/>
                </a:solidFill>
              </a:rPr>
              <a:t>.</a:t>
            </a:r>
            <a:endParaRPr lang="en-US" sz="900" dirty="0"/>
          </a:p>
        </p:txBody>
      </p:sp>
      <p:sp>
        <p:nvSpPr>
          <p:cNvPr id="13" name="Shape 11"/>
          <p:cNvSpPr/>
          <p:nvPr/>
        </p:nvSpPr>
        <p:spPr>
          <a:xfrm>
            <a:off x="6126480" y="1097280"/>
            <a:ext cx="2743200" cy="1508760"/>
          </a:xfrm>
          <a:prstGeom prst="rect">
            <a:avLst/>
          </a:prstGeom>
          <a:solidFill>
            <a:srgbClr val="FFFFFF"/>
          </a:solidFill>
          <a:ln/>
          <a:effectLst>
            <a:outerShdw blurRad="101600" dist="38100" dir="8100000" algn="bl" rotWithShape="0">
              <a:srgbClr val="000000">
                <a:alpha val="18000"/>
              </a:srgbClr>
            </a:outerShdw>
          </a:effectLst>
        </p:spPr>
      </p:sp>
      <p:sp>
        <p:nvSpPr>
          <p:cNvPr id="14" name="Shape 12"/>
          <p:cNvSpPr/>
          <p:nvPr/>
        </p:nvSpPr>
        <p:spPr>
          <a:xfrm>
            <a:off x="6126480" y="1097280"/>
            <a:ext cx="2743200" cy="54864"/>
          </a:xfrm>
          <a:prstGeom prst="rect">
            <a:avLst/>
          </a:prstGeom>
          <a:solidFill>
            <a:srgbClr val="F5A623"/>
          </a:solidFill>
          <a:ln/>
        </p:spPr>
      </p:sp>
      <p:sp>
        <p:nvSpPr>
          <p:cNvPr id="15" name="Text 13"/>
          <p:cNvSpPr/>
          <p:nvPr/>
        </p:nvSpPr>
        <p:spPr>
          <a:xfrm>
            <a:off x="6236208" y="1207008"/>
            <a:ext cx="2514600" cy="384048"/>
          </a:xfrm>
          <a:prstGeom prst="rect">
            <a:avLst/>
          </a:prstGeom>
          <a:noFill/>
          <a:ln/>
        </p:spPr>
        <p:txBody>
          <a:bodyPr wrap="square" lIns="0" tIns="0" rIns="0" bIns="0" rtlCol="0" anchor="ctr"/>
          <a:lstStyle/>
          <a:p>
            <a:pPr marL="0" indent="0">
              <a:buNone/>
            </a:pPr>
            <a:r>
              <a:rPr lang="en-US" sz="1000" b="1" dirty="0">
                <a:solidFill>
                  <a:srgbClr val="0D1B2A"/>
                </a:solidFill>
              </a:rPr>
              <a:t>🌐 </a:t>
            </a:r>
            <a:r>
              <a:rPr lang="en-US" sz="1200" b="1" dirty="0">
                <a:solidFill>
                  <a:srgbClr val="0D1B2A"/>
                </a:solidFill>
              </a:rPr>
              <a:t>Multilingual Learning System</a:t>
            </a:r>
            <a:endParaRPr lang="en-US" sz="1200" dirty="0"/>
          </a:p>
        </p:txBody>
      </p:sp>
      <p:sp>
        <p:nvSpPr>
          <p:cNvPr id="16" name="Text 14"/>
          <p:cNvSpPr/>
          <p:nvPr/>
        </p:nvSpPr>
        <p:spPr>
          <a:xfrm>
            <a:off x="6236208" y="1591056"/>
            <a:ext cx="2514600" cy="914400"/>
          </a:xfrm>
          <a:prstGeom prst="rect">
            <a:avLst/>
          </a:prstGeom>
          <a:noFill/>
          <a:ln/>
        </p:spPr>
        <p:txBody>
          <a:bodyPr wrap="square" lIns="0" tIns="0" rIns="0" bIns="0" rtlCol="0" anchor="ctr"/>
          <a:lstStyle/>
          <a:p>
            <a:pPr marL="0" indent="0">
              <a:buNone/>
            </a:pPr>
            <a:r>
              <a:rPr lang="en-US" sz="1100" dirty="0">
                <a:solidFill>
                  <a:srgbClr val="8898AA"/>
                </a:solidFill>
              </a:rPr>
              <a:t>Real-time textbook translation in 22+ Indian languages. AI tutors in regional languages. TED Talk pronunciation training with phoneme-level AI feedback.</a:t>
            </a:r>
            <a:endParaRPr lang="en-US" sz="1100" dirty="0"/>
          </a:p>
        </p:txBody>
      </p:sp>
      <p:sp>
        <p:nvSpPr>
          <p:cNvPr id="17" name="Shape 15"/>
          <p:cNvSpPr/>
          <p:nvPr/>
        </p:nvSpPr>
        <p:spPr>
          <a:xfrm>
            <a:off x="182880" y="2788920"/>
            <a:ext cx="2743200" cy="1508760"/>
          </a:xfrm>
          <a:prstGeom prst="rect">
            <a:avLst/>
          </a:prstGeom>
          <a:solidFill>
            <a:srgbClr val="FFFFFF"/>
          </a:solidFill>
          <a:ln/>
          <a:effectLst>
            <a:outerShdw blurRad="101600" dist="38100" dir="8100000" algn="bl" rotWithShape="0">
              <a:srgbClr val="000000">
                <a:alpha val="18000"/>
              </a:srgbClr>
            </a:outerShdw>
          </a:effectLst>
        </p:spPr>
      </p:sp>
      <p:sp>
        <p:nvSpPr>
          <p:cNvPr id="18" name="Shape 16"/>
          <p:cNvSpPr/>
          <p:nvPr/>
        </p:nvSpPr>
        <p:spPr>
          <a:xfrm>
            <a:off x="182880" y="2788920"/>
            <a:ext cx="2743200" cy="54864"/>
          </a:xfrm>
          <a:prstGeom prst="rect">
            <a:avLst/>
          </a:prstGeom>
          <a:solidFill>
            <a:srgbClr val="0ABFBC"/>
          </a:solidFill>
          <a:ln/>
        </p:spPr>
      </p:sp>
      <p:sp>
        <p:nvSpPr>
          <p:cNvPr id="19" name="Text 17"/>
          <p:cNvSpPr/>
          <p:nvPr/>
        </p:nvSpPr>
        <p:spPr>
          <a:xfrm>
            <a:off x="292608" y="2898648"/>
            <a:ext cx="2514600" cy="384048"/>
          </a:xfrm>
          <a:prstGeom prst="rect">
            <a:avLst/>
          </a:prstGeom>
          <a:noFill/>
          <a:ln/>
        </p:spPr>
        <p:txBody>
          <a:bodyPr wrap="square" lIns="0" tIns="0" rIns="0" bIns="0" rtlCol="0" anchor="ctr"/>
          <a:lstStyle/>
          <a:p>
            <a:pPr marL="0" indent="0">
              <a:buNone/>
            </a:pPr>
            <a:r>
              <a:rPr lang="en-US" sz="1200" b="1" dirty="0">
                <a:solidFill>
                  <a:srgbClr val="0D1B2A"/>
                </a:solidFill>
              </a:rPr>
              <a:t>🚀 Micro-Project Learning</a:t>
            </a:r>
            <a:endParaRPr lang="en-US" sz="1200" dirty="0"/>
          </a:p>
        </p:txBody>
      </p:sp>
      <p:sp>
        <p:nvSpPr>
          <p:cNvPr id="20" name="Text 18"/>
          <p:cNvSpPr/>
          <p:nvPr/>
        </p:nvSpPr>
        <p:spPr>
          <a:xfrm>
            <a:off x="292608" y="3282696"/>
            <a:ext cx="2514600" cy="914400"/>
          </a:xfrm>
          <a:prstGeom prst="rect">
            <a:avLst/>
          </a:prstGeom>
          <a:noFill/>
          <a:ln/>
        </p:spPr>
        <p:txBody>
          <a:bodyPr wrap="square" lIns="0" tIns="0" rIns="0" bIns="0" rtlCol="0" anchor="ctr"/>
          <a:lstStyle/>
          <a:p>
            <a:pPr marL="0" indent="0">
              <a:buNone/>
            </a:pPr>
            <a:r>
              <a:rPr lang="en-US" sz="1100" dirty="0">
                <a:solidFill>
                  <a:srgbClr val="8898AA"/>
                </a:solidFill>
              </a:rPr>
              <a:t>Project-based learning post-lesson. ML/LLM behavioral analysis for goal-based project suggestions. Live extraction of hackathons, internships, and competitions.</a:t>
            </a:r>
            <a:endParaRPr lang="en-US" sz="1100" dirty="0"/>
          </a:p>
        </p:txBody>
      </p:sp>
      <p:sp>
        <p:nvSpPr>
          <p:cNvPr id="21" name="Shape 19"/>
          <p:cNvSpPr/>
          <p:nvPr/>
        </p:nvSpPr>
        <p:spPr>
          <a:xfrm>
            <a:off x="3154680" y="2788920"/>
            <a:ext cx="2743200" cy="1508760"/>
          </a:xfrm>
          <a:prstGeom prst="rect">
            <a:avLst/>
          </a:prstGeom>
          <a:solidFill>
            <a:srgbClr val="FFFFFF"/>
          </a:solidFill>
          <a:ln/>
          <a:effectLst>
            <a:outerShdw blurRad="101600" dist="38100" dir="8100000" algn="bl" rotWithShape="0">
              <a:srgbClr val="000000">
                <a:alpha val="18000"/>
              </a:srgbClr>
            </a:outerShdw>
          </a:effectLst>
        </p:spPr>
      </p:sp>
      <p:sp>
        <p:nvSpPr>
          <p:cNvPr id="22" name="Shape 20"/>
          <p:cNvSpPr/>
          <p:nvPr/>
        </p:nvSpPr>
        <p:spPr>
          <a:xfrm>
            <a:off x="3154680" y="2788920"/>
            <a:ext cx="2743200" cy="54864"/>
          </a:xfrm>
          <a:prstGeom prst="rect">
            <a:avLst/>
          </a:prstGeom>
          <a:solidFill>
            <a:srgbClr val="45D48A"/>
          </a:solidFill>
          <a:ln/>
        </p:spPr>
      </p:sp>
      <p:sp>
        <p:nvSpPr>
          <p:cNvPr id="23" name="Text 21"/>
          <p:cNvSpPr/>
          <p:nvPr/>
        </p:nvSpPr>
        <p:spPr>
          <a:xfrm>
            <a:off x="3264408" y="2898648"/>
            <a:ext cx="2514600" cy="384048"/>
          </a:xfrm>
          <a:prstGeom prst="rect">
            <a:avLst/>
          </a:prstGeom>
          <a:noFill/>
          <a:ln/>
        </p:spPr>
        <p:txBody>
          <a:bodyPr wrap="square" lIns="0" tIns="0" rIns="0" bIns="0" rtlCol="0" anchor="ctr"/>
          <a:lstStyle/>
          <a:p>
            <a:pPr marL="0" indent="0">
              <a:buNone/>
            </a:pPr>
            <a:r>
              <a:rPr lang="en-US" sz="1000" b="1" dirty="0">
                <a:solidFill>
                  <a:srgbClr val="0D1B2A"/>
                </a:solidFill>
              </a:rPr>
              <a:t>📊 </a:t>
            </a:r>
            <a:r>
              <a:rPr lang="en-US" sz="1200" b="1" dirty="0">
                <a:solidFill>
                  <a:srgbClr val="0D1B2A"/>
                </a:solidFill>
              </a:rPr>
              <a:t>Smart Resource Allocation</a:t>
            </a:r>
            <a:endParaRPr lang="en-US" sz="1200" dirty="0"/>
          </a:p>
        </p:txBody>
      </p:sp>
      <p:sp>
        <p:nvSpPr>
          <p:cNvPr id="24" name="Text 22"/>
          <p:cNvSpPr/>
          <p:nvPr/>
        </p:nvSpPr>
        <p:spPr>
          <a:xfrm>
            <a:off x="3264408" y="3282696"/>
            <a:ext cx="2514600" cy="914400"/>
          </a:xfrm>
          <a:prstGeom prst="rect">
            <a:avLst/>
          </a:prstGeom>
          <a:noFill/>
          <a:ln/>
        </p:spPr>
        <p:txBody>
          <a:bodyPr wrap="square" lIns="0" tIns="0" rIns="0" bIns="0" rtlCol="0" anchor="ctr"/>
          <a:lstStyle/>
          <a:p>
            <a:pPr marL="0" indent="0">
              <a:buNone/>
            </a:pPr>
            <a:r>
              <a:rPr lang="en-US" sz="1100" dirty="0">
                <a:solidFill>
                  <a:srgbClr val="8898AA"/>
                </a:solidFill>
              </a:rPr>
              <a:t>Real-time dashboard for policymakers. Predictive teacher &amp; infrastructure shortage alerts. District-level simulation before policy decisions</a:t>
            </a:r>
            <a:r>
              <a:rPr lang="en-US" sz="900" dirty="0">
                <a:solidFill>
                  <a:srgbClr val="8898AA"/>
                </a:solidFill>
              </a:rPr>
              <a:t>.</a:t>
            </a:r>
            <a:endParaRPr lang="en-US" sz="900" dirty="0"/>
          </a:p>
        </p:txBody>
      </p:sp>
      <p:sp>
        <p:nvSpPr>
          <p:cNvPr id="25" name="Shape 23"/>
          <p:cNvSpPr/>
          <p:nvPr/>
        </p:nvSpPr>
        <p:spPr>
          <a:xfrm>
            <a:off x="6126480" y="2788920"/>
            <a:ext cx="2743200" cy="15087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dirty="0"/>
          </a:p>
        </p:txBody>
      </p:sp>
      <p:sp>
        <p:nvSpPr>
          <p:cNvPr id="26" name="Shape 24"/>
          <p:cNvSpPr/>
          <p:nvPr/>
        </p:nvSpPr>
        <p:spPr>
          <a:xfrm>
            <a:off x="6126480" y="2788920"/>
            <a:ext cx="2743200" cy="54864"/>
          </a:xfrm>
          <a:prstGeom prst="rect">
            <a:avLst/>
          </a:prstGeom>
          <a:solidFill>
            <a:srgbClr val="F5A623"/>
          </a:solidFill>
          <a:ln/>
        </p:spPr>
      </p:sp>
      <p:sp>
        <p:nvSpPr>
          <p:cNvPr id="27" name="Text 25"/>
          <p:cNvSpPr/>
          <p:nvPr/>
        </p:nvSpPr>
        <p:spPr>
          <a:xfrm>
            <a:off x="6236208" y="2898648"/>
            <a:ext cx="2514600" cy="384048"/>
          </a:xfrm>
          <a:prstGeom prst="rect">
            <a:avLst/>
          </a:prstGeom>
          <a:noFill/>
          <a:ln/>
        </p:spPr>
        <p:txBody>
          <a:bodyPr wrap="square" lIns="0" tIns="0" rIns="0" bIns="0" rtlCol="0" anchor="ctr"/>
          <a:lstStyle/>
          <a:p>
            <a:pPr marL="0" indent="0">
              <a:buNone/>
            </a:pPr>
            <a:r>
              <a:rPr lang="en-US" sz="1200" b="1" dirty="0">
                <a:solidFill>
                  <a:srgbClr val="0D1B2A"/>
                </a:solidFill>
              </a:rPr>
              <a:t>💼 AI Career Readiness System</a:t>
            </a:r>
            <a:endParaRPr lang="en-US" sz="1200" dirty="0"/>
          </a:p>
        </p:txBody>
      </p:sp>
      <p:sp>
        <p:nvSpPr>
          <p:cNvPr id="28" name="Text 26"/>
          <p:cNvSpPr/>
          <p:nvPr/>
        </p:nvSpPr>
        <p:spPr>
          <a:xfrm>
            <a:off x="6236208" y="3282696"/>
            <a:ext cx="2514600" cy="914400"/>
          </a:xfrm>
          <a:prstGeom prst="rect">
            <a:avLst/>
          </a:prstGeom>
          <a:noFill/>
          <a:ln/>
        </p:spPr>
        <p:txBody>
          <a:bodyPr wrap="square" lIns="0" tIns="0" rIns="0" bIns="0" rtlCol="0" anchor="ctr"/>
          <a:lstStyle/>
          <a:p>
            <a:pPr marL="0" indent="0">
              <a:buNone/>
            </a:pPr>
            <a:r>
              <a:rPr lang="en-US" sz="1100" dirty="0">
                <a:solidFill>
                  <a:srgbClr val="8898AA"/>
                </a:solidFill>
              </a:rPr>
              <a:t>ATS-optimised resume builder with JD matching. Skill gap analysis with top 5 learning paths. AI conversational career coach. Exportable career development plan.</a:t>
            </a:r>
            <a:endParaRPr lang="en-US" sz="1100" dirty="0"/>
          </a:p>
        </p:txBody>
      </p:sp>
      <p:pic>
        <p:nvPicPr>
          <p:cNvPr id="29" name="Google Shape;238;p6" title="Witch Hunt finalized logo-modified.png">
            <a:extLst>
              <a:ext uri="{FF2B5EF4-FFF2-40B4-BE49-F238E27FC236}">
                <a16:creationId xmlns:a16="http://schemas.microsoft.com/office/drawing/2014/main" id="{98B9A662-4FEF-3B65-E1A6-2BED6E06469D}"/>
              </a:ext>
            </a:extLst>
          </p:cNvPr>
          <p:cNvPicPr preferRelativeResize="0"/>
          <p:nvPr/>
        </p:nvPicPr>
        <p:blipFill rotWithShape="1">
          <a:blip r:embed="rId3">
            <a:alphaModFix/>
          </a:blip>
          <a:srcRect/>
          <a:stretch/>
        </p:blipFill>
        <p:spPr>
          <a:xfrm>
            <a:off x="129475" y="110938"/>
            <a:ext cx="680849" cy="6808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BFBC"/>
          </a:solidFill>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600" b="1" dirty="0">
                <a:solidFill>
                  <a:srgbClr val="FFFFFF"/>
                </a:solidFill>
              </a:rPr>
              <a:t>     USE OF ARTIFICIAL INTELLIGENCE  </a:t>
            </a:r>
            <a:endParaRPr lang="en-US" sz="2600" dirty="0"/>
          </a:p>
        </p:txBody>
      </p:sp>
      <p:sp>
        <p:nvSpPr>
          <p:cNvPr id="4" name="Text 2"/>
          <p:cNvSpPr/>
          <p:nvPr/>
        </p:nvSpPr>
        <p:spPr>
          <a:xfrm>
            <a:off x="457200" y="667512"/>
            <a:ext cx="8229600" cy="320040"/>
          </a:xfrm>
          <a:prstGeom prst="rect">
            <a:avLst/>
          </a:prstGeom>
          <a:noFill/>
          <a:ln/>
        </p:spPr>
        <p:txBody>
          <a:bodyPr wrap="square" lIns="0" tIns="0" rIns="0" bIns="0" rtlCol="0" anchor="ctr"/>
          <a:lstStyle/>
          <a:p>
            <a:pPr marL="0" indent="0">
              <a:buNone/>
            </a:pPr>
            <a:r>
              <a:rPr lang="en-US" sz="1300" i="1" dirty="0">
                <a:solidFill>
                  <a:srgbClr val="0ABFBC"/>
                </a:solidFill>
              </a:rPr>
              <a:t>AI is not a feature — it is the foundation of EduAI Nexus</a:t>
            </a:r>
            <a:endParaRPr lang="en-US" sz="1300" dirty="0"/>
          </a:p>
        </p:txBody>
      </p:sp>
      <p:sp>
        <p:nvSpPr>
          <p:cNvPr id="5" name="Shape 3"/>
          <p:cNvSpPr/>
          <p:nvPr/>
        </p:nvSpPr>
        <p:spPr>
          <a:xfrm>
            <a:off x="182880" y="1143000"/>
            <a:ext cx="2743200" cy="1508760"/>
          </a:xfrm>
          <a:prstGeom prst="rect">
            <a:avLst/>
          </a:prstGeom>
          <a:solidFill>
            <a:srgbClr val="152535"/>
          </a:solidFill>
          <a:ln/>
          <a:effectLst>
            <a:outerShdw blurRad="101600" dist="38100" dir="8100000" algn="bl" rotWithShape="0">
              <a:srgbClr val="000000">
                <a:alpha val="18000"/>
              </a:srgbClr>
            </a:outerShdw>
          </a:effectLst>
        </p:spPr>
      </p:sp>
      <p:sp>
        <p:nvSpPr>
          <p:cNvPr id="6" name="Shape 4"/>
          <p:cNvSpPr/>
          <p:nvPr/>
        </p:nvSpPr>
        <p:spPr>
          <a:xfrm>
            <a:off x="182880" y="1143000"/>
            <a:ext cx="54864" cy="1508760"/>
          </a:xfrm>
          <a:prstGeom prst="rect">
            <a:avLst/>
          </a:prstGeom>
          <a:solidFill>
            <a:srgbClr val="0ABFBC"/>
          </a:solidFill>
          <a:ln/>
        </p:spPr>
      </p:sp>
      <p:sp>
        <p:nvSpPr>
          <p:cNvPr id="7" name="Text 5"/>
          <p:cNvSpPr/>
          <p:nvPr/>
        </p:nvSpPr>
        <p:spPr>
          <a:xfrm>
            <a:off x="320040" y="1252728"/>
            <a:ext cx="2514600" cy="384048"/>
          </a:xfrm>
          <a:prstGeom prst="rect">
            <a:avLst/>
          </a:prstGeom>
          <a:noFill/>
          <a:ln/>
        </p:spPr>
        <p:txBody>
          <a:bodyPr wrap="square" lIns="0" tIns="0" rIns="0" bIns="0" rtlCol="0" anchor="ctr"/>
          <a:lstStyle/>
          <a:p>
            <a:pPr marL="0" indent="0">
              <a:buNone/>
            </a:pPr>
            <a:r>
              <a:rPr lang="en-US" sz="1400" b="1" dirty="0">
                <a:solidFill>
                  <a:srgbClr val="0ABFBC"/>
                </a:solidFill>
              </a:rPr>
              <a:t>LLM Engine</a:t>
            </a:r>
            <a:endParaRPr lang="en-US" sz="1400" dirty="0"/>
          </a:p>
        </p:txBody>
      </p:sp>
      <p:sp>
        <p:nvSpPr>
          <p:cNvPr id="8" name="Text 6"/>
          <p:cNvSpPr/>
          <p:nvPr/>
        </p:nvSpPr>
        <p:spPr>
          <a:xfrm>
            <a:off x="320040" y="1600200"/>
            <a:ext cx="2514600" cy="1005840"/>
          </a:xfrm>
          <a:prstGeom prst="rect">
            <a:avLst/>
          </a:prstGeom>
          <a:noFill/>
          <a:ln/>
        </p:spPr>
        <p:txBody>
          <a:bodyPr wrap="square" lIns="0" tIns="0" rIns="0" bIns="0" rtlCol="0" anchor="ctr"/>
          <a:lstStyle/>
          <a:p>
            <a:pPr marL="0" indent="0">
              <a:buNone/>
            </a:pPr>
            <a:r>
              <a:rPr lang="en-US" sz="1200" dirty="0">
                <a:solidFill>
                  <a:srgbClr val="FFFFFF"/>
                </a:solidFill>
              </a:rPr>
              <a:t>Fine-tuned Llama/Mistral or Claude API for question generation, ATS analysis, conversational coaching, and personalised project suggestions.</a:t>
            </a:r>
            <a:endParaRPr lang="en-US" sz="1200" dirty="0"/>
          </a:p>
        </p:txBody>
      </p:sp>
      <p:sp>
        <p:nvSpPr>
          <p:cNvPr id="9" name="Shape 7"/>
          <p:cNvSpPr/>
          <p:nvPr/>
        </p:nvSpPr>
        <p:spPr>
          <a:xfrm>
            <a:off x="3154680" y="1143000"/>
            <a:ext cx="2743200" cy="1508760"/>
          </a:xfrm>
          <a:prstGeom prst="rect">
            <a:avLst/>
          </a:prstGeom>
          <a:solidFill>
            <a:srgbClr val="152535"/>
          </a:solidFill>
          <a:ln/>
          <a:effectLst>
            <a:outerShdw blurRad="101600" dist="38100" dir="8100000" algn="bl" rotWithShape="0">
              <a:srgbClr val="000000">
                <a:alpha val="18000"/>
              </a:srgbClr>
            </a:outerShdw>
          </a:effectLst>
        </p:spPr>
      </p:sp>
      <p:sp>
        <p:nvSpPr>
          <p:cNvPr id="10" name="Shape 8"/>
          <p:cNvSpPr/>
          <p:nvPr/>
        </p:nvSpPr>
        <p:spPr>
          <a:xfrm>
            <a:off x="3154680" y="1143000"/>
            <a:ext cx="54864" cy="1508760"/>
          </a:xfrm>
          <a:prstGeom prst="rect">
            <a:avLst/>
          </a:prstGeom>
          <a:solidFill>
            <a:srgbClr val="45D48A"/>
          </a:solidFill>
          <a:ln/>
        </p:spPr>
      </p:sp>
      <p:sp>
        <p:nvSpPr>
          <p:cNvPr id="11" name="Text 9"/>
          <p:cNvSpPr/>
          <p:nvPr/>
        </p:nvSpPr>
        <p:spPr>
          <a:xfrm>
            <a:off x="3291840" y="1252728"/>
            <a:ext cx="2514600" cy="384048"/>
          </a:xfrm>
          <a:prstGeom prst="rect">
            <a:avLst/>
          </a:prstGeom>
          <a:noFill/>
          <a:ln/>
        </p:spPr>
        <p:txBody>
          <a:bodyPr wrap="square" lIns="0" tIns="0" rIns="0" bIns="0" rtlCol="0" anchor="ctr"/>
          <a:lstStyle/>
          <a:p>
            <a:pPr marL="0" indent="0">
              <a:buNone/>
            </a:pPr>
            <a:r>
              <a:rPr lang="en-US" sz="1400" b="1" dirty="0">
                <a:solidFill>
                  <a:srgbClr val="45D48A"/>
                </a:solidFill>
              </a:rPr>
              <a:t>NLP Pipeline</a:t>
            </a:r>
            <a:endParaRPr lang="en-US" sz="1400" dirty="0"/>
          </a:p>
        </p:txBody>
      </p:sp>
      <p:sp>
        <p:nvSpPr>
          <p:cNvPr id="12" name="Text 10"/>
          <p:cNvSpPr/>
          <p:nvPr/>
        </p:nvSpPr>
        <p:spPr>
          <a:xfrm>
            <a:off x="3291840" y="1600200"/>
            <a:ext cx="2514600" cy="1005840"/>
          </a:xfrm>
          <a:prstGeom prst="rect">
            <a:avLst/>
          </a:prstGeom>
          <a:noFill/>
          <a:ln/>
        </p:spPr>
        <p:txBody>
          <a:bodyPr wrap="square" lIns="0" tIns="0" rIns="0" bIns="0" rtlCol="0" anchor="ctr"/>
          <a:lstStyle/>
          <a:p>
            <a:pPr marL="0" indent="0">
              <a:buNone/>
            </a:pPr>
            <a:r>
              <a:rPr lang="en-US" sz="1200" dirty="0">
                <a:solidFill>
                  <a:srgbClr val="FFFFFF"/>
                </a:solidFill>
              </a:rPr>
              <a:t>spaCy + HuggingFace Transformers for PDF extraction, board detection, difficulty classification, and flash card generation at grade-appropriate complexity.</a:t>
            </a:r>
            <a:endParaRPr lang="en-US" sz="1200" dirty="0"/>
          </a:p>
        </p:txBody>
      </p:sp>
      <p:sp>
        <p:nvSpPr>
          <p:cNvPr id="13" name="Shape 11"/>
          <p:cNvSpPr/>
          <p:nvPr/>
        </p:nvSpPr>
        <p:spPr>
          <a:xfrm>
            <a:off x="6126480" y="1143000"/>
            <a:ext cx="2743200" cy="1508760"/>
          </a:xfrm>
          <a:prstGeom prst="rect">
            <a:avLst/>
          </a:prstGeom>
          <a:solidFill>
            <a:srgbClr val="152535"/>
          </a:solidFill>
          <a:ln/>
          <a:effectLst>
            <a:outerShdw blurRad="101600" dist="38100" dir="8100000" algn="bl" rotWithShape="0">
              <a:srgbClr val="000000">
                <a:alpha val="18000"/>
              </a:srgbClr>
            </a:outerShdw>
          </a:effectLst>
        </p:spPr>
      </p:sp>
      <p:sp>
        <p:nvSpPr>
          <p:cNvPr id="14" name="Shape 12"/>
          <p:cNvSpPr/>
          <p:nvPr/>
        </p:nvSpPr>
        <p:spPr>
          <a:xfrm>
            <a:off x="6126480" y="1143000"/>
            <a:ext cx="54864" cy="1508760"/>
          </a:xfrm>
          <a:prstGeom prst="rect">
            <a:avLst/>
          </a:prstGeom>
          <a:solidFill>
            <a:srgbClr val="F5A623"/>
          </a:solidFill>
          <a:ln/>
        </p:spPr>
      </p:sp>
      <p:sp>
        <p:nvSpPr>
          <p:cNvPr id="15" name="Text 13"/>
          <p:cNvSpPr/>
          <p:nvPr/>
        </p:nvSpPr>
        <p:spPr>
          <a:xfrm>
            <a:off x="6263640" y="1252728"/>
            <a:ext cx="2514600" cy="384048"/>
          </a:xfrm>
          <a:prstGeom prst="rect">
            <a:avLst/>
          </a:prstGeom>
          <a:noFill/>
          <a:ln/>
        </p:spPr>
        <p:txBody>
          <a:bodyPr wrap="square" lIns="0" tIns="0" rIns="0" bIns="0" rtlCol="0" anchor="ctr"/>
          <a:lstStyle/>
          <a:p>
            <a:pPr marL="0" indent="0">
              <a:buNone/>
            </a:pPr>
            <a:r>
              <a:rPr lang="en-US" sz="1400" b="1" dirty="0">
                <a:solidFill>
                  <a:srgbClr val="F5A623"/>
                </a:solidFill>
              </a:rPr>
              <a:t>Recommendation Engine</a:t>
            </a:r>
            <a:endParaRPr lang="en-US" sz="1400" dirty="0"/>
          </a:p>
        </p:txBody>
      </p:sp>
      <p:sp>
        <p:nvSpPr>
          <p:cNvPr id="16" name="Text 14"/>
          <p:cNvSpPr/>
          <p:nvPr/>
        </p:nvSpPr>
        <p:spPr>
          <a:xfrm>
            <a:off x="6263640" y="1600200"/>
            <a:ext cx="2514600" cy="1005840"/>
          </a:xfrm>
          <a:prstGeom prst="rect">
            <a:avLst/>
          </a:prstGeom>
          <a:noFill/>
          <a:ln/>
        </p:spPr>
        <p:txBody>
          <a:bodyPr wrap="square" lIns="0" tIns="0" rIns="0" bIns="0" rtlCol="0" anchor="ctr"/>
          <a:lstStyle/>
          <a:p>
            <a:pPr marL="0" indent="0">
              <a:buNone/>
            </a:pPr>
            <a:r>
              <a:rPr lang="en-US" sz="1200" dirty="0">
                <a:solidFill>
                  <a:srgbClr val="FFFFFF"/>
                </a:solidFill>
              </a:rPr>
              <a:t>Collaborative filtering + vector similarity (Pinecone) for content recommendations, opportunity surfacing, and resume-JD semantic matching.</a:t>
            </a:r>
            <a:endParaRPr lang="en-US" sz="1200" dirty="0"/>
          </a:p>
        </p:txBody>
      </p:sp>
      <p:sp>
        <p:nvSpPr>
          <p:cNvPr id="17" name="Shape 15"/>
          <p:cNvSpPr/>
          <p:nvPr/>
        </p:nvSpPr>
        <p:spPr>
          <a:xfrm>
            <a:off x="182880" y="2834640"/>
            <a:ext cx="2743200" cy="1508760"/>
          </a:xfrm>
          <a:prstGeom prst="rect">
            <a:avLst/>
          </a:prstGeom>
          <a:solidFill>
            <a:srgbClr val="152535"/>
          </a:solidFill>
          <a:ln/>
          <a:effectLst>
            <a:outerShdw blurRad="101600" dist="38100" dir="8100000" algn="bl" rotWithShape="0">
              <a:srgbClr val="000000">
                <a:alpha val="18000"/>
              </a:srgbClr>
            </a:outerShdw>
          </a:effectLst>
        </p:spPr>
      </p:sp>
      <p:sp>
        <p:nvSpPr>
          <p:cNvPr id="18" name="Shape 16"/>
          <p:cNvSpPr/>
          <p:nvPr/>
        </p:nvSpPr>
        <p:spPr>
          <a:xfrm>
            <a:off x="182880" y="2834640"/>
            <a:ext cx="54864" cy="1508760"/>
          </a:xfrm>
          <a:prstGeom prst="rect">
            <a:avLst/>
          </a:prstGeom>
          <a:solidFill>
            <a:srgbClr val="0ABFBC"/>
          </a:solidFill>
          <a:ln/>
        </p:spPr>
      </p:sp>
      <p:sp>
        <p:nvSpPr>
          <p:cNvPr id="19" name="Text 17"/>
          <p:cNvSpPr/>
          <p:nvPr/>
        </p:nvSpPr>
        <p:spPr>
          <a:xfrm>
            <a:off x="320040" y="2944368"/>
            <a:ext cx="2514600" cy="384048"/>
          </a:xfrm>
          <a:prstGeom prst="rect">
            <a:avLst/>
          </a:prstGeom>
          <a:noFill/>
          <a:ln/>
        </p:spPr>
        <p:txBody>
          <a:bodyPr wrap="square" lIns="0" tIns="0" rIns="0" bIns="0" rtlCol="0" anchor="ctr"/>
          <a:lstStyle/>
          <a:p>
            <a:pPr marL="0" indent="0">
              <a:buNone/>
            </a:pPr>
            <a:r>
              <a:rPr lang="en-US" sz="1400" b="1" dirty="0">
                <a:solidFill>
                  <a:srgbClr val="0ABFBC"/>
                </a:solidFill>
              </a:rPr>
              <a:t>Speech AI</a:t>
            </a:r>
            <a:endParaRPr lang="en-US" sz="1400" dirty="0"/>
          </a:p>
        </p:txBody>
      </p:sp>
      <p:sp>
        <p:nvSpPr>
          <p:cNvPr id="20" name="Text 18"/>
          <p:cNvSpPr/>
          <p:nvPr/>
        </p:nvSpPr>
        <p:spPr>
          <a:xfrm>
            <a:off x="320040" y="3291840"/>
            <a:ext cx="2514600" cy="1005840"/>
          </a:xfrm>
          <a:prstGeom prst="rect">
            <a:avLst/>
          </a:prstGeom>
          <a:noFill/>
          <a:ln/>
        </p:spPr>
        <p:txBody>
          <a:bodyPr wrap="square" lIns="0" tIns="0" rIns="0" bIns="0" rtlCol="0" anchor="ctr"/>
          <a:lstStyle/>
          <a:p>
            <a:pPr marL="0" indent="0">
              <a:buNone/>
            </a:pPr>
            <a:r>
              <a:rPr lang="en-US" sz="1200" dirty="0">
                <a:solidFill>
                  <a:srgbClr val="FFFFFF"/>
                </a:solidFill>
              </a:rPr>
              <a:t>OpenAI Whisper for STT, custom phoneme comparison model for TED Talk pronunciation scoring and fluency tracking with real-time feedback.</a:t>
            </a:r>
            <a:endParaRPr lang="en-US" sz="1200" dirty="0"/>
          </a:p>
        </p:txBody>
      </p:sp>
      <p:sp>
        <p:nvSpPr>
          <p:cNvPr id="21" name="Shape 19"/>
          <p:cNvSpPr/>
          <p:nvPr/>
        </p:nvSpPr>
        <p:spPr>
          <a:xfrm>
            <a:off x="3154680" y="2834640"/>
            <a:ext cx="2743200" cy="1508760"/>
          </a:xfrm>
          <a:prstGeom prst="rect">
            <a:avLst/>
          </a:prstGeom>
          <a:solidFill>
            <a:srgbClr val="152535"/>
          </a:solidFill>
          <a:ln/>
          <a:effectLst>
            <a:outerShdw blurRad="101600" dist="38100" dir="8100000" algn="bl" rotWithShape="0">
              <a:srgbClr val="000000">
                <a:alpha val="18000"/>
              </a:srgbClr>
            </a:outerShdw>
          </a:effectLst>
        </p:spPr>
      </p:sp>
      <p:sp>
        <p:nvSpPr>
          <p:cNvPr id="22" name="Shape 20"/>
          <p:cNvSpPr/>
          <p:nvPr/>
        </p:nvSpPr>
        <p:spPr>
          <a:xfrm>
            <a:off x="3154680" y="2834640"/>
            <a:ext cx="54864" cy="1508760"/>
          </a:xfrm>
          <a:prstGeom prst="rect">
            <a:avLst/>
          </a:prstGeom>
          <a:solidFill>
            <a:srgbClr val="45D48A"/>
          </a:solidFill>
          <a:ln/>
        </p:spPr>
      </p:sp>
      <p:sp>
        <p:nvSpPr>
          <p:cNvPr id="23" name="Text 21"/>
          <p:cNvSpPr/>
          <p:nvPr/>
        </p:nvSpPr>
        <p:spPr>
          <a:xfrm>
            <a:off x="3291840" y="2944368"/>
            <a:ext cx="2514600" cy="384048"/>
          </a:xfrm>
          <a:prstGeom prst="rect">
            <a:avLst/>
          </a:prstGeom>
          <a:noFill/>
          <a:ln/>
        </p:spPr>
        <p:txBody>
          <a:bodyPr wrap="square" lIns="0" tIns="0" rIns="0" bIns="0" rtlCol="0" anchor="ctr"/>
          <a:lstStyle/>
          <a:p>
            <a:pPr marL="0" indent="0">
              <a:buNone/>
            </a:pPr>
            <a:r>
              <a:rPr lang="en-US" sz="1400" b="1" dirty="0">
                <a:solidFill>
                  <a:srgbClr val="45D48A"/>
                </a:solidFill>
              </a:rPr>
              <a:t>Adaptive Learning Model</a:t>
            </a:r>
            <a:endParaRPr lang="en-US" sz="1400" dirty="0"/>
          </a:p>
        </p:txBody>
      </p:sp>
      <p:sp>
        <p:nvSpPr>
          <p:cNvPr id="24" name="Text 22"/>
          <p:cNvSpPr/>
          <p:nvPr/>
        </p:nvSpPr>
        <p:spPr>
          <a:xfrm>
            <a:off x="3291840" y="3291840"/>
            <a:ext cx="2514600" cy="1005840"/>
          </a:xfrm>
          <a:prstGeom prst="rect">
            <a:avLst/>
          </a:prstGeom>
          <a:noFill/>
          <a:ln/>
        </p:spPr>
        <p:txBody>
          <a:bodyPr wrap="square" lIns="0" tIns="0" rIns="0" bIns="0" rtlCol="0" anchor="ctr"/>
          <a:lstStyle/>
          <a:p>
            <a:pPr marL="0" indent="0">
              <a:buNone/>
            </a:pPr>
            <a:r>
              <a:rPr lang="en-US" sz="1400" dirty="0">
                <a:solidFill>
                  <a:srgbClr val="FFFFFF"/>
                </a:solidFill>
              </a:rPr>
              <a:t>Reinforcement learning model that personalises content format per student profile, updated in real time every session.</a:t>
            </a:r>
            <a:endParaRPr lang="en-US" sz="1400" dirty="0"/>
          </a:p>
        </p:txBody>
      </p:sp>
      <p:sp>
        <p:nvSpPr>
          <p:cNvPr id="25" name="Shape 23"/>
          <p:cNvSpPr/>
          <p:nvPr/>
        </p:nvSpPr>
        <p:spPr>
          <a:xfrm>
            <a:off x="6126480" y="2834640"/>
            <a:ext cx="2743200" cy="1508760"/>
          </a:xfrm>
          <a:prstGeom prst="rect">
            <a:avLst/>
          </a:prstGeom>
          <a:solidFill>
            <a:srgbClr val="152535"/>
          </a:solidFill>
          <a:ln/>
          <a:effectLst>
            <a:outerShdw blurRad="101600" dist="38100" dir="8100000" algn="bl" rotWithShape="0">
              <a:srgbClr val="000000">
                <a:alpha val="18000"/>
              </a:srgbClr>
            </a:outerShdw>
          </a:effectLst>
        </p:spPr>
      </p:sp>
      <p:sp>
        <p:nvSpPr>
          <p:cNvPr id="26" name="Shape 24"/>
          <p:cNvSpPr/>
          <p:nvPr/>
        </p:nvSpPr>
        <p:spPr>
          <a:xfrm>
            <a:off x="6126480" y="2834640"/>
            <a:ext cx="54864" cy="1508760"/>
          </a:xfrm>
          <a:prstGeom prst="rect">
            <a:avLst/>
          </a:prstGeom>
          <a:solidFill>
            <a:srgbClr val="F5A623"/>
          </a:solidFill>
          <a:ln/>
        </p:spPr>
      </p:sp>
      <p:sp>
        <p:nvSpPr>
          <p:cNvPr id="27" name="Text 25"/>
          <p:cNvSpPr/>
          <p:nvPr/>
        </p:nvSpPr>
        <p:spPr>
          <a:xfrm>
            <a:off x="6263640" y="2944368"/>
            <a:ext cx="2514600" cy="384048"/>
          </a:xfrm>
          <a:prstGeom prst="rect">
            <a:avLst/>
          </a:prstGeom>
          <a:noFill/>
          <a:ln/>
        </p:spPr>
        <p:txBody>
          <a:bodyPr wrap="square" lIns="0" tIns="0" rIns="0" bIns="0" rtlCol="0" anchor="ctr"/>
          <a:lstStyle/>
          <a:p>
            <a:pPr marL="0" indent="0">
              <a:buNone/>
            </a:pPr>
            <a:r>
              <a:rPr lang="en-US" sz="1400" b="1" dirty="0">
                <a:solidFill>
                  <a:srgbClr val="F5A623"/>
                </a:solidFill>
              </a:rPr>
              <a:t>Predictive Resource Model</a:t>
            </a:r>
            <a:endParaRPr lang="en-US" sz="1400" dirty="0"/>
          </a:p>
        </p:txBody>
      </p:sp>
      <p:sp>
        <p:nvSpPr>
          <p:cNvPr id="28" name="Text 26"/>
          <p:cNvSpPr/>
          <p:nvPr/>
        </p:nvSpPr>
        <p:spPr>
          <a:xfrm>
            <a:off x="6263640" y="3291840"/>
            <a:ext cx="2514600" cy="1005840"/>
          </a:xfrm>
          <a:prstGeom prst="rect">
            <a:avLst/>
          </a:prstGeom>
          <a:noFill/>
          <a:ln/>
        </p:spPr>
        <p:txBody>
          <a:bodyPr wrap="square" lIns="0" tIns="0" rIns="0" bIns="0" rtlCol="0" anchor="ctr"/>
          <a:lstStyle/>
          <a:p>
            <a:pPr marL="0" indent="0">
              <a:buNone/>
            </a:pPr>
            <a:r>
              <a:rPr lang="en-US" sz="1200" dirty="0">
                <a:solidFill>
                  <a:srgbClr val="FFFFFF"/>
                </a:solidFill>
              </a:rPr>
              <a:t>Time-series forecasting for teacher and infrastructure shortage prediction at district level; simulation dashboard for policy impact evaluation.</a:t>
            </a:r>
            <a:endParaRPr lang="en-US" sz="1200" dirty="0"/>
          </a:p>
        </p:txBody>
      </p:sp>
      <p:pic>
        <p:nvPicPr>
          <p:cNvPr id="29" name="Google Shape;238;p6" title="Witch Hunt finalized logo-modified.png">
            <a:extLst>
              <a:ext uri="{FF2B5EF4-FFF2-40B4-BE49-F238E27FC236}">
                <a16:creationId xmlns:a16="http://schemas.microsoft.com/office/drawing/2014/main" id="{B2134CD0-81ED-1377-F5C6-8DBCC8E044F7}"/>
              </a:ext>
            </a:extLst>
          </p:cNvPr>
          <p:cNvPicPr preferRelativeResize="0"/>
          <p:nvPr/>
        </p:nvPicPr>
        <p:blipFill rotWithShape="1">
          <a:blip r:embed="rId3">
            <a:alphaModFix/>
          </a:blip>
          <a:srcRect/>
          <a:stretch/>
        </p:blipFill>
        <p:spPr>
          <a:xfrm>
            <a:off x="60504" y="82999"/>
            <a:ext cx="680849" cy="6808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D6319962-97E5-1A11-A454-BA0CCBD92EDC}"/>
              </a:ext>
            </a:extLst>
          </p:cNvPr>
          <p:cNvPicPr>
            <a:picLocks noChangeAspect="1"/>
          </p:cNvPicPr>
          <p:nvPr/>
        </p:nvPicPr>
        <p:blipFill>
          <a:blip r:embed="rId3"/>
          <a:stretch>
            <a:fillRect/>
          </a:stretch>
        </p:blipFill>
        <p:spPr>
          <a:xfrm>
            <a:off x="1540412" y="0"/>
            <a:ext cx="7491045" cy="5143500"/>
          </a:xfrm>
          <a:prstGeom prst="rect">
            <a:avLst/>
          </a:prstGeom>
        </p:spPr>
      </p:pic>
      <p:pic>
        <p:nvPicPr>
          <p:cNvPr id="37" name="Google Shape;238;p6" title="Witch Hunt finalized logo-modified.png">
            <a:extLst>
              <a:ext uri="{FF2B5EF4-FFF2-40B4-BE49-F238E27FC236}">
                <a16:creationId xmlns:a16="http://schemas.microsoft.com/office/drawing/2014/main" id="{436AC0A3-DF0F-4C3E-E303-868381F103C6}"/>
              </a:ext>
            </a:extLst>
          </p:cNvPr>
          <p:cNvPicPr preferRelativeResize="0"/>
          <p:nvPr/>
        </p:nvPicPr>
        <p:blipFill rotWithShape="1">
          <a:blip r:embed="rId4">
            <a:alphaModFix/>
          </a:blip>
          <a:srcRect/>
          <a:stretch/>
        </p:blipFill>
        <p:spPr>
          <a:xfrm>
            <a:off x="129475" y="110938"/>
            <a:ext cx="680849" cy="6808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A623"/>
          </a:solidFill>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600" b="1" dirty="0">
                <a:solidFill>
                  <a:srgbClr val="FFFFFF"/>
                </a:solidFill>
              </a:rPr>
              <a:t>        CHALLENGES &amp; RISKS</a:t>
            </a:r>
            <a:endParaRPr lang="en-US" sz="2600" dirty="0"/>
          </a:p>
        </p:txBody>
      </p:sp>
      <p:sp>
        <p:nvSpPr>
          <p:cNvPr id="4" name="Shape 2"/>
          <p:cNvSpPr/>
          <p:nvPr/>
        </p:nvSpPr>
        <p:spPr>
          <a:xfrm>
            <a:off x="274320" y="1005840"/>
            <a:ext cx="4114800" cy="1828800"/>
          </a:xfrm>
          <a:prstGeom prst="rect">
            <a:avLst/>
          </a:prstGeom>
          <a:solidFill>
            <a:srgbClr val="152535"/>
          </a:solidFill>
          <a:ln/>
          <a:effectLst>
            <a:outerShdw blurRad="101600" dist="38100" dir="8100000" algn="bl" rotWithShape="0">
              <a:srgbClr val="000000">
                <a:alpha val="18000"/>
              </a:srgbClr>
            </a:outerShdw>
          </a:effectLst>
        </p:spPr>
      </p:sp>
      <p:sp>
        <p:nvSpPr>
          <p:cNvPr id="5" name="Shape 3"/>
          <p:cNvSpPr/>
          <p:nvPr/>
        </p:nvSpPr>
        <p:spPr>
          <a:xfrm>
            <a:off x="274320" y="1005840"/>
            <a:ext cx="4114800" cy="64008"/>
          </a:xfrm>
          <a:prstGeom prst="rect">
            <a:avLst/>
          </a:prstGeom>
          <a:solidFill>
            <a:srgbClr val="E74C3C"/>
          </a:solidFill>
          <a:ln/>
        </p:spPr>
      </p:sp>
      <p:sp>
        <p:nvSpPr>
          <p:cNvPr id="6" name="Shape 4"/>
          <p:cNvSpPr/>
          <p:nvPr/>
        </p:nvSpPr>
        <p:spPr>
          <a:xfrm>
            <a:off x="411480" y="1143000"/>
            <a:ext cx="411480" cy="411480"/>
          </a:xfrm>
          <a:prstGeom prst="ellipse">
            <a:avLst/>
          </a:prstGeom>
          <a:solidFill>
            <a:srgbClr val="E74C3C"/>
          </a:solidFill>
          <a:ln/>
        </p:spPr>
      </p:sp>
      <p:sp>
        <p:nvSpPr>
          <p:cNvPr id="7" name="Text 5"/>
          <p:cNvSpPr/>
          <p:nvPr/>
        </p:nvSpPr>
        <p:spPr>
          <a:xfrm>
            <a:off x="411480" y="1143000"/>
            <a:ext cx="411480" cy="411480"/>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8" name="Text 6"/>
          <p:cNvSpPr/>
          <p:nvPr/>
        </p:nvSpPr>
        <p:spPr>
          <a:xfrm>
            <a:off x="914400" y="1143000"/>
            <a:ext cx="3337560" cy="384048"/>
          </a:xfrm>
          <a:prstGeom prst="rect">
            <a:avLst/>
          </a:prstGeom>
          <a:noFill/>
          <a:ln/>
        </p:spPr>
        <p:txBody>
          <a:bodyPr wrap="square" lIns="0" tIns="0" rIns="0" bIns="0" rtlCol="0" anchor="ctr"/>
          <a:lstStyle/>
          <a:p>
            <a:pPr marL="0" indent="0">
              <a:buNone/>
            </a:pPr>
            <a:r>
              <a:rPr lang="en-US" sz="1400" b="1" dirty="0">
                <a:solidFill>
                  <a:srgbClr val="FFFFFF"/>
                </a:solidFill>
              </a:rPr>
              <a:t>Data Privacy &amp; DPDP Compliance</a:t>
            </a:r>
            <a:endParaRPr lang="en-US" sz="1400" dirty="0"/>
          </a:p>
        </p:txBody>
      </p:sp>
      <p:sp>
        <p:nvSpPr>
          <p:cNvPr id="9" name="Text 7"/>
          <p:cNvSpPr/>
          <p:nvPr/>
        </p:nvSpPr>
        <p:spPr>
          <a:xfrm>
            <a:off x="411480" y="1609344"/>
            <a:ext cx="3840480" cy="621792"/>
          </a:xfrm>
          <a:prstGeom prst="rect">
            <a:avLst/>
          </a:prstGeom>
          <a:noFill/>
          <a:ln/>
        </p:spPr>
        <p:txBody>
          <a:bodyPr wrap="square" lIns="0" tIns="0" rIns="0" bIns="0" rtlCol="0" anchor="ctr"/>
          <a:lstStyle/>
          <a:p>
            <a:pPr marL="0" indent="0">
              <a:buNone/>
            </a:pPr>
            <a:r>
              <a:rPr lang="en-US" sz="1200" dirty="0">
                <a:solidFill>
                  <a:srgbClr val="8898AA"/>
                </a:solidFill>
              </a:rPr>
              <a:t>Student learning data and resumes are sensitive. Ensuring DPDP-compliant anonymisation, consent management, and zero third-party data sharing is critical and adds complexity.</a:t>
            </a:r>
            <a:endParaRPr lang="en-US" sz="1200" dirty="0"/>
          </a:p>
        </p:txBody>
      </p:sp>
      <p:sp>
        <p:nvSpPr>
          <p:cNvPr id="10" name="Shape 8"/>
          <p:cNvSpPr/>
          <p:nvPr/>
        </p:nvSpPr>
        <p:spPr>
          <a:xfrm>
            <a:off x="411480" y="2267712"/>
            <a:ext cx="457200" cy="201168"/>
          </a:xfrm>
          <a:prstGeom prst="rect">
            <a:avLst/>
          </a:prstGeom>
          <a:solidFill>
            <a:srgbClr val="E74C3C"/>
          </a:solidFill>
          <a:ln/>
        </p:spPr>
        <p:txBody>
          <a:bodyPr/>
          <a:lstStyle/>
          <a:p>
            <a:endParaRPr lang="en-IN" dirty="0"/>
          </a:p>
        </p:txBody>
      </p:sp>
      <p:sp>
        <p:nvSpPr>
          <p:cNvPr id="11" name="Text 9"/>
          <p:cNvSpPr/>
          <p:nvPr/>
        </p:nvSpPr>
        <p:spPr>
          <a:xfrm>
            <a:off x="330591" y="2267712"/>
            <a:ext cx="538089" cy="146304"/>
          </a:xfrm>
          <a:prstGeom prst="rect">
            <a:avLst/>
          </a:prstGeom>
          <a:noFill/>
          <a:ln/>
        </p:spPr>
        <p:txBody>
          <a:bodyPr wrap="square" lIns="0" tIns="0" rIns="0" bIns="0" rtlCol="0" anchor="ctr"/>
          <a:lstStyle/>
          <a:p>
            <a:pPr marL="0" indent="0" algn="ctr">
              <a:buNone/>
            </a:pPr>
            <a:r>
              <a:rPr lang="en-US" sz="700" b="1" dirty="0">
                <a:solidFill>
                  <a:srgbClr val="FFFFFF"/>
                </a:solidFill>
              </a:rPr>
              <a:t>MITIGATION</a:t>
            </a:r>
            <a:endParaRPr lang="en-US" sz="700" dirty="0"/>
          </a:p>
        </p:txBody>
      </p:sp>
      <p:sp>
        <p:nvSpPr>
          <p:cNvPr id="12" name="Text 10"/>
          <p:cNvSpPr/>
          <p:nvPr/>
        </p:nvSpPr>
        <p:spPr>
          <a:xfrm>
            <a:off x="932688" y="2249424"/>
            <a:ext cx="3291840" cy="457200"/>
          </a:xfrm>
          <a:prstGeom prst="rect">
            <a:avLst/>
          </a:prstGeom>
          <a:noFill/>
          <a:ln/>
        </p:spPr>
        <p:txBody>
          <a:bodyPr wrap="square" lIns="0" tIns="0" rIns="0" bIns="0" rtlCol="0" anchor="ctr"/>
          <a:lstStyle/>
          <a:p>
            <a:pPr marL="0" indent="0">
              <a:buNone/>
            </a:pPr>
            <a:r>
              <a:rPr lang="en-US" sz="1100" dirty="0">
                <a:solidFill>
                  <a:srgbClr val="45D48A"/>
                </a:solidFill>
              </a:rPr>
              <a:t>End-to-end encryption, anonymised data pipelines, and consent UI built into onboarding.</a:t>
            </a:r>
            <a:endParaRPr lang="en-US" sz="1100" dirty="0"/>
          </a:p>
        </p:txBody>
      </p:sp>
      <p:sp>
        <p:nvSpPr>
          <p:cNvPr id="13" name="Shape 11"/>
          <p:cNvSpPr/>
          <p:nvPr/>
        </p:nvSpPr>
        <p:spPr>
          <a:xfrm>
            <a:off x="4754880" y="1005840"/>
            <a:ext cx="4114800" cy="1828800"/>
          </a:xfrm>
          <a:prstGeom prst="rect">
            <a:avLst/>
          </a:prstGeom>
          <a:solidFill>
            <a:srgbClr val="152535"/>
          </a:solidFill>
          <a:ln/>
          <a:effectLst>
            <a:outerShdw blurRad="101600" dist="38100" dir="8100000" algn="bl" rotWithShape="0">
              <a:srgbClr val="000000">
                <a:alpha val="18000"/>
              </a:srgbClr>
            </a:outerShdw>
          </a:effectLst>
        </p:spPr>
      </p:sp>
      <p:sp>
        <p:nvSpPr>
          <p:cNvPr id="14" name="Shape 12"/>
          <p:cNvSpPr/>
          <p:nvPr/>
        </p:nvSpPr>
        <p:spPr>
          <a:xfrm>
            <a:off x="4754880" y="1005840"/>
            <a:ext cx="4114800" cy="64008"/>
          </a:xfrm>
          <a:prstGeom prst="rect">
            <a:avLst/>
          </a:prstGeom>
          <a:solidFill>
            <a:srgbClr val="F5A623"/>
          </a:solidFill>
          <a:ln/>
        </p:spPr>
      </p:sp>
      <p:sp>
        <p:nvSpPr>
          <p:cNvPr id="15" name="Shape 13"/>
          <p:cNvSpPr/>
          <p:nvPr/>
        </p:nvSpPr>
        <p:spPr>
          <a:xfrm>
            <a:off x="4892040" y="1143000"/>
            <a:ext cx="411480" cy="411480"/>
          </a:xfrm>
          <a:prstGeom prst="ellipse">
            <a:avLst/>
          </a:prstGeom>
          <a:solidFill>
            <a:srgbClr val="F5A623"/>
          </a:solidFill>
          <a:ln/>
        </p:spPr>
      </p:sp>
      <p:sp>
        <p:nvSpPr>
          <p:cNvPr id="16" name="Text 14"/>
          <p:cNvSpPr/>
          <p:nvPr/>
        </p:nvSpPr>
        <p:spPr>
          <a:xfrm>
            <a:off x="4892040" y="1143000"/>
            <a:ext cx="411480" cy="411480"/>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17" name="Text 15"/>
          <p:cNvSpPr/>
          <p:nvPr/>
        </p:nvSpPr>
        <p:spPr>
          <a:xfrm>
            <a:off x="5394960" y="1143000"/>
            <a:ext cx="3337560" cy="384048"/>
          </a:xfrm>
          <a:prstGeom prst="rect">
            <a:avLst/>
          </a:prstGeom>
          <a:noFill/>
          <a:ln/>
        </p:spPr>
        <p:txBody>
          <a:bodyPr wrap="square" lIns="0" tIns="0" rIns="0" bIns="0" rtlCol="0" anchor="ctr"/>
          <a:lstStyle/>
          <a:p>
            <a:pPr marL="0" indent="0">
              <a:buNone/>
            </a:pPr>
            <a:r>
              <a:rPr lang="en-US" sz="1400" b="1" dirty="0">
                <a:solidFill>
                  <a:srgbClr val="FFFFFF"/>
                </a:solidFill>
              </a:rPr>
              <a:t>Low Connectivity in Rural Areas</a:t>
            </a:r>
            <a:endParaRPr lang="en-US" sz="1400" dirty="0"/>
          </a:p>
        </p:txBody>
      </p:sp>
      <p:sp>
        <p:nvSpPr>
          <p:cNvPr id="18" name="Text 16"/>
          <p:cNvSpPr/>
          <p:nvPr/>
        </p:nvSpPr>
        <p:spPr>
          <a:xfrm>
            <a:off x="4892040" y="1609344"/>
            <a:ext cx="3840480" cy="621792"/>
          </a:xfrm>
          <a:prstGeom prst="rect">
            <a:avLst/>
          </a:prstGeom>
          <a:noFill/>
          <a:ln/>
        </p:spPr>
        <p:txBody>
          <a:bodyPr wrap="square" lIns="0" tIns="0" rIns="0" bIns="0" rtlCol="0" anchor="ctr"/>
          <a:lstStyle/>
          <a:p>
            <a:pPr marL="0" indent="0">
              <a:buNone/>
            </a:pPr>
            <a:r>
              <a:rPr lang="en-US" sz="1200" dirty="0">
                <a:solidFill>
                  <a:srgbClr val="8898AA"/>
                </a:solidFill>
              </a:rPr>
              <a:t>Virtual labs and AI features require bandwidth, yet rural schools often have poor or no internet connectivity.</a:t>
            </a:r>
            <a:endParaRPr lang="en-US" sz="1200" dirty="0"/>
          </a:p>
        </p:txBody>
      </p:sp>
      <p:sp>
        <p:nvSpPr>
          <p:cNvPr id="19" name="Shape 17"/>
          <p:cNvSpPr/>
          <p:nvPr/>
        </p:nvSpPr>
        <p:spPr>
          <a:xfrm>
            <a:off x="4892040" y="2267712"/>
            <a:ext cx="457200" cy="201168"/>
          </a:xfrm>
          <a:prstGeom prst="rect">
            <a:avLst/>
          </a:prstGeom>
          <a:solidFill>
            <a:srgbClr val="F5A623"/>
          </a:solidFill>
          <a:ln/>
        </p:spPr>
      </p:sp>
      <p:sp>
        <p:nvSpPr>
          <p:cNvPr id="20" name="Text 18"/>
          <p:cNvSpPr/>
          <p:nvPr/>
        </p:nvSpPr>
        <p:spPr>
          <a:xfrm>
            <a:off x="4892040" y="2267712"/>
            <a:ext cx="457200" cy="201168"/>
          </a:xfrm>
          <a:prstGeom prst="rect">
            <a:avLst/>
          </a:prstGeom>
          <a:noFill/>
          <a:ln/>
        </p:spPr>
        <p:txBody>
          <a:bodyPr wrap="square" lIns="0" tIns="0" rIns="0" bIns="0" rtlCol="0" anchor="ctr"/>
          <a:lstStyle/>
          <a:p>
            <a:pPr marL="0" indent="0" algn="ctr">
              <a:buNone/>
            </a:pPr>
            <a:r>
              <a:rPr lang="en-US" sz="600" b="1" dirty="0">
                <a:solidFill>
                  <a:srgbClr val="FFFFFF"/>
                </a:solidFill>
              </a:rPr>
              <a:t>MITIGATION</a:t>
            </a:r>
            <a:endParaRPr lang="en-US" sz="600" dirty="0"/>
          </a:p>
        </p:txBody>
      </p:sp>
      <p:sp>
        <p:nvSpPr>
          <p:cNvPr id="21" name="Text 19"/>
          <p:cNvSpPr/>
          <p:nvPr/>
        </p:nvSpPr>
        <p:spPr>
          <a:xfrm>
            <a:off x="5413248" y="2249424"/>
            <a:ext cx="3291840" cy="457200"/>
          </a:xfrm>
          <a:prstGeom prst="rect">
            <a:avLst/>
          </a:prstGeom>
          <a:noFill/>
          <a:ln/>
        </p:spPr>
        <p:txBody>
          <a:bodyPr wrap="square" lIns="0" tIns="0" rIns="0" bIns="0" rtlCol="0" anchor="ctr"/>
          <a:lstStyle/>
          <a:p>
            <a:pPr marL="0" indent="0">
              <a:buNone/>
            </a:pPr>
            <a:r>
              <a:rPr lang="en-US" sz="1100" dirty="0">
                <a:solidFill>
                  <a:srgbClr val="45D48A"/>
                </a:solidFill>
              </a:rPr>
              <a:t>Offline-first caching of core content, compressed model inference, and progressive loading strategy.</a:t>
            </a:r>
            <a:endParaRPr lang="en-US" sz="1100" dirty="0"/>
          </a:p>
        </p:txBody>
      </p:sp>
      <p:sp>
        <p:nvSpPr>
          <p:cNvPr id="22" name="Shape 20"/>
          <p:cNvSpPr/>
          <p:nvPr/>
        </p:nvSpPr>
        <p:spPr>
          <a:xfrm>
            <a:off x="274320" y="3017520"/>
            <a:ext cx="4114800" cy="1828800"/>
          </a:xfrm>
          <a:prstGeom prst="rect">
            <a:avLst/>
          </a:prstGeom>
          <a:solidFill>
            <a:srgbClr val="152535"/>
          </a:solidFill>
          <a:ln/>
          <a:effectLst>
            <a:outerShdw blurRad="101600" dist="38100" dir="8100000" algn="bl" rotWithShape="0">
              <a:srgbClr val="000000">
                <a:alpha val="18000"/>
              </a:srgbClr>
            </a:outerShdw>
          </a:effectLst>
        </p:spPr>
      </p:sp>
      <p:sp>
        <p:nvSpPr>
          <p:cNvPr id="23" name="Shape 21"/>
          <p:cNvSpPr/>
          <p:nvPr/>
        </p:nvSpPr>
        <p:spPr>
          <a:xfrm>
            <a:off x="274320" y="3017520"/>
            <a:ext cx="4114800" cy="64008"/>
          </a:xfrm>
          <a:prstGeom prst="rect">
            <a:avLst/>
          </a:prstGeom>
          <a:solidFill>
            <a:srgbClr val="45D48A"/>
          </a:solidFill>
          <a:ln/>
        </p:spPr>
      </p:sp>
      <p:sp>
        <p:nvSpPr>
          <p:cNvPr id="24" name="Shape 22"/>
          <p:cNvSpPr/>
          <p:nvPr/>
        </p:nvSpPr>
        <p:spPr>
          <a:xfrm>
            <a:off x="411480" y="3154680"/>
            <a:ext cx="411480" cy="411480"/>
          </a:xfrm>
          <a:prstGeom prst="ellipse">
            <a:avLst/>
          </a:prstGeom>
          <a:solidFill>
            <a:srgbClr val="45D48A"/>
          </a:solidFill>
          <a:ln/>
        </p:spPr>
      </p:sp>
      <p:sp>
        <p:nvSpPr>
          <p:cNvPr id="25" name="Text 23"/>
          <p:cNvSpPr/>
          <p:nvPr/>
        </p:nvSpPr>
        <p:spPr>
          <a:xfrm>
            <a:off x="411480" y="3154680"/>
            <a:ext cx="411480" cy="411480"/>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26" name="Text 24"/>
          <p:cNvSpPr/>
          <p:nvPr/>
        </p:nvSpPr>
        <p:spPr>
          <a:xfrm>
            <a:off x="914400" y="3154680"/>
            <a:ext cx="3337560" cy="384048"/>
          </a:xfrm>
          <a:prstGeom prst="rect">
            <a:avLst/>
          </a:prstGeom>
          <a:noFill/>
          <a:ln/>
        </p:spPr>
        <p:txBody>
          <a:bodyPr wrap="square" lIns="0" tIns="0" rIns="0" bIns="0" rtlCol="0" anchor="ctr"/>
          <a:lstStyle/>
          <a:p>
            <a:pPr marL="0" indent="0">
              <a:buNone/>
            </a:pPr>
            <a:r>
              <a:rPr lang="en-US" sz="1400" b="1" dirty="0">
                <a:solidFill>
                  <a:srgbClr val="FFFFFF"/>
                </a:solidFill>
              </a:rPr>
              <a:t>AI Model Bias &amp; Fairness</a:t>
            </a:r>
            <a:endParaRPr lang="en-US" sz="1400" dirty="0"/>
          </a:p>
        </p:txBody>
      </p:sp>
      <p:sp>
        <p:nvSpPr>
          <p:cNvPr id="27" name="Text 25"/>
          <p:cNvSpPr/>
          <p:nvPr/>
        </p:nvSpPr>
        <p:spPr>
          <a:xfrm>
            <a:off x="411480" y="3621024"/>
            <a:ext cx="3840480" cy="621792"/>
          </a:xfrm>
          <a:prstGeom prst="rect">
            <a:avLst/>
          </a:prstGeom>
          <a:noFill/>
          <a:ln/>
        </p:spPr>
        <p:txBody>
          <a:bodyPr wrap="square" lIns="0" tIns="0" rIns="0" bIns="0" rtlCol="0" anchor="ctr"/>
          <a:lstStyle/>
          <a:p>
            <a:pPr marL="0" indent="0">
              <a:buNone/>
            </a:pPr>
            <a:r>
              <a:rPr lang="en-US" sz="1200" dirty="0">
                <a:solidFill>
                  <a:srgbClr val="8898AA"/>
                </a:solidFill>
              </a:rPr>
              <a:t>Recommendation and adaptive learning models may inadvertently favour certain demographics, learning styles, or languages.</a:t>
            </a:r>
            <a:endParaRPr lang="en-US" sz="1200" dirty="0"/>
          </a:p>
        </p:txBody>
      </p:sp>
      <p:sp>
        <p:nvSpPr>
          <p:cNvPr id="28" name="Shape 26"/>
          <p:cNvSpPr/>
          <p:nvPr/>
        </p:nvSpPr>
        <p:spPr>
          <a:xfrm>
            <a:off x="411480" y="4279392"/>
            <a:ext cx="457200" cy="201168"/>
          </a:xfrm>
          <a:prstGeom prst="rect">
            <a:avLst/>
          </a:prstGeom>
          <a:solidFill>
            <a:srgbClr val="45D48A"/>
          </a:solidFill>
          <a:ln/>
        </p:spPr>
      </p:sp>
      <p:sp>
        <p:nvSpPr>
          <p:cNvPr id="29" name="Text 27"/>
          <p:cNvSpPr/>
          <p:nvPr/>
        </p:nvSpPr>
        <p:spPr>
          <a:xfrm>
            <a:off x="411480" y="4279392"/>
            <a:ext cx="457200" cy="201168"/>
          </a:xfrm>
          <a:prstGeom prst="rect">
            <a:avLst/>
          </a:prstGeom>
          <a:noFill/>
          <a:ln/>
        </p:spPr>
        <p:txBody>
          <a:bodyPr wrap="square" lIns="0" tIns="0" rIns="0" bIns="0" rtlCol="0" anchor="ctr"/>
          <a:lstStyle/>
          <a:p>
            <a:pPr marL="0" indent="0" algn="ctr">
              <a:buNone/>
            </a:pPr>
            <a:r>
              <a:rPr lang="en-US" sz="600" b="1" dirty="0">
                <a:solidFill>
                  <a:srgbClr val="FFFFFF"/>
                </a:solidFill>
              </a:rPr>
              <a:t>MITIGATION</a:t>
            </a:r>
            <a:endParaRPr lang="en-US" sz="600" dirty="0"/>
          </a:p>
        </p:txBody>
      </p:sp>
      <p:sp>
        <p:nvSpPr>
          <p:cNvPr id="30" name="Text 28"/>
          <p:cNvSpPr/>
          <p:nvPr/>
        </p:nvSpPr>
        <p:spPr>
          <a:xfrm>
            <a:off x="932688" y="4261104"/>
            <a:ext cx="3291840" cy="457200"/>
          </a:xfrm>
          <a:prstGeom prst="rect">
            <a:avLst/>
          </a:prstGeom>
          <a:noFill/>
          <a:ln/>
        </p:spPr>
        <p:txBody>
          <a:bodyPr wrap="square" lIns="0" tIns="0" rIns="0" bIns="0" rtlCol="0" anchor="ctr"/>
          <a:lstStyle/>
          <a:p>
            <a:pPr marL="0" indent="0">
              <a:buNone/>
            </a:pPr>
            <a:r>
              <a:rPr lang="en-US" sz="1100" dirty="0">
                <a:solidFill>
                  <a:srgbClr val="45D48A"/>
                </a:solidFill>
              </a:rPr>
              <a:t>Regular bias audits, diverse training data, and explainable AI recommendations with visible reasoning.</a:t>
            </a:r>
            <a:endParaRPr lang="en-US" sz="1100" dirty="0"/>
          </a:p>
        </p:txBody>
      </p:sp>
      <p:sp>
        <p:nvSpPr>
          <p:cNvPr id="31" name="Shape 29"/>
          <p:cNvSpPr/>
          <p:nvPr/>
        </p:nvSpPr>
        <p:spPr>
          <a:xfrm>
            <a:off x="4754880" y="3017520"/>
            <a:ext cx="4114800" cy="1828800"/>
          </a:xfrm>
          <a:prstGeom prst="rect">
            <a:avLst/>
          </a:prstGeom>
          <a:solidFill>
            <a:srgbClr val="152535"/>
          </a:solidFill>
          <a:ln/>
          <a:effectLst>
            <a:outerShdw blurRad="101600" dist="38100" dir="8100000" algn="bl" rotWithShape="0">
              <a:srgbClr val="000000">
                <a:alpha val="18000"/>
              </a:srgbClr>
            </a:outerShdw>
          </a:effectLst>
        </p:spPr>
      </p:sp>
      <p:sp>
        <p:nvSpPr>
          <p:cNvPr id="32" name="Shape 30"/>
          <p:cNvSpPr/>
          <p:nvPr/>
        </p:nvSpPr>
        <p:spPr>
          <a:xfrm>
            <a:off x="4754880" y="3017520"/>
            <a:ext cx="4114800" cy="64008"/>
          </a:xfrm>
          <a:prstGeom prst="rect">
            <a:avLst/>
          </a:prstGeom>
          <a:solidFill>
            <a:srgbClr val="0ABFBC"/>
          </a:solidFill>
          <a:ln/>
        </p:spPr>
      </p:sp>
      <p:sp>
        <p:nvSpPr>
          <p:cNvPr id="33" name="Shape 31"/>
          <p:cNvSpPr/>
          <p:nvPr/>
        </p:nvSpPr>
        <p:spPr>
          <a:xfrm>
            <a:off x="4892040" y="3154680"/>
            <a:ext cx="411480" cy="411480"/>
          </a:xfrm>
          <a:prstGeom prst="ellipse">
            <a:avLst/>
          </a:prstGeom>
          <a:solidFill>
            <a:srgbClr val="0ABFBC"/>
          </a:solidFill>
          <a:ln/>
        </p:spPr>
      </p:sp>
      <p:sp>
        <p:nvSpPr>
          <p:cNvPr id="34" name="Text 32"/>
          <p:cNvSpPr/>
          <p:nvPr/>
        </p:nvSpPr>
        <p:spPr>
          <a:xfrm>
            <a:off x="4892040" y="3154680"/>
            <a:ext cx="411480" cy="411480"/>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35" name="Text 33"/>
          <p:cNvSpPr/>
          <p:nvPr/>
        </p:nvSpPr>
        <p:spPr>
          <a:xfrm>
            <a:off x="5394960" y="3154680"/>
            <a:ext cx="3337560" cy="384048"/>
          </a:xfrm>
          <a:prstGeom prst="rect">
            <a:avLst/>
          </a:prstGeom>
          <a:noFill/>
          <a:ln/>
        </p:spPr>
        <p:txBody>
          <a:bodyPr wrap="square" lIns="0" tIns="0" rIns="0" bIns="0" rtlCol="0" anchor="ctr"/>
          <a:lstStyle/>
          <a:p>
            <a:pPr marL="0" indent="0">
              <a:buNone/>
            </a:pPr>
            <a:r>
              <a:rPr lang="en-US" sz="1400" b="1" dirty="0">
                <a:solidFill>
                  <a:srgbClr val="FFFFFF"/>
                </a:solidFill>
              </a:rPr>
              <a:t>Adoption by Teachers &amp; Policymakers</a:t>
            </a:r>
            <a:endParaRPr lang="en-US" sz="1400" dirty="0"/>
          </a:p>
        </p:txBody>
      </p:sp>
      <p:sp>
        <p:nvSpPr>
          <p:cNvPr id="36" name="Text 34"/>
          <p:cNvSpPr/>
          <p:nvPr/>
        </p:nvSpPr>
        <p:spPr>
          <a:xfrm>
            <a:off x="4892040" y="3621024"/>
            <a:ext cx="3840480" cy="621792"/>
          </a:xfrm>
          <a:prstGeom prst="rect">
            <a:avLst/>
          </a:prstGeom>
          <a:noFill/>
          <a:ln/>
        </p:spPr>
        <p:txBody>
          <a:bodyPr wrap="square" lIns="0" tIns="0" rIns="0" bIns="0" rtlCol="0" anchor="ctr"/>
          <a:lstStyle/>
          <a:p>
            <a:pPr marL="0" indent="0">
              <a:buNone/>
            </a:pPr>
            <a:r>
              <a:rPr lang="en-US" sz="1200" dirty="0">
                <a:solidFill>
                  <a:srgbClr val="8898AA"/>
                </a:solidFill>
              </a:rPr>
              <a:t>The platform's value depends on teachers using dashboards and policymakers trusting AI forecasts for resource decisions.</a:t>
            </a:r>
            <a:endParaRPr lang="en-US" sz="1200" dirty="0"/>
          </a:p>
        </p:txBody>
      </p:sp>
      <p:sp>
        <p:nvSpPr>
          <p:cNvPr id="37" name="Shape 35"/>
          <p:cNvSpPr/>
          <p:nvPr/>
        </p:nvSpPr>
        <p:spPr>
          <a:xfrm>
            <a:off x="4892040" y="4279392"/>
            <a:ext cx="457200" cy="201168"/>
          </a:xfrm>
          <a:prstGeom prst="rect">
            <a:avLst/>
          </a:prstGeom>
          <a:solidFill>
            <a:srgbClr val="0ABFBC"/>
          </a:solidFill>
          <a:ln/>
        </p:spPr>
      </p:sp>
      <p:sp>
        <p:nvSpPr>
          <p:cNvPr id="38" name="Text 36"/>
          <p:cNvSpPr/>
          <p:nvPr/>
        </p:nvSpPr>
        <p:spPr>
          <a:xfrm>
            <a:off x="4892040" y="4279392"/>
            <a:ext cx="457200" cy="201168"/>
          </a:xfrm>
          <a:prstGeom prst="rect">
            <a:avLst/>
          </a:prstGeom>
          <a:noFill/>
          <a:ln/>
        </p:spPr>
        <p:txBody>
          <a:bodyPr wrap="square" lIns="0" tIns="0" rIns="0" bIns="0" rtlCol="0" anchor="ctr"/>
          <a:lstStyle/>
          <a:p>
            <a:pPr marL="0" indent="0" algn="ctr">
              <a:buNone/>
            </a:pPr>
            <a:r>
              <a:rPr lang="en-US" sz="600" b="1" dirty="0">
                <a:solidFill>
                  <a:srgbClr val="FFFFFF"/>
                </a:solidFill>
              </a:rPr>
              <a:t>MITIGATION</a:t>
            </a:r>
            <a:endParaRPr lang="en-US" sz="600" dirty="0"/>
          </a:p>
        </p:txBody>
      </p:sp>
      <p:sp>
        <p:nvSpPr>
          <p:cNvPr id="39" name="Text 37"/>
          <p:cNvSpPr/>
          <p:nvPr/>
        </p:nvSpPr>
        <p:spPr>
          <a:xfrm>
            <a:off x="5413248" y="4261104"/>
            <a:ext cx="3291840" cy="457200"/>
          </a:xfrm>
          <a:prstGeom prst="rect">
            <a:avLst/>
          </a:prstGeom>
          <a:noFill/>
          <a:ln/>
        </p:spPr>
        <p:txBody>
          <a:bodyPr wrap="square" lIns="0" tIns="0" rIns="0" bIns="0" rtlCol="0" anchor="ctr"/>
          <a:lstStyle/>
          <a:p>
            <a:pPr marL="0" indent="0">
              <a:buNone/>
            </a:pPr>
            <a:r>
              <a:rPr lang="en-US" sz="1100" dirty="0">
                <a:solidFill>
                  <a:srgbClr val="45D48A"/>
                </a:solidFill>
              </a:rPr>
              <a:t>Simple UX design, training programs, and district-level pilot deployments before scale.</a:t>
            </a:r>
            <a:endParaRPr lang="en-US" sz="1100" dirty="0"/>
          </a:p>
        </p:txBody>
      </p:sp>
      <p:pic>
        <p:nvPicPr>
          <p:cNvPr id="40" name="Google Shape;238;p6" title="Witch Hunt finalized logo-modified.png">
            <a:extLst>
              <a:ext uri="{FF2B5EF4-FFF2-40B4-BE49-F238E27FC236}">
                <a16:creationId xmlns:a16="http://schemas.microsoft.com/office/drawing/2014/main" id="{95160FFC-81F6-B0B6-32E4-64880D54594D}"/>
              </a:ext>
            </a:extLst>
          </p:cNvPr>
          <p:cNvPicPr preferRelativeResize="0"/>
          <p:nvPr/>
        </p:nvPicPr>
        <p:blipFill rotWithShape="1">
          <a:blip r:embed="rId3">
            <a:alphaModFix/>
          </a:blip>
          <a:srcRect/>
          <a:stretch/>
        </p:blipFill>
        <p:spPr>
          <a:xfrm>
            <a:off x="129475" y="110938"/>
            <a:ext cx="680849" cy="6808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274320" y="0"/>
            <a:ext cx="8595360" cy="914400"/>
          </a:xfrm>
          <a:prstGeom prst="rect">
            <a:avLst/>
          </a:prstGeom>
          <a:noFill/>
          <a:ln/>
        </p:spPr>
        <p:txBody>
          <a:bodyPr wrap="square" lIns="0" tIns="0" rIns="0" bIns="0" rtlCol="0" anchor="ctr"/>
          <a:lstStyle/>
          <a:p>
            <a:pPr marL="0" indent="0">
              <a:buNone/>
            </a:pPr>
            <a:r>
              <a:rPr lang="en-US" sz="2000" b="1" dirty="0">
                <a:solidFill>
                  <a:srgbClr val="FFFFFF"/>
                </a:solidFill>
              </a:rPr>
              <a:t>            TECHNICAL REQUEST FOR FACILITATED DATASETS</a:t>
            </a:r>
            <a:endParaRPr lang="en-US" sz="2000" dirty="0"/>
          </a:p>
        </p:txBody>
      </p:sp>
      <p:sp>
        <p:nvSpPr>
          <p:cNvPr id="4" name="Shape 2"/>
          <p:cNvSpPr/>
          <p:nvPr/>
        </p:nvSpPr>
        <p:spPr>
          <a:xfrm>
            <a:off x="0" y="914400"/>
            <a:ext cx="9144000" cy="54864"/>
          </a:xfrm>
          <a:prstGeom prst="rect">
            <a:avLst/>
          </a:prstGeom>
          <a:solidFill>
            <a:srgbClr val="0ABFBC"/>
          </a:solidFill>
          <a:ln/>
        </p:spPr>
      </p:sp>
      <p:sp>
        <p:nvSpPr>
          <p:cNvPr id="5" name="Shape 3"/>
          <p:cNvSpPr/>
          <p:nvPr/>
        </p:nvSpPr>
        <p:spPr>
          <a:xfrm>
            <a:off x="274320" y="1097280"/>
            <a:ext cx="3931920" cy="3566160"/>
          </a:xfrm>
          <a:prstGeom prst="rect">
            <a:avLst/>
          </a:prstGeom>
          <a:solidFill>
            <a:srgbClr val="FFFFFF"/>
          </a:solidFill>
          <a:ln/>
          <a:effectLst>
            <a:outerShdw blurRad="101600" dist="38100" dir="8100000" algn="bl" rotWithShape="0">
              <a:srgbClr val="000000">
                <a:alpha val="18000"/>
              </a:srgbClr>
            </a:outerShdw>
          </a:effectLst>
        </p:spPr>
      </p:sp>
      <p:sp>
        <p:nvSpPr>
          <p:cNvPr id="6" name="Shape 4"/>
          <p:cNvSpPr/>
          <p:nvPr/>
        </p:nvSpPr>
        <p:spPr>
          <a:xfrm>
            <a:off x="274320" y="1097280"/>
            <a:ext cx="3931920" cy="384048"/>
          </a:xfrm>
          <a:prstGeom prst="rect">
            <a:avLst/>
          </a:prstGeom>
          <a:solidFill>
            <a:srgbClr val="27AE60"/>
          </a:solidFill>
          <a:ln/>
        </p:spPr>
      </p:sp>
      <p:sp>
        <p:nvSpPr>
          <p:cNvPr id="7" name="Text 5"/>
          <p:cNvSpPr/>
          <p:nvPr/>
        </p:nvSpPr>
        <p:spPr>
          <a:xfrm>
            <a:off x="274320" y="1097280"/>
            <a:ext cx="3931920" cy="384048"/>
          </a:xfrm>
          <a:prstGeom prst="rect">
            <a:avLst/>
          </a:prstGeom>
          <a:noFill/>
          <a:ln/>
        </p:spPr>
        <p:txBody>
          <a:bodyPr wrap="square" lIns="0" tIns="0" rIns="0" bIns="0" rtlCol="0" anchor="ctr"/>
          <a:lstStyle/>
          <a:p>
            <a:pPr marL="0" indent="0" algn="ctr">
              <a:buNone/>
            </a:pPr>
            <a:r>
              <a:rPr lang="en-US" sz="1200" b="1" dirty="0">
                <a:solidFill>
                  <a:srgbClr val="FFFFFF"/>
                </a:solidFill>
              </a:rPr>
              <a:t>✅ WHAT WE HAVE</a:t>
            </a:r>
            <a:endParaRPr lang="en-US" sz="1200" dirty="0"/>
          </a:p>
        </p:txBody>
      </p:sp>
      <p:sp>
        <p:nvSpPr>
          <p:cNvPr id="8" name="Shape 6"/>
          <p:cNvSpPr/>
          <p:nvPr/>
        </p:nvSpPr>
        <p:spPr>
          <a:xfrm>
            <a:off x="457200" y="1664208"/>
            <a:ext cx="164592" cy="164592"/>
          </a:xfrm>
          <a:prstGeom prst="ellipse">
            <a:avLst/>
          </a:prstGeom>
          <a:solidFill>
            <a:srgbClr val="27AE60"/>
          </a:solidFill>
          <a:ln/>
        </p:spPr>
      </p:sp>
      <p:sp>
        <p:nvSpPr>
          <p:cNvPr id="9" name="Text 7"/>
          <p:cNvSpPr/>
          <p:nvPr/>
        </p:nvSpPr>
        <p:spPr>
          <a:xfrm>
            <a:off x="713232" y="1609344"/>
            <a:ext cx="3383280" cy="384048"/>
          </a:xfrm>
          <a:prstGeom prst="rect">
            <a:avLst/>
          </a:prstGeom>
          <a:noFill/>
          <a:ln/>
        </p:spPr>
        <p:txBody>
          <a:bodyPr wrap="square" lIns="0" tIns="0" rIns="0" bIns="0" rtlCol="0" anchor="ctr"/>
          <a:lstStyle/>
          <a:p>
            <a:pPr marL="0" indent="0">
              <a:buNone/>
            </a:pPr>
            <a:r>
              <a:rPr lang="en-US" sz="1200" dirty="0">
                <a:solidFill>
                  <a:srgbClr val="0D1B2A"/>
                </a:solidFill>
              </a:rPr>
              <a:t>Bhashini (open multilingual NLP datasets)</a:t>
            </a:r>
            <a:endParaRPr lang="en-US" sz="1200" dirty="0"/>
          </a:p>
        </p:txBody>
      </p:sp>
      <p:sp>
        <p:nvSpPr>
          <p:cNvPr id="10" name="Shape 8"/>
          <p:cNvSpPr/>
          <p:nvPr/>
        </p:nvSpPr>
        <p:spPr>
          <a:xfrm>
            <a:off x="457200" y="2121408"/>
            <a:ext cx="164592" cy="164592"/>
          </a:xfrm>
          <a:prstGeom prst="ellipse">
            <a:avLst/>
          </a:prstGeom>
          <a:solidFill>
            <a:srgbClr val="27AE60"/>
          </a:solidFill>
          <a:ln/>
        </p:spPr>
      </p:sp>
      <p:sp>
        <p:nvSpPr>
          <p:cNvPr id="11" name="Text 9"/>
          <p:cNvSpPr/>
          <p:nvPr/>
        </p:nvSpPr>
        <p:spPr>
          <a:xfrm>
            <a:off x="713232" y="2066544"/>
            <a:ext cx="3493008" cy="384048"/>
          </a:xfrm>
          <a:prstGeom prst="rect">
            <a:avLst/>
          </a:prstGeom>
          <a:noFill/>
          <a:ln/>
        </p:spPr>
        <p:txBody>
          <a:bodyPr wrap="square" lIns="0" tIns="0" rIns="0" bIns="0" rtlCol="0" anchor="ctr"/>
          <a:lstStyle/>
          <a:p>
            <a:pPr marL="0" indent="0">
              <a:buNone/>
            </a:pPr>
            <a:r>
              <a:rPr lang="en-US" sz="1200" dirty="0">
                <a:solidFill>
                  <a:srgbClr val="0D1B2A"/>
                </a:solidFill>
              </a:rPr>
              <a:t>OGD Open Government Data — enrollment, attendance</a:t>
            </a:r>
            <a:endParaRPr lang="en-US" sz="1200" dirty="0"/>
          </a:p>
        </p:txBody>
      </p:sp>
      <p:sp>
        <p:nvSpPr>
          <p:cNvPr id="12" name="Shape 10"/>
          <p:cNvSpPr/>
          <p:nvPr/>
        </p:nvSpPr>
        <p:spPr>
          <a:xfrm>
            <a:off x="457200" y="2578608"/>
            <a:ext cx="164592" cy="164592"/>
          </a:xfrm>
          <a:prstGeom prst="ellipse">
            <a:avLst/>
          </a:prstGeom>
          <a:solidFill>
            <a:srgbClr val="27AE60"/>
          </a:solidFill>
          <a:ln/>
        </p:spPr>
      </p:sp>
      <p:sp>
        <p:nvSpPr>
          <p:cNvPr id="13" name="Text 11"/>
          <p:cNvSpPr/>
          <p:nvPr/>
        </p:nvSpPr>
        <p:spPr>
          <a:xfrm>
            <a:off x="713232" y="2523744"/>
            <a:ext cx="3383280" cy="384048"/>
          </a:xfrm>
          <a:prstGeom prst="rect">
            <a:avLst/>
          </a:prstGeom>
          <a:noFill/>
          <a:ln/>
        </p:spPr>
        <p:txBody>
          <a:bodyPr wrap="square" lIns="0" tIns="0" rIns="0" bIns="0" rtlCol="0" anchor="ctr"/>
          <a:lstStyle/>
          <a:p>
            <a:pPr marL="0" indent="0">
              <a:buNone/>
            </a:pPr>
            <a:r>
              <a:rPr lang="en-US" sz="1200" dirty="0">
                <a:solidFill>
                  <a:srgbClr val="0D1B2A"/>
                </a:solidFill>
              </a:rPr>
              <a:t>IndicNLP library for regional language processing</a:t>
            </a:r>
            <a:endParaRPr lang="en-US" sz="1200" dirty="0"/>
          </a:p>
        </p:txBody>
      </p:sp>
      <p:sp>
        <p:nvSpPr>
          <p:cNvPr id="14" name="Shape 12"/>
          <p:cNvSpPr/>
          <p:nvPr/>
        </p:nvSpPr>
        <p:spPr>
          <a:xfrm>
            <a:off x="457200" y="3035808"/>
            <a:ext cx="164592" cy="164592"/>
          </a:xfrm>
          <a:prstGeom prst="ellipse">
            <a:avLst/>
          </a:prstGeom>
          <a:solidFill>
            <a:srgbClr val="27AE60"/>
          </a:solidFill>
          <a:ln/>
        </p:spPr>
      </p:sp>
      <p:sp>
        <p:nvSpPr>
          <p:cNvPr id="15" name="Text 13"/>
          <p:cNvSpPr/>
          <p:nvPr/>
        </p:nvSpPr>
        <p:spPr>
          <a:xfrm>
            <a:off x="713232" y="2980944"/>
            <a:ext cx="3383280" cy="384048"/>
          </a:xfrm>
          <a:prstGeom prst="rect">
            <a:avLst/>
          </a:prstGeom>
          <a:noFill/>
          <a:ln/>
        </p:spPr>
        <p:txBody>
          <a:bodyPr wrap="square" lIns="0" tIns="0" rIns="0" bIns="0" rtlCol="0" anchor="ctr"/>
          <a:lstStyle/>
          <a:p>
            <a:pPr marL="0" indent="0">
              <a:buNone/>
            </a:pPr>
            <a:r>
              <a:rPr lang="en-US" sz="1200" dirty="0">
                <a:solidFill>
                  <a:srgbClr val="0D1B2A"/>
                </a:solidFill>
              </a:rPr>
              <a:t>Synthetic student interaction logs (generated for prototype)</a:t>
            </a:r>
            <a:endParaRPr lang="en-US" sz="1200" dirty="0"/>
          </a:p>
        </p:txBody>
      </p:sp>
      <p:sp>
        <p:nvSpPr>
          <p:cNvPr id="16" name="Shape 14"/>
          <p:cNvSpPr/>
          <p:nvPr/>
        </p:nvSpPr>
        <p:spPr>
          <a:xfrm>
            <a:off x="457200" y="3493008"/>
            <a:ext cx="164592" cy="164592"/>
          </a:xfrm>
          <a:prstGeom prst="ellipse">
            <a:avLst/>
          </a:prstGeom>
          <a:solidFill>
            <a:srgbClr val="27AE60"/>
          </a:solidFill>
          <a:ln/>
        </p:spPr>
      </p:sp>
      <p:sp>
        <p:nvSpPr>
          <p:cNvPr id="17" name="Text 15"/>
          <p:cNvSpPr/>
          <p:nvPr/>
        </p:nvSpPr>
        <p:spPr>
          <a:xfrm>
            <a:off x="713232" y="3438144"/>
            <a:ext cx="3383280" cy="384048"/>
          </a:xfrm>
          <a:prstGeom prst="rect">
            <a:avLst/>
          </a:prstGeom>
          <a:noFill/>
          <a:ln/>
        </p:spPr>
        <p:txBody>
          <a:bodyPr wrap="square" lIns="0" tIns="0" rIns="0" bIns="0" rtlCol="0" anchor="ctr"/>
          <a:lstStyle/>
          <a:p>
            <a:pPr marL="0" indent="0">
              <a:buNone/>
            </a:pPr>
            <a:r>
              <a:rPr lang="en-US" sz="1200" dirty="0">
                <a:solidFill>
                  <a:srgbClr val="0D1B2A"/>
                </a:solidFill>
              </a:rPr>
              <a:t>NPTEL &amp; Coursera public course metadata</a:t>
            </a:r>
            <a:endParaRPr lang="en-US" sz="1200" dirty="0"/>
          </a:p>
        </p:txBody>
      </p:sp>
      <p:sp>
        <p:nvSpPr>
          <p:cNvPr id="18" name="Shape 16"/>
          <p:cNvSpPr/>
          <p:nvPr/>
        </p:nvSpPr>
        <p:spPr>
          <a:xfrm>
            <a:off x="457200" y="3950208"/>
            <a:ext cx="164592" cy="164592"/>
          </a:xfrm>
          <a:prstGeom prst="ellipse">
            <a:avLst/>
          </a:prstGeom>
          <a:solidFill>
            <a:srgbClr val="27AE60"/>
          </a:solidFill>
          <a:ln/>
        </p:spPr>
      </p:sp>
      <p:sp>
        <p:nvSpPr>
          <p:cNvPr id="19" name="Text 17"/>
          <p:cNvSpPr/>
          <p:nvPr/>
        </p:nvSpPr>
        <p:spPr>
          <a:xfrm>
            <a:off x="713232" y="3895344"/>
            <a:ext cx="3383280" cy="384048"/>
          </a:xfrm>
          <a:prstGeom prst="rect">
            <a:avLst/>
          </a:prstGeom>
          <a:noFill/>
          <a:ln/>
        </p:spPr>
        <p:txBody>
          <a:bodyPr wrap="square" lIns="0" tIns="0" rIns="0" bIns="0" rtlCol="0" anchor="ctr"/>
          <a:lstStyle/>
          <a:p>
            <a:pPr marL="0" indent="0">
              <a:buNone/>
            </a:pPr>
            <a:r>
              <a:rPr lang="en-US" sz="1200" dirty="0">
                <a:solidFill>
                  <a:srgbClr val="0D1B2A"/>
                </a:solidFill>
              </a:rPr>
              <a:t>News APIs (NewsData.io, PIB RSS) for flash cards</a:t>
            </a:r>
            <a:endParaRPr lang="en-US" sz="1200" dirty="0"/>
          </a:p>
        </p:txBody>
      </p:sp>
      <p:sp>
        <p:nvSpPr>
          <p:cNvPr id="20" name="Shape 18"/>
          <p:cNvSpPr/>
          <p:nvPr/>
        </p:nvSpPr>
        <p:spPr>
          <a:xfrm>
            <a:off x="4572000" y="1097280"/>
            <a:ext cx="4297680" cy="3566160"/>
          </a:xfrm>
          <a:prstGeom prst="rect">
            <a:avLst/>
          </a:prstGeom>
          <a:solidFill>
            <a:srgbClr val="FFFFFF"/>
          </a:solidFill>
          <a:ln/>
          <a:effectLst>
            <a:outerShdw blurRad="101600" dist="38100" dir="8100000" algn="bl" rotWithShape="0">
              <a:srgbClr val="000000">
                <a:alpha val="18000"/>
              </a:srgbClr>
            </a:outerShdw>
          </a:effectLst>
        </p:spPr>
      </p:sp>
      <p:sp>
        <p:nvSpPr>
          <p:cNvPr id="21" name="Shape 19"/>
          <p:cNvSpPr/>
          <p:nvPr/>
        </p:nvSpPr>
        <p:spPr>
          <a:xfrm>
            <a:off x="4572000" y="1097280"/>
            <a:ext cx="4297680" cy="384048"/>
          </a:xfrm>
          <a:prstGeom prst="rect">
            <a:avLst/>
          </a:prstGeom>
          <a:solidFill>
            <a:srgbClr val="0ABFBC"/>
          </a:solidFill>
          <a:ln/>
        </p:spPr>
      </p:sp>
      <p:sp>
        <p:nvSpPr>
          <p:cNvPr id="22" name="Text 20"/>
          <p:cNvSpPr/>
          <p:nvPr/>
        </p:nvSpPr>
        <p:spPr>
          <a:xfrm>
            <a:off x="4572000" y="1097280"/>
            <a:ext cx="4297680" cy="384048"/>
          </a:xfrm>
          <a:prstGeom prst="rect">
            <a:avLst/>
          </a:prstGeom>
          <a:noFill/>
          <a:ln/>
        </p:spPr>
        <p:txBody>
          <a:bodyPr wrap="square" lIns="0" tIns="0" rIns="0" bIns="0" rtlCol="0" anchor="ctr"/>
          <a:lstStyle/>
          <a:p>
            <a:pPr marL="0" indent="0" algn="ctr">
              <a:buNone/>
            </a:pPr>
            <a:r>
              <a:rPr lang="en-US" sz="1100" b="1" dirty="0">
                <a:solidFill>
                  <a:srgbClr val="FFFFFF"/>
                </a:solidFill>
              </a:rPr>
              <a:t>🎯 FACILITATED DATA ASK (AI4India)</a:t>
            </a:r>
            <a:endParaRPr lang="en-US" sz="1100" dirty="0"/>
          </a:p>
        </p:txBody>
      </p:sp>
      <p:sp>
        <p:nvSpPr>
          <p:cNvPr id="23" name="Shape 21"/>
          <p:cNvSpPr/>
          <p:nvPr/>
        </p:nvSpPr>
        <p:spPr>
          <a:xfrm>
            <a:off x="4709160" y="1627632"/>
            <a:ext cx="4023360" cy="640080"/>
          </a:xfrm>
          <a:prstGeom prst="rect">
            <a:avLst/>
          </a:prstGeom>
          <a:solidFill>
            <a:srgbClr val="F0FAFF"/>
          </a:solidFill>
          <a:ln/>
        </p:spPr>
      </p:sp>
      <p:sp>
        <p:nvSpPr>
          <p:cNvPr id="24" name="Text 22"/>
          <p:cNvSpPr/>
          <p:nvPr/>
        </p:nvSpPr>
        <p:spPr>
          <a:xfrm>
            <a:off x="4800600" y="1673352"/>
            <a:ext cx="3840480" cy="274320"/>
          </a:xfrm>
          <a:prstGeom prst="rect">
            <a:avLst/>
          </a:prstGeom>
          <a:noFill/>
          <a:ln/>
        </p:spPr>
        <p:txBody>
          <a:bodyPr wrap="square" lIns="0" tIns="0" rIns="0" bIns="0" rtlCol="0" anchor="ctr"/>
          <a:lstStyle/>
          <a:p>
            <a:pPr marL="0" indent="0">
              <a:buNone/>
            </a:pPr>
            <a:r>
              <a:rPr lang="en-US" sz="1100" b="1" dirty="0">
                <a:solidFill>
                  <a:srgbClr val="0D1B2A"/>
                </a:solidFill>
              </a:rPr>
              <a:t>Indic-language speech samples (8+ languages)</a:t>
            </a:r>
            <a:endParaRPr lang="en-US" sz="1100" dirty="0"/>
          </a:p>
        </p:txBody>
      </p:sp>
      <p:sp>
        <p:nvSpPr>
          <p:cNvPr id="25" name="Text 23"/>
          <p:cNvSpPr/>
          <p:nvPr/>
        </p:nvSpPr>
        <p:spPr>
          <a:xfrm>
            <a:off x="4800600" y="1947672"/>
            <a:ext cx="3840480" cy="256032"/>
          </a:xfrm>
          <a:prstGeom prst="rect">
            <a:avLst/>
          </a:prstGeom>
          <a:noFill/>
          <a:ln/>
        </p:spPr>
        <p:txBody>
          <a:bodyPr wrap="square" lIns="0" tIns="0" rIns="0" bIns="0" rtlCol="0" anchor="ctr"/>
          <a:lstStyle/>
          <a:p>
            <a:pPr marL="0" indent="0">
              <a:buNone/>
            </a:pPr>
            <a:r>
              <a:rPr lang="en-US" sz="1050" i="1" dirty="0">
                <a:solidFill>
                  <a:srgbClr val="8898AA"/>
                </a:solidFill>
              </a:rPr>
              <a:t>→ Improve phoneme model accuracy for pronunciation training</a:t>
            </a:r>
            <a:endParaRPr lang="en-US" sz="1050" dirty="0"/>
          </a:p>
        </p:txBody>
      </p:sp>
      <p:sp>
        <p:nvSpPr>
          <p:cNvPr id="26" name="Shape 24"/>
          <p:cNvSpPr/>
          <p:nvPr/>
        </p:nvSpPr>
        <p:spPr>
          <a:xfrm>
            <a:off x="4709160" y="2340864"/>
            <a:ext cx="4023360" cy="640080"/>
          </a:xfrm>
          <a:prstGeom prst="rect">
            <a:avLst/>
          </a:prstGeom>
          <a:solidFill>
            <a:srgbClr val="F0FAFF"/>
          </a:solidFill>
          <a:ln/>
        </p:spPr>
      </p:sp>
      <p:sp>
        <p:nvSpPr>
          <p:cNvPr id="27" name="Text 25"/>
          <p:cNvSpPr/>
          <p:nvPr/>
        </p:nvSpPr>
        <p:spPr>
          <a:xfrm>
            <a:off x="4800600" y="2386584"/>
            <a:ext cx="3840480" cy="274320"/>
          </a:xfrm>
          <a:prstGeom prst="rect">
            <a:avLst/>
          </a:prstGeom>
          <a:noFill/>
          <a:ln/>
        </p:spPr>
        <p:txBody>
          <a:bodyPr wrap="square" lIns="0" tIns="0" rIns="0" bIns="0" rtlCol="0" anchor="ctr"/>
          <a:lstStyle/>
          <a:p>
            <a:pPr marL="0" indent="0">
              <a:buNone/>
            </a:pPr>
            <a:r>
              <a:rPr lang="en-US" sz="1100" b="1" dirty="0">
                <a:solidFill>
                  <a:srgbClr val="0D1B2A"/>
                </a:solidFill>
              </a:rPr>
              <a:t>District-level teacher &amp; school infrastructure data</a:t>
            </a:r>
            <a:endParaRPr lang="en-US" sz="1100" dirty="0"/>
          </a:p>
        </p:txBody>
      </p:sp>
      <p:sp>
        <p:nvSpPr>
          <p:cNvPr id="28" name="Text 26"/>
          <p:cNvSpPr/>
          <p:nvPr/>
        </p:nvSpPr>
        <p:spPr>
          <a:xfrm>
            <a:off x="4800600" y="2660904"/>
            <a:ext cx="3840480" cy="256032"/>
          </a:xfrm>
          <a:prstGeom prst="rect">
            <a:avLst/>
          </a:prstGeom>
          <a:noFill/>
          <a:ln/>
        </p:spPr>
        <p:txBody>
          <a:bodyPr wrap="square" lIns="0" tIns="0" rIns="0" bIns="0" rtlCol="0" anchor="ctr"/>
          <a:lstStyle/>
          <a:p>
            <a:pPr marL="0" indent="0">
              <a:buNone/>
            </a:pPr>
            <a:r>
              <a:rPr lang="en-US" sz="1050" i="1" dirty="0">
                <a:solidFill>
                  <a:srgbClr val="8898AA"/>
                </a:solidFill>
              </a:rPr>
              <a:t>→ Train predictive resource allocation model on real patterns</a:t>
            </a:r>
            <a:endParaRPr lang="en-US" sz="1050" dirty="0"/>
          </a:p>
        </p:txBody>
      </p:sp>
      <p:sp>
        <p:nvSpPr>
          <p:cNvPr id="29" name="Shape 27"/>
          <p:cNvSpPr/>
          <p:nvPr/>
        </p:nvSpPr>
        <p:spPr>
          <a:xfrm>
            <a:off x="4709160" y="3054096"/>
            <a:ext cx="4023360" cy="640080"/>
          </a:xfrm>
          <a:prstGeom prst="rect">
            <a:avLst/>
          </a:prstGeom>
          <a:solidFill>
            <a:srgbClr val="F0FAFF"/>
          </a:solidFill>
          <a:ln/>
        </p:spPr>
      </p:sp>
      <p:sp>
        <p:nvSpPr>
          <p:cNvPr id="30" name="Text 28"/>
          <p:cNvSpPr/>
          <p:nvPr/>
        </p:nvSpPr>
        <p:spPr>
          <a:xfrm>
            <a:off x="4800600" y="3099816"/>
            <a:ext cx="3840480" cy="274320"/>
          </a:xfrm>
          <a:prstGeom prst="rect">
            <a:avLst/>
          </a:prstGeom>
          <a:noFill/>
          <a:ln/>
        </p:spPr>
        <p:txBody>
          <a:bodyPr wrap="square" lIns="0" tIns="0" rIns="0" bIns="0" rtlCol="0" anchor="ctr"/>
          <a:lstStyle/>
          <a:p>
            <a:pPr marL="0" indent="0">
              <a:buNone/>
            </a:pPr>
            <a:r>
              <a:rPr lang="en-US" sz="1100" b="1" dirty="0">
                <a:solidFill>
                  <a:srgbClr val="0D1B2A"/>
                </a:solidFill>
              </a:rPr>
              <a:t>Anonymised student performance records (CBSE/State)</a:t>
            </a:r>
            <a:endParaRPr lang="en-US" sz="1100" dirty="0"/>
          </a:p>
        </p:txBody>
      </p:sp>
      <p:sp>
        <p:nvSpPr>
          <p:cNvPr id="31" name="Text 29"/>
          <p:cNvSpPr/>
          <p:nvPr/>
        </p:nvSpPr>
        <p:spPr>
          <a:xfrm>
            <a:off x="4800600" y="3374136"/>
            <a:ext cx="3840480" cy="256032"/>
          </a:xfrm>
          <a:prstGeom prst="rect">
            <a:avLst/>
          </a:prstGeom>
          <a:noFill/>
          <a:ln/>
        </p:spPr>
        <p:txBody>
          <a:bodyPr wrap="square" lIns="0" tIns="0" rIns="0" bIns="0" rtlCol="0" anchor="ctr"/>
          <a:lstStyle/>
          <a:p>
            <a:pPr marL="0" indent="0">
              <a:buNone/>
            </a:pPr>
            <a:r>
              <a:rPr lang="en-US" sz="1100" i="1" dirty="0">
                <a:solidFill>
                  <a:srgbClr val="8898AA"/>
                </a:solidFill>
              </a:rPr>
              <a:t>→ Validate adaptive learning model against real progressions</a:t>
            </a:r>
            <a:endParaRPr lang="en-US" sz="1100" dirty="0"/>
          </a:p>
        </p:txBody>
      </p:sp>
      <p:sp>
        <p:nvSpPr>
          <p:cNvPr id="32" name="Shape 30"/>
          <p:cNvSpPr/>
          <p:nvPr/>
        </p:nvSpPr>
        <p:spPr>
          <a:xfrm>
            <a:off x="4709160" y="3767328"/>
            <a:ext cx="4023360" cy="640080"/>
          </a:xfrm>
          <a:prstGeom prst="rect">
            <a:avLst/>
          </a:prstGeom>
          <a:solidFill>
            <a:srgbClr val="F0FAFF"/>
          </a:solidFill>
          <a:ln/>
        </p:spPr>
      </p:sp>
      <p:sp>
        <p:nvSpPr>
          <p:cNvPr id="33" name="Text 31"/>
          <p:cNvSpPr/>
          <p:nvPr/>
        </p:nvSpPr>
        <p:spPr>
          <a:xfrm>
            <a:off x="4800600" y="3813048"/>
            <a:ext cx="3840480" cy="274320"/>
          </a:xfrm>
          <a:prstGeom prst="rect">
            <a:avLst/>
          </a:prstGeom>
          <a:noFill/>
          <a:ln/>
        </p:spPr>
        <p:txBody>
          <a:bodyPr wrap="square" lIns="0" tIns="0" rIns="0" bIns="0" rtlCol="0" anchor="ctr"/>
          <a:lstStyle/>
          <a:p>
            <a:pPr marL="0" indent="0">
              <a:buNone/>
            </a:pPr>
            <a:r>
              <a:rPr lang="en-US" sz="1100" b="1" dirty="0">
                <a:solidFill>
                  <a:srgbClr val="0D1B2A"/>
                </a:solidFill>
              </a:rPr>
              <a:t>Regional dialect audio data</a:t>
            </a:r>
            <a:endParaRPr lang="en-US" sz="1100" dirty="0"/>
          </a:p>
        </p:txBody>
      </p:sp>
      <p:sp>
        <p:nvSpPr>
          <p:cNvPr id="34" name="Text 32"/>
          <p:cNvSpPr/>
          <p:nvPr/>
        </p:nvSpPr>
        <p:spPr>
          <a:xfrm>
            <a:off x="4800600" y="4087368"/>
            <a:ext cx="3840480" cy="256032"/>
          </a:xfrm>
          <a:prstGeom prst="rect">
            <a:avLst/>
          </a:prstGeom>
          <a:noFill/>
          <a:ln/>
        </p:spPr>
        <p:txBody>
          <a:bodyPr wrap="square" lIns="0" tIns="0" rIns="0" bIns="0" rtlCol="0" anchor="ctr"/>
          <a:lstStyle/>
          <a:p>
            <a:pPr marL="0" indent="0">
              <a:buNone/>
            </a:pPr>
            <a:r>
              <a:rPr lang="en-US" sz="1050" i="1" dirty="0">
                <a:solidFill>
                  <a:srgbClr val="8898AA"/>
                </a:solidFill>
              </a:rPr>
              <a:t>→ Ensure multilingual bot works for underserved populations</a:t>
            </a:r>
            <a:endParaRPr lang="en-US" sz="1050" dirty="0"/>
          </a:p>
        </p:txBody>
      </p:sp>
      <p:pic>
        <p:nvPicPr>
          <p:cNvPr id="35" name="Google Shape;238;p6" title="Witch Hunt finalized logo-modified.png">
            <a:extLst>
              <a:ext uri="{FF2B5EF4-FFF2-40B4-BE49-F238E27FC236}">
                <a16:creationId xmlns:a16="http://schemas.microsoft.com/office/drawing/2014/main" id="{4A6D8AE6-27EF-3745-1F20-DA828D9018C8}"/>
              </a:ext>
            </a:extLst>
          </p:cNvPr>
          <p:cNvPicPr preferRelativeResize="0"/>
          <p:nvPr/>
        </p:nvPicPr>
        <p:blipFill rotWithShape="1">
          <a:blip r:embed="rId3">
            <a:alphaModFix/>
          </a:blip>
          <a:srcRect/>
          <a:stretch/>
        </p:blipFill>
        <p:spPr>
          <a:xfrm>
            <a:off x="129475" y="110938"/>
            <a:ext cx="680849" cy="6808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5D48A"/>
          </a:solidFill>
          <a:ln/>
        </p:spPr>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2600" b="1" dirty="0">
                <a:solidFill>
                  <a:srgbClr val="FFFFFF"/>
                </a:solidFill>
              </a:rPr>
              <a:t>      ANTICIPATED RESULTS &amp; IMPACT</a:t>
            </a:r>
            <a:endParaRPr lang="en-US" sz="2600" dirty="0"/>
          </a:p>
        </p:txBody>
      </p:sp>
      <p:sp>
        <p:nvSpPr>
          <p:cNvPr id="4" name="Shape 2"/>
          <p:cNvSpPr/>
          <p:nvPr/>
        </p:nvSpPr>
        <p:spPr>
          <a:xfrm>
            <a:off x="274320" y="914400"/>
            <a:ext cx="4114800" cy="1828800"/>
          </a:xfrm>
          <a:prstGeom prst="rect">
            <a:avLst/>
          </a:prstGeom>
          <a:solidFill>
            <a:srgbClr val="152535"/>
          </a:solidFill>
          <a:ln/>
          <a:effectLst>
            <a:outerShdw blurRad="101600" dist="38100" dir="8100000" algn="bl" rotWithShape="0">
              <a:srgbClr val="000000">
                <a:alpha val="18000"/>
              </a:srgbClr>
            </a:outerShdw>
          </a:effectLst>
        </p:spPr>
      </p:sp>
      <p:sp>
        <p:nvSpPr>
          <p:cNvPr id="5" name="Shape 3"/>
          <p:cNvSpPr/>
          <p:nvPr/>
        </p:nvSpPr>
        <p:spPr>
          <a:xfrm>
            <a:off x="274320" y="914400"/>
            <a:ext cx="4114800" cy="64008"/>
          </a:xfrm>
          <a:prstGeom prst="rect">
            <a:avLst/>
          </a:prstGeom>
          <a:solidFill>
            <a:srgbClr val="0ABFBC"/>
          </a:solidFill>
          <a:ln/>
        </p:spPr>
      </p:sp>
      <p:sp>
        <p:nvSpPr>
          <p:cNvPr id="6" name="Text 4"/>
          <p:cNvSpPr/>
          <p:nvPr/>
        </p:nvSpPr>
        <p:spPr>
          <a:xfrm>
            <a:off x="411480" y="1024128"/>
            <a:ext cx="3840480" cy="384048"/>
          </a:xfrm>
          <a:prstGeom prst="rect">
            <a:avLst/>
          </a:prstGeom>
          <a:noFill/>
          <a:ln/>
        </p:spPr>
        <p:txBody>
          <a:bodyPr wrap="square" lIns="0" tIns="0" rIns="0" bIns="0" rtlCol="0" anchor="ctr"/>
          <a:lstStyle/>
          <a:p>
            <a:pPr marL="0" indent="0">
              <a:buNone/>
            </a:pPr>
            <a:r>
              <a:rPr lang="en-US" sz="1300" b="1" dirty="0">
                <a:solidFill>
                  <a:srgbClr val="0ABFBC"/>
                </a:solidFill>
              </a:rPr>
              <a:t>🎓  Educational Impact</a:t>
            </a:r>
            <a:endParaRPr lang="en-US" sz="1300" dirty="0"/>
          </a:p>
        </p:txBody>
      </p:sp>
      <p:sp>
        <p:nvSpPr>
          <p:cNvPr id="7" name="Shape 5"/>
          <p:cNvSpPr/>
          <p:nvPr/>
        </p:nvSpPr>
        <p:spPr>
          <a:xfrm>
            <a:off x="411480" y="1572768"/>
            <a:ext cx="137160" cy="137160"/>
          </a:xfrm>
          <a:prstGeom prst="ellipse">
            <a:avLst/>
          </a:prstGeom>
          <a:solidFill>
            <a:srgbClr val="0ABFBC"/>
          </a:solidFill>
          <a:ln/>
        </p:spPr>
      </p:sp>
      <p:sp>
        <p:nvSpPr>
          <p:cNvPr id="8" name="Text 6"/>
          <p:cNvSpPr/>
          <p:nvPr/>
        </p:nvSpPr>
        <p:spPr>
          <a:xfrm>
            <a:off x="640080" y="1508760"/>
            <a:ext cx="3611880" cy="365760"/>
          </a:xfrm>
          <a:prstGeom prst="rect">
            <a:avLst/>
          </a:prstGeom>
          <a:noFill/>
          <a:ln/>
        </p:spPr>
        <p:txBody>
          <a:bodyPr wrap="square" lIns="0" tIns="0" rIns="0" bIns="0" rtlCol="0" anchor="ctr"/>
          <a:lstStyle/>
          <a:p>
            <a:pPr marL="0" indent="0">
              <a:buNone/>
            </a:pPr>
            <a:r>
              <a:rPr lang="en-US" sz="1150" dirty="0">
                <a:solidFill>
                  <a:srgbClr val="FFFFFF"/>
                </a:solidFill>
              </a:rPr>
              <a:t>30–40% improvement in concept retention via adaptive content</a:t>
            </a:r>
            <a:endParaRPr lang="en-US" sz="1150" dirty="0"/>
          </a:p>
        </p:txBody>
      </p:sp>
      <p:sp>
        <p:nvSpPr>
          <p:cNvPr id="9" name="Shape 7"/>
          <p:cNvSpPr/>
          <p:nvPr/>
        </p:nvSpPr>
        <p:spPr>
          <a:xfrm>
            <a:off x="411480" y="1984248"/>
            <a:ext cx="137160" cy="137160"/>
          </a:xfrm>
          <a:prstGeom prst="ellipse">
            <a:avLst/>
          </a:prstGeom>
          <a:solidFill>
            <a:srgbClr val="0ABFBC"/>
          </a:solidFill>
          <a:ln/>
        </p:spPr>
      </p:sp>
      <p:sp>
        <p:nvSpPr>
          <p:cNvPr id="10" name="Text 8"/>
          <p:cNvSpPr/>
          <p:nvPr/>
        </p:nvSpPr>
        <p:spPr>
          <a:xfrm>
            <a:off x="640080" y="1920240"/>
            <a:ext cx="3611880" cy="365760"/>
          </a:xfrm>
          <a:prstGeom prst="rect">
            <a:avLst/>
          </a:prstGeom>
          <a:noFill/>
          <a:ln/>
        </p:spPr>
        <p:txBody>
          <a:bodyPr wrap="square" lIns="0" tIns="0" rIns="0" bIns="0" rtlCol="0" anchor="ctr"/>
          <a:lstStyle/>
          <a:p>
            <a:pPr marL="0" indent="0">
              <a:buNone/>
            </a:pPr>
            <a:r>
              <a:rPr lang="en-US" sz="1150" dirty="0">
                <a:solidFill>
                  <a:srgbClr val="FFFFFF"/>
                </a:solidFill>
              </a:rPr>
              <a:t>Students from Class 1–12 served across all boards: CBSE, ICSE, State</a:t>
            </a:r>
            <a:endParaRPr lang="en-US" sz="1150" dirty="0"/>
          </a:p>
        </p:txBody>
      </p:sp>
      <p:sp>
        <p:nvSpPr>
          <p:cNvPr id="11" name="Shape 9"/>
          <p:cNvSpPr/>
          <p:nvPr/>
        </p:nvSpPr>
        <p:spPr>
          <a:xfrm>
            <a:off x="411480" y="2395728"/>
            <a:ext cx="137160" cy="137160"/>
          </a:xfrm>
          <a:prstGeom prst="ellipse">
            <a:avLst/>
          </a:prstGeom>
          <a:solidFill>
            <a:srgbClr val="0ABFBC"/>
          </a:solidFill>
          <a:ln/>
        </p:spPr>
      </p:sp>
      <p:sp>
        <p:nvSpPr>
          <p:cNvPr id="12" name="Text 10"/>
          <p:cNvSpPr/>
          <p:nvPr/>
        </p:nvSpPr>
        <p:spPr>
          <a:xfrm>
            <a:off x="640080" y="2331720"/>
            <a:ext cx="3611880" cy="365760"/>
          </a:xfrm>
          <a:prstGeom prst="rect">
            <a:avLst/>
          </a:prstGeom>
          <a:noFill/>
          <a:ln/>
        </p:spPr>
        <p:txBody>
          <a:bodyPr wrap="square" lIns="0" tIns="0" rIns="0" bIns="0" rtlCol="0" anchor="ctr"/>
          <a:lstStyle/>
          <a:p>
            <a:pPr marL="0" indent="0">
              <a:buNone/>
            </a:pPr>
            <a:r>
              <a:rPr lang="en-US" sz="1150" dirty="0">
                <a:solidFill>
                  <a:srgbClr val="FFFFFF"/>
                </a:solidFill>
              </a:rPr>
              <a:t>Flash cards improve competitive exam readiness (UPSC, JEE, NEET)</a:t>
            </a:r>
            <a:endParaRPr lang="en-US" sz="1150" dirty="0"/>
          </a:p>
        </p:txBody>
      </p:sp>
      <p:sp>
        <p:nvSpPr>
          <p:cNvPr id="13" name="Shape 11"/>
          <p:cNvSpPr/>
          <p:nvPr/>
        </p:nvSpPr>
        <p:spPr>
          <a:xfrm>
            <a:off x="4754880" y="914400"/>
            <a:ext cx="4114800" cy="1828800"/>
          </a:xfrm>
          <a:prstGeom prst="rect">
            <a:avLst/>
          </a:prstGeom>
          <a:solidFill>
            <a:srgbClr val="152535"/>
          </a:solidFill>
          <a:ln/>
          <a:effectLst>
            <a:outerShdw blurRad="101600" dist="38100" dir="8100000" algn="bl" rotWithShape="0">
              <a:srgbClr val="000000">
                <a:alpha val="18000"/>
              </a:srgbClr>
            </a:outerShdw>
          </a:effectLst>
        </p:spPr>
      </p:sp>
      <p:sp>
        <p:nvSpPr>
          <p:cNvPr id="14" name="Shape 12"/>
          <p:cNvSpPr/>
          <p:nvPr/>
        </p:nvSpPr>
        <p:spPr>
          <a:xfrm>
            <a:off x="4754880" y="914400"/>
            <a:ext cx="4114800" cy="64008"/>
          </a:xfrm>
          <a:prstGeom prst="rect">
            <a:avLst/>
          </a:prstGeom>
          <a:solidFill>
            <a:srgbClr val="45D48A"/>
          </a:solidFill>
          <a:ln/>
        </p:spPr>
      </p:sp>
      <p:sp>
        <p:nvSpPr>
          <p:cNvPr id="15" name="Text 13"/>
          <p:cNvSpPr/>
          <p:nvPr/>
        </p:nvSpPr>
        <p:spPr>
          <a:xfrm>
            <a:off x="4892040" y="1024128"/>
            <a:ext cx="3840480" cy="384048"/>
          </a:xfrm>
          <a:prstGeom prst="rect">
            <a:avLst/>
          </a:prstGeom>
          <a:noFill/>
          <a:ln/>
        </p:spPr>
        <p:txBody>
          <a:bodyPr wrap="square" lIns="0" tIns="0" rIns="0" bIns="0" rtlCol="0" anchor="ctr"/>
          <a:lstStyle/>
          <a:p>
            <a:pPr marL="0" indent="0">
              <a:buNone/>
            </a:pPr>
            <a:r>
              <a:rPr lang="en-US" sz="1300" b="1" dirty="0">
                <a:solidFill>
                  <a:srgbClr val="45D48A"/>
                </a:solidFill>
              </a:rPr>
              <a:t>🌍  Social Impact</a:t>
            </a:r>
            <a:endParaRPr lang="en-US" sz="1300" dirty="0"/>
          </a:p>
        </p:txBody>
      </p:sp>
      <p:sp>
        <p:nvSpPr>
          <p:cNvPr id="16" name="Shape 14"/>
          <p:cNvSpPr/>
          <p:nvPr/>
        </p:nvSpPr>
        <p:spPr>
          <a:xfrm>
            <a:off x="4892040" y="1572768"/>
            <a:ext cx="137160" cy="137160"/>
          </a:xfrm>
          <a:prstGeom prst="ellipse">
            <a:avLst/>
          </a:prstGeom>
          <a:solidFill>
            <a:srgbClr val="45D48A"/>
          </a:solidFill>
          <a:ln/>
        </p:spPr>
      </p:sp>
      <p:sp>
        <p:nvSpPr>
          <p:cNvPr id="17" name="Text 15"/>
          <p:cNvSpPr/>
          <p:nvPr/>
        </p:nvSpPr>
        <p:spPr>
          <a:xfrm>
            <a:off x="5120640" y="1508760"/>
            <a:ext cx="3611880" cy="365760"/>
          </a:xfrm>
          <a:prstGeom prst="rect">
            <a:avLst/>
          </a:prstGeom>
          <a:noFill/>
          <a:ln/>
        </p:spPr>
        <p:txBody>
          <a:bodyPr wrap="square" lIns="0" tIns="0" rIns="0" bIns="0" rtlCol="0" anchor="ctr"/>
          <a:lstStyle/>
          <a:p>
            <a:pPr marL="0" indent="0">
              <a:buNone/>
            </a:pPr>
            <a:r>
              <a:rPr lang="en-US" sz="1150" dirty="0">
                <a:solidFill>
                  <a:srgbClr val="FFFFFF"/>
                </a:solidFill>
              </a:rPr>
              <a:t>Rural students gain lab access via smartphone with offline mode</a:t>
            </a:r>
            <a:endParaRPr lang="en-US" sz="1150" dirty="0"/>
          </a:p>
        </p:txBody>
      </p:sp>
      <p:sp>
        <p:nvSpPr>
          <p:cNvPr id="18" name="Shape 16"/>
          <p:cNvSpPr/>
          <p:nvPr/>
        </p:nvSpPr>
        <p:spPr>
          <a:xfrm>
            <a:off x="4892040" y="1984248"/>
            <a:ext cx="137160" cy="137160"/>
          </a:xfrm>
          <a:prstGeom prst="ellipse">
            <a:avLst/>
          </a:prstGeom>
          <a:solidFill>
            <a:srgbClr val="45D48A"/>
          </a:solidFill>
          <a:ln/>
        </p:spPr>
      </p:sp>
      <p:sp>
        <p:nvSpPr>
          <p:cNvPr id="19" name="Text 17"/>
          <p:cNvSpPr/>
          <p:nvPr/>
        </p:nvSpPr>
        <p:spPr>
          <a:xfrm>
            <a:off x="5120640" y="1920240"/>
            <a:ext cx="3611880" cy="365760"/>
          </a:xfrm>
          <a:prstGeom prst="rect">
            <a:avLst/>
          </a:prstGeom>
          <a:noFill/>
          <a:ln/>
        </p:spPr>
        <p:txBody>
          <a:bodyPr wrap="square" lIns="0" tIns="0" rIns="0" bIns="0" rtlCol="0" anchor="ctr"/>
          <a:lstStyle/>
          <a:p>
            <a:pPr marL="0" indent="0">
              <a:buNone/>
            </a:pPr>
            <a:r>
              <a:rPr lang="en-US" sz="1150" dirty="0">
                <a:solidFill>
                  <a:srgbClr val="FFFFFF"/>
                </a:solidFill>
              </a:rPr>
              <a:t>22+ Indian languages eliminate language-barrier dropout</a:t>
            </a:r>
            <a:endParaRPr lang="en-US" sz="1150" dirty="0"/>
          </a:p>
        </p:txBody>
      </p:sp>
      <p:sp>
        <p:nvSpPr>
          <p:cNvPr id="20" name="Shape 18"/>
          <p:cNvSpPr/>
          <p:nvPr/>
        </p:nvSpPr>
        <p:spPr>
          <a:xfrm>
            <a:off x="4892040" y="2395728"/>
            <a:ext cx="137160" cy="137160"/>
          </a:xfrm>
          <a:prstGeom prst="ellipse">
            <a:avLst/>
          </a:prstGeom>
          <a:solidFill>
            <a:srgbClr val="45D48A"/>
          </a:solidFill>
          <a:ln/>
        </p:spPr>
      </p:sp>
      <p:sp>
        <p:nvSpPr>
          <p:cNvPr id="21" name="Text 19"/>
          <p:cNvSpPr/>
          <p:nvPr/>
        </p:nvSpPr>
        <p:spPr>
          <a:xfrm>
            <a:off x="5120640" y="2331720"/>
            <a:ext cx="3611880" cy="365760"/>
          </a:xfrm>
          <a:prstGeom prst="rect">
            <a:avLst/>
          </a:prstGeom>
          <a:noFill/>
          <a:ln/>
        </p:spPr>
        <p:txBody>
          <a:bodyPr wrap="square" lIns="0" tIns="0" rIns="0" bIns="0" rtlCol="0" anchor="ctr"/>
          <a:lstStyle/>
          <a:p>
            <a:pPr marL="0" indent="0">
              <a:buNone/>
            </a:pPr>
            <a:r>
              <a:rPr lang="en-US" sz="1150" dirty="0">
                <a:solidFill>
                  <a:srgbClr val="FFFFFF"/>
                </a:solidFill>
              </a:rPr>
              <a:t>Underprivileged students access the same quality as urban peers</a:t>
            </a:r>
            <a:endParaRPr lang="en-US" sz="1150" dirty="0"/>
          </a:p>
        </p:txBody>
      </p:sp>
      <p:sp>
        <p:nvSpPr>
          <p:cNvPr id="22" name="Shape 20"/>
          <p:cNvSpPr/>
          <p:nvPr/>
        </p:nvSpPr>
        <p:spPr>
          <a:xfrm>
            <a:off x="274320" y="2926080"/>
            <a:ext cx="4114800" cy="1828800"/>
          </a:xfrm>
          <a:prstGeom prst="rect">
            <a:avLst/>
          </a:prstGeom>
          <a:solidFill>
            <a:srgbClr val="152535"/>
          </a:solidFill>
          <a:ln/>
          <a:effectLst>
            <a:outerShdw blurRad="101600" dist="38100" dir="8100000" algn="bl" rotWithShape="0">
              <a:srgbClr val="000000">
                <a:alpha val="18000"/>
              </a:srgbClr>
            </a:outerShdw>
          </a:effectLst>
        </p:spPr>
      </p:sp>
      <p:sp>
        <p:nvSpPr>
          <p:cNvPr id="23" name="Shape 21"/>
          <p:cNvSpPr/>
          <p:nvPr/>
        </p:nvSpPr>
        <p:spPr>
          <a:xfrm>
            <a:off x="274320" y="2926080"/>
            <a:ext cx="4114800" cy="64008"/>
          </a:xfrm>
          <a:prstGeom prst="rect">
            <a:avLst/>
          </a:prstGeom>
          <a:solidFill>
            <a:srgbClr val="F5A623"/>
          </a:solidFill>
          <a:ln/>
        </p:spPr>
      </p:sp>
      <p:sp>
        <p:nvSpPr>
          <p:cNvPr id="24" name="Text 22"/>
          <p:cNvSpPr/>
          <p:nvPr/>
        </p:nvSpPr>
        <p:spPr>
          <a:xfrm>
            <a:off x="411480" y="3035808"/>
            <a:ext cx="3840480" cy="384048"/>
          </a:xfrm>
          <a:prstGeom prst="rect">
            <a:avLst/>
          </a:prstGeom>
          <a:noFill/>
          <a:ln/>
        </p:spPr>
        <p:txBody>
          <a:bodyPr wrap="square" lIns="0" tIns="0" rIns="0" bIns="0" rtlCol="0" anchor="ctr"/>
          <a:lstStyle/>
          <a:p>
            <a:pPr marL="0" indent="0">
              <a:buNone/>
            </a:pPr>
            <a:r>
              <a:rPr lang="en-US" sz="1300" b="1" dirty="0">
                <a:solidFill>
                  <a:srgbClr val="F5A623"/>
                </a:solidFill>
              </a:rPr>
              <a:t>🏛️  Government Impact</a:t>
            </a:r>
            <a:endParaRPr lang="en-US" sz="1300" dirty="0"/>
          </a:p>
        </p:txBody>
      </p:sp>
      <p:sp>
        <p:nvSpPr>
          <p:cNvPr id="25" name="Shape 23"/>
          <p:cNvSpPr/>
          <p:nvPr/>
        </p:nvSpPr>
        <p:spPr>
          <a:xfrm>
            <a:off x="411480" y="3584448"/>
            <a:ext cx="137160" cy="137160"/>
          </a:xfrm>
          <a:prstGeom prst="ellipse">
            <a:avLst/>
          </a:prstGeom>
          <a:solidFill>
            <a:srgbClr val="F5A623"/>
          </a:solidFill>
          <a:ln/>
        </p:spPr>
      </p:sp>
      <p:sp>
        <p:nvSpPr>
          <p:cNvPr id="26" name="Text 24"/>
          <p:cNvSpPr/>
          <p:nvPr/>
        </p:nvSpPr>
        <p:spPr>
          <a:xfrm>
            <a:off x="640080" y="3520440"/>
            <a:ext cx="3611880" cy="365760"/>
          </a:xfrm>
          <a:prstGeom prst="rect">
            <a:avLst/>
          </a:prstGeom>
          <a:noFill/>
          <a:ln/>
        </p:spPr>
        <p:txBody>
          <a:bodyPr wrap="square" lIns="0" tIns="0" rIns="0" bIns="0" rtlCol="0" anchor="ctr"/>
          <a:lstStyle/>
          <a:p>
            <a:pPr marL="0" indent="0">
              <a:buNone/>
            </a:pPr>
            <a:r>
              <a:rPr lang="en-US" sz="1150" dirty="0">
                <a:solidFill>
                  <a:srgbClr val="FFFFFF"/>
                </a:solidFill>
              </a:rPr>
              <a:t>District-level dashboards reduce teacher mismatch by 25%+</a:t>
            </a:r>
            <a:endParaRPr lang="en-US" sz="1150" dirty="0"/>
          </a:p>
        </p:txBody>
      </p:sp>
      <p:sp>
        <p:nvSpPr>
          <p:cNvPr id="27" name="Shape 25"/>
          <p:cNvSpPr/>
          <p:nvPr/>
        </p:nvSpPr>
        <p:spPr>
          <a:xfrm>
            <a:off x="411480" y="3995928"/>
            <a:ext cx="137160" cy="137160"/>
          </a:xfrm>
          <a:prstGeom prst="ellipse">
            <a:avLst/>
          </a:prstGeom>
          <a:solidFill>
            <a:srgbClr val="F5A623"/>
          </a:solidFill>
          <a:ln/>
        </p:spPr>
      </p:sp>
      <p:sp>
        <p:nvSpPr>
          <p:cNvPr id="28" name="Text 26"/>
          <p:cNvSpPr/>
          <p:nvPr/>
        </p:nvSpPr>
        <p:spPr>
          <a:xfrm>
            <a:off x="640080" y="3931920"/>
            <a:ext cx="3611880" cy="365760"/>
          </a:xfrm>
          <a:prstGeom prst="rect">
            <a:avLst/>
          </a:prstGeom>
          <a:noFill/>
          <a:ln/>
        </p:spPr>
        <p:txBody>
          <a:bodyPr wrap="square" lIns="0" tIns="0" rIns="0" bIns="0" rtlCol="0" anchor="ctr"/>
          <a:lstStyle/>
          <a:p>
            <a:pPr marL="0" indent="0">
              <a:buNone/>
            </a:pPr>
            <a:r>
              <a:rPr lang="en-US" sz="1150" dirty="0">
                <a:solidFill>
                  <a:srgbClr val="FFFFFF"/>
                </a:solidFill>
              </a:rPr>
              <a:t>Predictive model prevents infrastructure crises before they occur</a:t>
            </a:r>
            <a:endParaRPr lang="en-US" sz="1150" dirty="0"/>
          </a:p>
        </p:txBody>
      </p:sp>
      <p:sp>
        <p:nvSpPr>
          <p:cNvPr id="29" name="Shape 27"/>
          <p:cNvSpPr/>
          <p:nvPr/>
        </p:nvSpPr>
        <p:spPr>
          <a:xfrm>
            <a:off x="411480" y="4407408"/>
            <a:ext cx="137160" cy="137160"/>
          </a:xfrm>
          <a:prstGeom prst="ellipse">
            <a:avLst/>
          </a:prstGeom>
          <a:solidFill>
            <a:srgbClr val="F5A623"/>
          </a:solidFill>
          <a:ln/>
        </p:spPr>
      </p:sp>
      <p:sp>
        <p:nvSpPr>
          <p:cNvPr id="30" name="Text 28"/>
          <p:cNvSpPr/>
          <p:nvPr/>
        </p:nvSpPr>
        <p:spPr>
          <a:xfrm>
            <a:off x="640080" y="4343400"/>
            <a:ext cx="3611880" cy="365760"/>
          </a:xfrm>
          <a:prstGeom prst="rect">
            <a:avLst/>
          </a:prstGeom>
          <a:noFill/>
          <a:ln/>
        </p:spPr>
        <p:txBody>
          <a:bodyPr wrap="square" lIns="0" tIns="0" rIns="0" bIns="0" rtlCol="0" anchor="ctr"/>
          <a:lstStyle/>
          <a:p>
            <a:pPr marL="0" indent="0">
              <a:buNone/>
            </a:pPr>
            <a:r>
              <a:rPr lang="en-US" sz="1150" dirty="0">
                <a:solidFill>
                  <a:srgbClr val="FFFFFF"/>
                </a:solidFill>
              </a:rPr>
              <a:t>Policy simulation reduces cost of failed interventions</a:t>
            </a:r>
            <a:endParaRPr lang="en-US" sz="1150" dirty="0"/>
          </a:p>
        </p:txBody>
      </p:sp>
      <p:sp>
        <p:nvSpPr>
          <p:cNvPr id="31" name="Shape 29"/>
          <p:cNvSpPr/>
          <p:nvPr/>
        </p:nvSpPr>
        <p:spPr>
          <a:xfrm>
            <a:off x="4754880" y="2926080"/>
            <a:ext cx="4114800" cy="1828800"/>
          </a:xfrm>
          <a:prstGeom prst="rect">
            <a:avLst/>
          </a:prstGeom>
          <a:solidFill>
            <a:srgbClr val="152535"/>
          </a:solidFill>
          <a:ln/>
          <a:effectLst>
            <a:outerShdw blurRad="101600" dist="38100" dir="8100000" algn="bl" rotWithShape="0">
              <a:srgbClr val="000000">
                <a:alpha val="18000"/>
              </a:srgbClr>
            </a:outerShdw>
          </a:effectLst>
        </p:spPr>
      </p:sp>
      <p:sp>
        <p:nvSpPr>
          <p:cNvPr id="32" name="Shape 30"/>
          <p:cNvSpPr/>
          <p:nvPr/>
        </p:nvSpPr>
        <p:spPr>
          <a:xfrm>
            <a:off x="4754880" y="2926080"/>
            <a:ext cx="4114800" cy="64008"/>
          </a:xfrm>
          <a:prstGeom prst="rect">
            <a:avLst/>
          </a:prstGeom>
          <a:solidFill>
            <a:srgbClr val="0ABFBC"/>
          </a:solidFill>
          <a:ln/>
        </p:spPr>
      </p:sp>
      <p:sp>
        <p:nvSpPr>
          <p:cNvPr id="33" name="Text 31"/>
          <p:cNvSpPr/>
          <p:nvPr/>
        </p:nvSpPr>
        <p:spPr>
          <a:xfrm>
            <a:off x="4892040" y="3035808"/>
            <a:ext cx="3840480" cy="384048"/>
          </a:xfrm>
          <a:prstGeom prst="rect">
            <a:avLst/>
          </a:prstGeom>
          <a:noFill/>
          <a:ln/>
        </p:spPr>
        <p:txBody>
          <a:bodyPr wrap="square" lIns="0" tIns="0" rIns="0" bIns="0" rtlCol="0" anchor="ctr"/>
          <a:lstStyle/>
          <a:p>
            <a:pPr marL="0" indent="0">
              <a:buNone/>
            </a:pPr>
            <a:r>
              <a:rPr lang="en-US" sz="1300" b="1" dirty="0">
                <a:solidFill>
                  <a:srgbClr val="0ABFBC"/>
                </a:solidFill>
              </a:rPr>
              <a:t>💼  Career Impact</a:t>
            </a:r>
            <a:endParaRPr lang="en-US" sz="1300" dirty="0"/>
          </a:p>
        </p:txBody>
      </p:sp>
      <p:sp>
        <p:nvSpPr>
          <p:cNvPr id="34" name="Shape 32"/>
          <p:cNvSpPr/>
          <p:nvPr/>
        </p:nvSpPr>
        <p:spPr>
          <a:xfrm>
            <a:off x="4892040" y="3584448"/>
            <a:ext cx="137160" cy="137160"/>
          </a:xfrm>
          <a:prstGeom prst="ellipse">
            <a:avLst/>
          </a:prstGeom>
          <a:solidFill>
            <a:srgbClr val="0ABFBC"/>
          </a:solidFill>
          <a:ln/>
        </p:spPr>
      </p:sp>
      <p:sp>
        <p:nvSpPr>
          <p:cNvPr id="35" name="Text 33"/>
          <p:cNvSpPr/>
          <p:nvPr/>
        </p:nvSpPr>
        <p:spPr>
          <a:xfrm>
            <a:off x="5120640" y="3520440"/>
            <a:ext cx="3611880" cy="365760"/>
          </a:xfrm>
          <a:prstGeom prst="rect">
            <a:avLst/>
          </a:prstGeom>
          <a:noFill/>
          <a:ln/>
        </p:spPr>
        <p:txBody>
          <a:bodyPr wrap="square" lIns="0" tIns="0" rIns="0" bIns="0" rtlCol="0" anchor="ctr"/>
          <a:lstStyle/>
          <a:p>
            <a:pPr marL="0" indent="0">
              <a:buNone/>
            </a:pPr>
            <a:r>
              <a:rPr lang="en-US" sz="1150" dirty="0">
                <a:solidFill>
                  <a:srgbClr val="FFFFFF"/>
                </a:solidFill>
              </a:rPr>
              <a:t>ATS-optimised resumes increase interview callback rates</a:t>
            </a:r>
            <a:endParaRPr lang="en-US" sz="1150" dirty="0"/>
          </a:p>
        </p:txBody>
      </p:sp>
      <p:sp>
        <p:nvSpPr>
          <p:cNvPr id="36" name="Shape 34"/>
          <p:cNvSpPr/>
          <p:nvPr/>
        </p:nvSpPr>
        <p:spPr>
          <a:xfrm>
            <a:off x="4892040" y="3995928"/>
            <a:ext cx="137160" cy="137160"/>
          </a:xfrm>
          <a:prstGeom prst="ellipse">
            <a:avLst/>
          </a:prstGeom>
          <a:solidFill>
            <a:srgbClr val="0ABFBC"/>
          </a:solidFill>
          <a:ln/>
        </p:spPr>
      </p:sp>
      <p:sp>
        <p:nvSpPr>
          <p:cNvPr id="37" name="Text 35"/>
          <p:cNvSpPr/>
          <p:nvPr/>
        </p:nvSpPr>
        <p:spPr>
          <a:xfrm>
            <a:off x="5120640" y="3931920"/>
            <a:ext cx="3611880" cy="365760"/>
          </a:xfrm>
          <a:prstGeom prst="rect">
            <a:avLst/>
          </a:prstGeom>
          <a:noFill/>
          <a:ln/>
        </p:spPr>
        <p:txBody>
          <a:bodyPr wrap="square" lIns="0" tIns="0" rIns="0" bIns="0" rtlCol="0" anchor="ctr"/>
          <a:lstStyle/>
          <a:p>
            <a:pPr marL="0" indent="0">
              <a:buNone/>
            </a:pPr>
            <a:r>
              <a:rPr lang="en-US" sz="1150" dirty="0">
                <a:solidFill>
                  <a:srgbClr val="FFFFFF"/>
                </a:solidFill>
              </a:rPr>
              <a:t>Skill-gap coaching aligned to real JD requirements</a:t>
            </a:r>
            <a:endParaRPr lang="en-US" sz="1150" dirty="0"/>
          </a:p>
        </p:txBody>
      </p:sp>
      <p:sp>
        <p:nvSpPr>
          <p:cNvPr id="38" name="Shape 36"/>
          <p:cNvSpPr/>
          <p:nvPr/>
        </p:nvSpPr>
        <p:spPr>
          <a:xfrm>
            <a:off x="4892040" y="4407408"/>
            <a:ext cx="137160" cy="137160"/>
          </a:xfrm>
          <a:prstGeom prst="ellipse">
            <a:avLst/>
          </a:prstGeom>
          <a:solidFill>
            <a:srgbClr val="0ABFBC"/>
          </a:solidFill>
          <a:ln/>
        </p:spPr>
      </p:sp>
      <p:sp>
        <p:nvSpPr>
          <p:cNvPr id="39" name="Text 37"/>
          <p:cNvSpPr/>
          <p:nvPr/>
        </p:nvSpPr>
        <p:spPr>
          <a:xfrm>
            <a:off x="5120640" y="4343400"/>
            <a:ext cx="3611880" cy="365760"/>
          </a:xfrm>
          <a:prstGeom prst="rect">
            <a:avLst/>
          </a:prstGeom>
          <a:noFill/>
          <a:ln/>
        </p:spPr>
        <p:txBody>
          <a:bodyPr wrap="square" lIns="0" tIns="0" rIns="0" bIns="0" rtlCol="0" anchor="ctr"/>
          <a:lstStyle/>
          <a:p>
            <a:pPr marL="0" indent="0">
              <a:buNone/>
            </a:pPr>
            <a:r>
              <a:rPr lang="en-US" sz="1150" dirty="0">
                <a:solidFill>
                  <a:srgbClr val="FFFFFF"/>
                </a:solidFill>
              </a:rPr>
              <a:t>Career plan export gives students a concrete 4-week action schedule</a:t>
            </a:r>
            <a:endParaRPr lang="en-US" sz="1150" dirty="0"/>
          </a:p>
        </p:txBody>
      </p:sp>
      <p:pic>
        <p:nvPicPr>
          <p:cNvPr id="40" name="Google Shape;238;p6" title="Witch Hunt finalized logo-modified.png">
            <a:extLst>
              <a:ext uri="{FF2B5EF4-FFF2-40B4-BE49-F238E27FC236}">
                <a16:creationId xmlns:a16="http://schemas.microsoft.com/office/drawing/2014/main" id="{E9577882-A449-F226-313B-4D500F596453}"/>
              </a:ext>
            </a:extLst>
          </p:cNvPr>
          <p:cNvPicPr preferRelativeResize="0"/>
          <p:nvPr/>
        </p:nvPicPr>
        <p:blipFill rotWithShape="1">
          <a:blip r:embed="rId3">
            <a:alphaModFix/>
          </a:blip>
          <a:srcRect/>
          <a:stretch/>
        </p:blipFill>
        <p:spPr>
          <a:xfrm>
            <a:off x="129475" y="110938"/>
            <a:ext cx="680849" cy="6808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buNone/>
            </a:pPr>
            <a:r>
              <a:rPr lang="en-US" sz="2600" b="1" dirty="0">
                <a:solidFill>
                  <a:srgbClr val="FFFFFF"/>
                </a:solidFill>
              </a:rPr>
              <a:t>      SCALABILITY &amp; INNOVATION</a:t>
            </a:r>
            <a:endParaRPr lang="en-US" sz="2600" dirty="0"/>
          </a:p>
        </p:txBody>
      </p:sp>
      <p:sp>
        <p:nvSpPr>
          <p:cNvPr id="4" name="Shape 2"/>
          <p:cNvSpPr/>
          <p:nvPr/>
        </p:nvSpPr>
        <p:spPr>
          <a:xfrm>
            <a:off x="0" y="914400"/>
            <a:ext cx="9144000" cy="54864"/>
          </a:xfrm>
          <a:prstGeom prst="rect">
            <a:avLst/>
          </a:prstGeom>
          <a:solidFill>
            <a:srgbClr val="0ABFBC"/>
          </a:solidFill>
          <a:ln/>
        </p:spPr>
      </p:sp>
      <p:sp>
        <p:nvSpPr>
          <p:cNvPr id="5" name="Text 3"/>
          <p:cNvSpPr/>
          <p:nvPr/>
        </p:nvSpPr>
        <p:spPr>
          <a:xfrm>
            <a:off x="274320" y="1097280"/>
            <a:ext cx="3931920" cy="365760"/>
          </a:xfrm>
          <a:prstGeom prst="rect">
            <a:avLst/>
          </a:prstGeom>
          <a:noFill/>
          <a:ln/>
        </p:spPr>
        <p:txBody>
          <a:bodyPr wrap="square" lIns="0" tIns="0" rIns="0" bIns="0" rtlCol="0" anchor="ctr"/>
          <a:lstStyle/>
          <a:p>
            <a:pPr marL="0" indent="0">
              <a:buNone/>
            </a:pPr>
            <a:r>
              <a:rPr lang="en-US" sz="1400" b="1" dirty="0">
                <a:solidFill>
                  <a:srgbClr val="0D1B2A"/>
                </a:solidFill>
              </a:rPr>
              <a:t>Operational Scalability</a:t>
            </a:r>
            <a:endParaRPr lang="en-US" sz="1400" dirty="0"/>
          </a:p>
        </p:txBody>
      </p:sp>
      <p:sp>
        <p:nvSpPr>
          <p:cNvPr id="6" name="Shape 4"/>
          <p:cNvSpPr/>
          <p:nvPr/>
        </p:nvSpPr>
        <p:spPr>
          <a:xfrm>
            <a:off x="274320" y="1627632"/>
            <a:ext cx="182880" cy="182880"/>
          </a:xfrm>
          <a:prstGeom prst="ellipse">
            <a:avLst/>
          </a:prstGeom>
          <a:solidFill>
            <a:srgbClr val="0ABFBC"/>
          </a:solidFill>
          <a:ln/>
        </p:spPr>
      </p:sp>
      <p:sp>
        <p:nvSpPr>
          <p:cNvPr id="7" name="Text 5"/>
          <p:cNvSpPr/>
          <p:nvPr/>
        </p:nvSpPr>
        <p:spPr>
          <a:xfrm>
            <a:off x="548640" y="1572768"/>
            <a:ext cx="3566160" cy="420624"/>
          </a:xfrm>
          <a:prstGeom prst="rect">
            <a:avLst/>
          </a:prstGeom>
          <a:noFill/>
          <a:ln/>
        </p:spPr>
        <p:txBody>
          <a:bodyPr wrap="square" lIns="0" tIns="0" rIns="0" bIns="0" rtlCol="0" anchor="ctr"/>
          <a:lstStyle/>
          <a:p>
            <a:pPr marL="0" indent="0">
              <a:buNone/>
            </a:pPr>
            <a:r>
              <a:rPr lang="en-US" sz="1050" dirty="0">
                <a:solidFill>
                  <a:srgbClr val="0D1B2A"/>
                </a:solidFill>
              </a:rPr>
              <a:t>Microservices on Kubernetes — scale each module independently</a:t>
            </a:r>
            <a:endParaRPr lang="en-US" sz="1050" dirty="0"/>
          </a:p>
        </p:txBody>
      </p:sp>
      <p:sp>
        <p:nvSpPr>
          <p:cNvPr id="8" name="Shape 6"/>
          <p:cNvSpPr/>
          <p:nvPr/>
        </p:nvSpPr>
        <p:spPr>
          <a:xfrm>
            <a:off x="274320" y="2139696"/>
            <a:ext cx="182880" cy="182880"/>
          </a:xfrm>
          <a:prstGeom prst="ellipse">
            <a:avLst/>
          </a:prstGeom>
          <a:solidFill>
            <a:srgbClr val="0ABFBC"/>
          </a:solidFill>
          <a:ln/>
        </p:spPr>
      </p:sp>
      <p:sp>
        <p:nvSpPr>
          <p:cNvPr id="9" name="Text 7"/>
          <p:cNvSpPr/>
          <p:nvPr/>
        </p:nvSpPr>
        <p:spPr>
          <a:xfrm>
            <a:off x="548640" y="2084832"/>
            <a:ext cx="3566160" cy="420624"/>
          </a:xfrm>
          <a:prstGeom prst="rect">
            <a:avLst/>
          </a:prstGeom>
          <a:noFill/>
          <a:ln/>
        </p:spPr>
        <p:txBody>
          <a:bodyPr wrap="square" lIns="0" tIns="0" rIns="0" bIns="0" rtlCol="0" anchor="ctr"/>
          <a:lstStyle/>
          <a:p>
            <a:pPr marL="0" indent="0">
              <a:buNone/>
            </a:pPr>
            <a:r>
              <a:rPr lang="en-US" sz="1050" dirty="0">
                <a:solidFill>
                  <a:srgbClr val="0D1B2A"/>
                </a:solidFill>
              </a:rPr>
              <a:t>Multi-state deployment via AWS/GCP regional zones</a:t>
            </a:r>
            <a:endParaRPr lang="en-US" sz="1050" dirty="0"/>
          </a:p>
        </p:txBody>
      </p:sp>
      <p:sp>
        <p:nvSpPr>
          <p:cNvPr id="10" name="Shape 8"/>
          <p:cNvSpPr/>
          <p:nvPr/>
        </p:nvSpPr>
        <p:spPr>
          <a:xfrm>
            <a:off x="274320" y="2651760"/>
            <a:ext cx="182880" cy="182880"/>
          </a:xfrm>
          <a:prstGeom prst="ellipse">
            <a:avLst/>
          </a:prstGeom>
          <a:solidFill>
            <a:srgbClr val="0ABFBC"/>
          </a:solidFill>
          <a:ln/>
        </p:spPr>
      </p:sp>
      <p:sp>
        <p:nvSpPr>
          <p:cNvPr id="11" name="Text 9"/>
          <p:cNvSpPr/>
          <p:nvPr/>
        </p:nvSpPr>
        <p:spPr>
          <a:xfrm>
            <a:off x="548640" y="2596896"/>
            <a:ext cx="3566160" cy="420624"/>
          </a:xfrm>
          <a:prstGeom prst="rect">
            <a:avLst/>
          </a:prstGeom>
          <a:noFill/>
          <a:ln/>
        </p:spPr>
        <p:txBody>
          <a:bodyPr wrap="square" lIns="0" tIns="0" rIns="0" bIns="0" rtlCol="0" anchor="ctr"/>
          <a:lstStyle/>
          <a:p>
            <a:pPr marL="0" indent="0">
              <a:buNone/>
            </a:pPr>
            <a:r>
              <a:rPr lang="en-US" sz="1050" dirty="0">
                <a:solidFill>
                  <a:srgbClr val="0D1B2A"/>
                </a:solidFill>
              </a:rPr>
              <a:t>Government SaaS licensing for state &amp; district education boards</a:t>
            </a:r>
            <a:endParaRPr lang="en-US" sz="1050" dirty="0"/>
          </a:p>
        </p:txBody>
      </p:sp>
      <p:sp>
        <p:nvSpPr>
          <p:cNvPr id="12" name="Shape 10"/>
          <p:cNvSpPr/>
          <p:nvPr/>
        </p:nvSpPr>
        <p:spPr>
          <a:xfrm>
            <a:off x="274320" y="3163824"/>
            <a:ext cx="182880" cy="182880"/>
          </a:xfrm>
          <a:prstGeom prst="ellipse">
            <a:avLst/>
          </a:prstGeom>
          <a:solidFill>
            <a:srgbClr val="0ABFBC"/>
          </a:solidFill>
          <a:ln/>
        </p:spPr>
      </p:sp>
      <p:sp>
        <p:nvSpPr>
          <p:cNvPr id="13" name="Text 11"/>
          <p:cNvSpPr/>
          <p:nvPr/>
        </p:nvSpPr>
        <p:spPr>
          <a:xfrm>
            <a:off x="548640" y="3108960"/>
            <a:ext cx="3566160" cy="420624"/>
          </a:xfrm>
          <a:prstGeom prst="rect">
            <a:avLst/>
          </a:prstGeom>
          <a:noFill/>
          <a:ln/>
        </p:spPr>
        <p:txBody>
          <a:bodyPr wrap="square" lIns="0" tIns="0" rIns="0" bIns="0" rtlCol="0" anchor="ctr"/>
          <a:lstStyle/>
          <a:p>
            <a:pPr marL="0" indent="0">
              <a:buNone/>
            </a:pPr>
            <a:r>
              <a:rPr lang="en-US" sz="1050" dirty="0">
                <a:solidFill>
                  <a:srgbClr val="0D1B2A"/>
                </a:solidFill>
              </a:rPr>
              <a:t>Offline-first design for 0-connectivity rural schools</a:t>
            </a:r>
            <a:endParaRPr lang="en-US" sz="1050" dirty="0"/>
          </a:p>
        </p:txBody>
      </p:sp>
      <p:sp>
        <p:nvSpPr>
          <p:cNvPr id="14" name="Shape 12"/>
          <p:cNvSpPr/>
          <p:nvPr/>
        </p:nvSpPr>
        <p:spPr>
          <a:xfrm>
            <a:off x="274320" y="3675888"/>
            <a:ext cx="182880" cy="182880"/>
          </a:xfrm>
          <a:prstGeom prst="ellipse">
            <a:avLst/>
          </a:prstGeom>
          <a:solidFill>
            <a:srgbClr val="0ABFBC"/>
          </a:solidFill>
          <a:ln/>
        </p:spPr>
      </p:sp>
      <p:sp>
        <p:nvSpPr>
          <p:cNvPr id="15" name="Text 13"/>
          <p:cNvSpPr/>
          <p:nvPr/>
        </p:nvSpPr>
        <p:spPr>
          <a:xfrm>
            <a:off x="548640" y="3621024"/>
            <a:ext cx="3566160" cy="420624"/>
          </a:xfrm>
          <a:prstGeom prst="rect">
            <a:avLst/>
          </a:prstGeom>
          <a:noFill/>
          <a:ln/>
        </p:spPr>
        <p:txBody>
          <a:bodyPr wrap="square" lIns="0" tIns="0" rIns="0" bIns="0" rtlCol="0" anchor="ctr"/>
          <a:lstStyle/>
          <a:p>
            <a:pPr marL="0" indent="0">
              <a:buNone/>
            </a:pPr>
            <a:r>
              <a:rPr lang="en-US" sz="1050" dirty="0">
                <a:solidFill>
                  <a:srgbClr val="0D1B2A"/>
                </a:solidFill>
              </a:rPr>
              <a:t>White-label version for NGOs and private EdTech partners</a:t>
            </a:r>
            <a:endParaRPr lang="en-US" sz="1050" dirty="0"/>
          </a:p>
        </p:txBody>
      </p:sp>
      <p:sp>
        <p:nvSpPr>
          <p:cNvPr id="16" name="Shape 14"/>
          <p:cNvSpPr/>
          <p:nvPr/>
        </p:nvSpPr>
        <p:spPr>
          <a:xfrm>
            <a:off x="4526280" y="1051560"/>
            <a:ext cx="54864" cy="3840480"/>
          </a:xfrm>
          <a:prstGeom prst="rect">
            <a:avLst/>
          </a:prstGeom>
          <a:solidFill>
            <a:srgbClr val="0ABFBC"/>
          </a:solidFill>
          <a:ln/>
        </p:spPr>
      </p:sp>
      <p:sp>
        <p:nvSpPr>
          <p:cNvPr id="17" name="Text 15"/>
          <p:cNvSpPr/>
          <p:nvPr/>
        </p:nvSpPr>
        <p:spPr>
          <a:xfrm>
            <a:off x="4754880" y="1097280"/>
            <a:ext cx="4114800" cy="365760"/>
          </a:xfrm>
          <a:prstGeom prst="rect">
            <a:avLst/>
          </a:prstGeom>
          <a:noFill/>
          <a:ln/>
        </p:spPr>
        <p:txBody>
          <a:bodyPr wrap="square" lIns="0" tIns="0" rIns="0" bIns="0" rtlCol="0" anchor="ctr"/>
          <a:lstStyle/>
          <a:p>
            <a:pPr marL="0" indent="0">
              <a:buNone/>
            </a:pPr>
            <a:r>
              <a:rPr lang="en-US" sz="1400" b="1" dirty="0">
                <a:solidFill>
                  <a:srgbClr val="0D1B2A"/>
                </a:solidFill>
              </a:rPr>
              <a:t>Innovation Summary</a:t>
            </a:r>
            <a:endParaRPr lang="en-US" sz="1400" dirty="0"/>
          </a:p>
        </p:txBody>
      </p:sp>
      <p:sp>
        <p:nvSpPr>
          <p:cNvPr id="18" name="Shape 16"/>
          <p:cNvSpPr/>
          <p:nvPr/>
        </p:nvSpPr>
        <p:spPr>
          <a:xfrm>
            <a:off x="4754880" y="1627632"/>
            <a:ext cx="182880" cy="182880"/>
          </a:xfrm>
          <a:prstGeom prst="ellipse">
            <a:avLst/>
          </a:prstGeom>
          <a:solidFill>
            <a:srgbClr val="F5A623"/>
          </a:solidFill>
          <a:ln/>
        </p:spPr>
      </p:sp>
      <p:sp>
        <p:nvSpPr>
          <p:cNvPr id="19" name="Text 17"/>
          <p:cNvSpPr/>
          <p:nvPr/>
        </p:nvSpPr>
        <p:spPr>
          <a:xfrm>
            <a:off x="5029200" y="1572768"/>
            <a:ext cx="3840480" cy="420624"/>
          </a:xfrm>
          <a:prstGeom prst="rect">
            <a:avLst/>
          </a:prstGeom>
          <a:noFill/>
          <a:ln/>
        </p:spPr>
        <p:txBody>
          <a:bodyPr wrap="square" lIns="0" tIns="0" rIns="0" bIns="0" rtlCol="0" anchor="ctr"/>
          <a:lstStyle/>
          <a:p>
            <a:pPr marL="0" indent="0">
              <a:buNone/>
            </a:pPr>
            <a:r>
              <a:rPr lang="en-US" sz="1050" dirty="0">
                <a:solidFill>
                  <a:srgbClr val="0D1B2A"/>
                </a:solidFill>
              </a:rPr>
              <a:t>PDF-to-MCQ engine with board-specific exam customisation</a:t>
            </a:r>
            <a:endParaRPr lang="en-US" sz="1050" dirty="0"/>
          </a:p>
        </p:txBody>
      </p:sp>
      <p:sp>
        <p:nvSpPr>
          <p:cNvPr id="20" name="Shape 18"/>
          <p:cNvSpPr/>
          <p:nvPr/>
        </p:nvSpPr>
        <p:spPr>
          <a:xfrm>
            <a:off x="4754880" y="2139696"/>
            <a:ext cx="182880" cy="182880"/>
          </a:xfrm>
          <a:prstGeom prst="ellipse">
            <a:avLst/>
          </a:prstGeom>
          <a:solidFill>
            <a:srgbClr val="F5A623"/>
          </a:solidFill>
          <a:ln/>
        </p:spPr>
      </p:sp>
      <p:sp>
        <p:nvSpPr>
          <p:cNvPr id="21" name="Text 19"/>
          <p:cNvSpPr/>
          <p:nvPr/>
        </p:nvSpPr>
        <p:spPr>
          <a:xfrm>
            <a:off x="5029200" y="2084832"/>
            <a:ext cx="3840480" cy="420624"/>
          </a:xfrm>
          <a:prstGeom prst="rect">
            <a:avLst/>
          </a:prstGeom>
          <a:noFill/>
          <a:ln/>
        </p:spPr>
        <p:txBody>
          <a:bodyPr wrap="square" lIns="0" tIns="0" rIns="0" bIns="0" rtlCol="0" anchor="ctr"/>
          <a:lstStyle/>
          <a:p>
            <a:pPr marL="0" indent="0">
              <a:buNone/>
            </a:pPr>
            <a:r>
              <a:rPr lang="en-US" sz="1050" dirty="0">
                <a:solidFill>
                  <a:srgbClr val="0D1B2A"/>
                </a:solidFill>
              </a:rPr>
              <a:t>Age-graded current affairs flash cards using NLP complexity scoring</a:t>
            </a:r>
            <a:endParaRPr lang="en-US" sz="1050" dirty="0"/>
          </a:p>
        </p:txBody>
      </p:sp>
      <p:sp>
        <p:nvSpPr>
          <p:cNvPr id="22" name="Shape 20"/>
          <p:cNvSpPr/>
          <p:nvPr/>
        </p:nvSpPr>
        <p:spPr>
          <a:xfrm>
            <a:off x="4754880" y="2651760"/>
            <a:ext cx="182880" cy="182880"/>
          </a:xfrm>
          <a:prstGeom prst="ellipse">
            <a:avLst/>
          </a:prstGeom>
          <a:solidFill>
            <a:srgbClr val="F5A623"/>
          </a:solidFill>
          <a:ln/>
        </p:spPr>
      </p:sp>
      <p:sp>
        <p:nvSpPr>
          <p:cNvPr id="23" name="Text 21"/>
          <p:cNvSpPr/>
          <p:nvPr/>
        </p:nvSpPr>
        <p:spPr>
          <a:xfrm>
            <a:off x="5029200" y="2596896"/>
            <a:ext cx="3840480" cy="420624"/>
          </a:xfrm>
          <a:prstGeom prst="rect">
            <a:avLst/>
          </a:prstGeom>
          <a:noFill/>
          <a:ln/>
        </p:spPr>
        <p:txBody>
          <a:bodyPr wrap="square" lIns="0" tIns="0" rIns="0" bIns="0" rtlCol="0" anchor="ctr"/>
          <a:lstStyle/>
          <a:p>
            <a:pPr marL="0" indent="0">
              <a:buNone/>
            </a:pPr>
            <a:r>
              <a:rPr lang="en-US" sz="1050" dirty="0">
                <a:solidFill>
                  <a:srgbClr val="0D1B2A"/>
                </a:solidFill>
              </a:rPr>
              <a:t>ML/LLM behavioural intent model updated per session</a:t>
            </a:r>
            <a:endParaRPr lang="en-US" sz="1050" dirty="0"/>
          </a:p>
        </p:txBody>
      </p:sp>
      <p:sp>
        <p:nvSpPr>
          <p:cNvPr id="24" name="Shape 22"/>
          <p:cNvSpPr/>
          <p:nvPr/>
        </p:nvSpPr>
        <p:spPr>
          <a:xfrm>
            <a:off x="4754880" y="3163824"/>
            <a:ext cx="182880" cy="182880"/>
          </a:xfrm>
          <a:prstGeom prst="ellipse">
            <a:avLst/>
          </a:prstGeom>
          <a:solidFill>
            <a:srgbClr val="F5A623"/>
          </a:solidFill>
          <a:ln/>
        </p:spPr>
      </p:sp>
      <p:sp>
        <p:nvSpPr>
          <p:cNvPr id="25" name="Text 23"/>
          <p:cNvSpPr/>
          <p:nvPr/>
        </p:nvSpPr>
        <p:spPr>
          <a:xfrm>
            <a:off x="5029200" y="3108960"/>
            <a:ext cx="3840480" cy="420624"/>
          </a:xfrm>
          <a:prstGeom prst="rect">
            <a:avLst/>
          </a:prstGeom>
          <a:noFill/>
          <a:ln/>
        </p:spPr>
        <p:txBody>
          <a:bodyPr wrap="square" lIns="0" tIns="0" rIns="0" bIns="0" rtlCol="0" anchor="ctr"/>
          <a:lstStyle/>
          <a:p>
            <a:pPr marL="0" indent="0">
              <a:buNone/>
            </a:pPr>
            <a:r>
              <a:rPr lang="en-US" sz="1050" dirty="0">
                <a:solidFill>
                  <a:srgbClr val="0D1B2A"/>
                </a:solidFill>
              </a:rPr>
              <a:t>TED Talk pronunciation AI with phoneme-level comparison</a:t>
            </a:r>
            <a:endParaRPr lang="en-US" sz="1050" dirty="0"/>
          </a:p>
        </p:txBody>
      </p:sp>
      <p:sp>
        <p:nvSpPr>
          <p:cNvPr id="26" name="Shape 24"/>
          <p:cNvSpPr/>
          <p:nvPr/>
        </p:nvSpPr>
        <p:spPr>
          <a:xfrm>
            <a:off x="4754880" y="3675888"/>
            <a:ext cx="182880" cy="182880"/>
          </a:xfrm>
          <a:prstGeom prst="ellipse">
            <a:avLst/>
          </a:prstGeom>
          <a:solidFill>
            <a:srgbClr val="F5A623"/>
          </a:solidFill>
          <a:ln/>
        </p:spPr>
      </p:sp>
      <p:sp>
        <p:nvSpPr>
          <p:cNvPr id="27" name="Text 25"/>
          <p:cNvSpPr/>
          <p:nvPr/>
        </p:nvSpPr>
        <p:spPr>
          <a:xfrm>
            <a:off x="5029200" y="3621024"/>
            <a:ext cx="3840480" cy="420624"/>
          </a:xfrm>
          <a:prstGeom prst="rect">
            <a:avLst/>
          </a:prstGeom>
          <a:noFill/>
          <a:ln/>
        </p:spPr>
        <p:txBody>
          <a:bodyPr wrap="square" lIns="0" tIns="0" rIns="0" bIns="0" rtlCol="0" anchor="ctr"/>
          <a:lstStyle/>
          <a:p>
            <a:pPr marL="0" indent="0">
              <a:buNone/>
            </a:pPr>
            <a:r>
              <a:rPr lang="en-US" sz="1050" dirty="0">
                <a:solidFill>
                  <a:srgbClr val="0D1B2A"/>
                </a:solidFill>
              </a:rPr>
              <a:t>ATS resume optimiser with side-by-side comparison &amp; JD matching</a:t>
            </a:r>
            <a:endParaRPr lang="en-US" sz="1050" dirty="0"/>
          </a:p>
        </p:txBody>
      </p:sp>
      <p:sp>
        <p:nvSpPr>
          <p:cNvPr id="28" name="Shape 26"/>
          <p:cNvSpPr/>
          <p:nvPr/>
        </p:nvSpPr>
        <p:spPr>
          <a:xfrm>
            <a:off x="4754880" y="4187952"/>
            <a:ext cx="182880" cy="182880"/>
          </a:xfrm>
          <a:prstGeom prst="ellipse">
            <a:avLst/>
          </a:prstGeom>
          <a:solidFill>
            <a:srgbClr val="F5A623"/>
          </a:solidFill>
          <a:ln/>
        </p:spPr>
      </p:sp>
      <p:sp>
        <p:nvSpPr>
          <p:cNvPr id="29" name="Text 27"/>
          <p:cNvSpPr/>
          <p:nvPr/>
        </p:nvSpPr>
        <p:spPr>
          <a:xfrm>
            <a:off x="5029200" y="4133088"/>
            <a:ext cx="3840480" cy="420624"/>
          </a:xfrm>
          <a:prstGeom prst="rect">
            <a:avLst/>
          </a:prstGeom>
          <a:noFill/>
          <a:ln/>
        </p:spPr>
        <p:txBody>
          <a:bodyPr wrap="square" lIns="0" tIns="0" rIns="0" bIns="0" rtlCol="0" anchor="ctr"/>
          <a:lstStyle/>
          <a:p>
            <a:pPr marL="0" indent="0">
              <a:buNone/>
            </a:pPr>
            <a:r>
              <a:rPr lang="en-US" sz="1050" dirty="0">
                <a:solidFill>
                  <a:srgbClr val="0D1B2A"/>
                </a:solidFill>
              </a:rPr>
              <a:t>Policymaker simulation dashboard before resource decisions</a:t>
            </a:r>
            <a:endParaRPr lang="en-US" sz="1050" dirty="0"/>
          </a:p>
        </p:txBody>
      </p:sp>
      <p:pic>
        <p:nvPicPr>
          <p:cNvPr id="30" name="Google Shape;238;p6" title="Witch Hunt finalized logo-modified.png">
            <a:extLst>
              <a:ext uri="{FF2B5EF4-FFF2-40B4-BE49-F238E27FC236}">
                <a16:creationId xmlns:a16="http://schemas.microsoft.com/office/drawing/2014/main" id="{A736B743-0D10-E2B1-7B13-86098C319268}"/>
              </a:ext>
            </a:extLst>
          </p:cNvPr>
          <p:cNvPicPr preferRelativeResize="0"/>
          <p:nvPr/>
        </p:nvPicPr>
        <p:blipFill rotWithShape="1">
          <a:blip r:embed="rId3">
            <a:alphaModFix/>
          </a:blip>
          <a:srcRect/>
          <a:stretch/>
        </p:blipFill>
        <p:spPr>
          <a:xfrm>
            <a:off x="129475" y="110938"/>
            <a:ext cx="680849" cy="6808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0ABFBC">
              <a:alpha val="12000"/>
            </a:srgbClr>
          </a:solidFill>
          <a:ln w="12700">
            <a:solidFill>
              <a:srgbClr val="0ABFBC"/>
            </a:solidFill>
            <a:prstDash val="solid"/>
          </a:ln>
        </p:spPr>
      </p:sp>
      <p:sp>
        <p:nvSpPr>
          <p:cNvPr id="3" name="Shape 1"/>
          <p:cNvSpPr/>
          <p:nvPr/>
        </p:nvSpPr>
        <p:spPr>
          <a:xfrm>
            <a:off x="5943600" y="2286000"/>
            <a:ext cx="4572000" cy="4572000"/>
          </a:xfrm>
          <a:prstGeom prst="ellipse">
            <a:avLst/>
          </a:prstGeom>
          <a:solidFill>
            <a:srgbClr val="45D48A">
              <a:alpha val="12000"/>
            </a:srgbClr>
          </a:solidFill>
          <a:ln w="12700">
            <a:solidFill>
              <a:srgbClr val="45D48A"/>
            </a:solidFill>
            <a:prstDash val="solid"/>
          </a:ln>
        </p:spPr>
      </p:sp>
      <p:sp>
        <p:nvSpPr>
          <p:cNvPr id="4" name="Shape 2"/>
          <p:cNvSpPr/>
          <p:nvPr/>
        </p:nvSpPr>
        <p:spPr>
          <a:xfrm>
            <a:off x="0" y="0"/>
            <a:ext cx="9144000" cy="54864"/>
          </a:xfrm>
          <a:prstGeom prst="rect">
            <a:avLst/>
          </a:prstGeom>
          <a:solidFill>
            <a:srgbClr val="0ABFBC"/>
          </a:solidFill>
          <a:ln/>
        </p:spPr>
      </p:sp>
      <p:sp>
        <p:nvSpPr>
          <p:cNvPr id="5" name="Shape 3"/>
          <p:cNvSpPr/>
          <p:nvPr/>
        </p:nvSpPr>
        <p:spPr>
          <a:xfrm>
            <a:off x="0" y="5088636"/>
            <a:ext cx="9144000" cy="54864"/>
          </a:xfrm>
          <a:prstGeom prst="rect">
            <a:avLst/>
          </a:prstGeom>
          <a:solidFill>
            <a:srgbClr val="0ABFBC"/>
          </a:solidFill>
          <a:ln/>
        </p:spPr>
      </p:sp>
      <p:sp>
        <p:nvSpPr>
          <p:cNvPr id="6" name="Text 4"/>
          <p:cNvSpPr/>
          <p:nvPr/>
        </p:nvSpPr>
        <p:spPr>
          <a:xfrm>
            <a:off x="457200" y="1188720"/>
            <a:ext cx="8229600" cy="1097280"/>
          </a:xfrm>
          <a:prstGeom prst="rect">
            <a:avLst/>
          </a:prstGeom>
          <a:noFill/>
          <a:ln/>
        </p:spPr>
        <p:txBody>
          <a:bodyPr wrap="square" lIns="0" tIns="0" rIns="0" bIns="0" rtlCol="0" anchor="ctr"/>
          <a:lstStyle/>
          <a:p>
            <a:pPr marL="0" indent="0" algn="ctr">
              <a:buNone/>
            </a:pPr>
            <a:r>
              <a:rPr lang="en-US" sz="6400" b="1" dirty="0">
                <a:solidFill>
                  <a:srgbClr val="FFFFFF"/>
                </a:solidFill>
              </a:rPr>
              <a:t>THANK YOU</a:t>
            </a:r>
            <a:endParaRPr lang="en-US" sz="6400" dirty="0"/>
          </a:p>
        </p:txBody>
      </p:sp>
      <p:sp>
        <p:nvSpPr>
          <p:cNvPr id="7" name="Text 5"/>
          <p:cNvSpPr/>
          <p:nvPr/>
        </p:nvSpPr>
        <p:spPr>
          <a:xfrm>
            <a:off x="457200" y="2286000"/>
            <a:ext cx="8229600" cy="457200"/>
          </a:xfrm>
          <a:prstGeom prst="rect">
            <a:avLst/>
          </a:prstGeom>
          <a:noFill/>
          <a:ln/>
        </p:spPr>
        <p:txBody>
          <a:bodyPr wrap="square" lIns="0" tIns="0" rIns="0" bIns="0" rtlCol="0" anchor="ctr"/>
          <a:lstStyle/>
          <a:p>
            <a:pPr marL="0" indent="0" algn="ctr">
              <a:buNone/>
            </a:pPr>
            <a:r>
              <a:rPr lang="en-US" sz="2000" i="1" dirty="0">
                <a:solidFill>
                  <a:srgbClr val="0ABFBC"/>
                </a:solidFill>
              </a:rPr>
              <a:t>for your time and attention</a:t>
            </a:r>
            <a:endParaRPr lang="en-US" sz="2000" dirty="0"/>
          </a:p>
        </p:txBody>
      </p:sp>
      <p:sp>
        <p:nvSpPr>
          <p:cNvPr id="8" name="Text 6"/>
          <p:cNvSpPr/>
          <p:nvPr/>
        </p:nvSpPr>
        <p:spPr>
          <a:xfrm>
            <a:off x="457200" y="3200400"/>
            <a:ext cx="8229600" cy="365760"/>
          </a:xfrm>
          <a:prstGeom prst="rect">
            <a:avLst/>
          </a:prstGeom>
          <a:noFill/>
          <a:ln/>
        </p:spPr>
        <p:txBody>
          <a:bodyPr wrap="square" lIns="0" tIns="0" rIns="0" bIns="0" rtlCol="0" anchor="ctr"/>
          <a:lstStyle/>
          <a:p>
            <a:pPr marL="0" indent="0" algn="ctr">
              <a:buNone/>
            </a:pPr>
            <a:r>
              <a:rPr lang="en-US" sz="1200" dirty="0">
                <a:solidFill>
                  <a:srgbClr val="8898AA"/>
                </a:solidFill>
              </a:rPr>
              <a:t>EduAI Nexus  ·  WitchHunt Hackathon 2026  ·  Education Theme</a:t>
            </a:r>
            <a:endParaRPr lang="en-US" sz="1200" dirty="0"/>
          </a:p>
        </p:txBody>
      </p:sp>
      <p:sp>
        <p:nvSpPr>
          <p:cNvPr id="9" name="Shape 7"/>
          <p:cNvSpPr/>
          <p:nvPr/>
        </p:nvSpPr>
        <p:spPr>
          <a:xfrm>
            <a:off x="457200" y="3749040"/>
            <a:ext cx="1325880" cy="347472"/>
          </a:xfrm>
          <a:prstGeom prst="roundRect">
            <a:avLst>
              <a:gd name="adj" fmla="val 13158"/>
            </a:avLst>
          </a:prstGeom>
          <a:solidFill>
            <a:srgbClr val="152535"/>
          </a:solidFill>
          <a:ln/>
        </p:spPr>
      </p:sp>
      <p:sp>
        <p:nvSpPr>
          <p:cNvPr id="10" name="Text 8"/>
          <p:cNvSpPr/>
          <p:nvPr/>
        </p:nvSpPr>
        <p:spPr>
          <a:xfrm>
            <a:off x="457200" y="3749040"/>
            <a:ext cx="1325880" cy="347472"/>
          </a:xfrm>
          <a:prstGeom prst="rect">
            <a:avLst/>
          </a:prstGeom>
          <a:noFill/>
          <a:ln/>
        </p:spPr>
        <p:txBody>
          <a:bodyPr wrap="square" lIns="0" tIns="0" rIns="0" bIns="0" rtlCol="0" anchor="ctr"/>
          <a:lstStyle/>
          <a:p>
            <a:pPr marL="0" indent="0" algn="ctr">
              <a:buNone/>
            </a:pPr>
            <a:r>
              <a:rPr lang="en-US" sz="850" dirty="0">
                <a:solidFill>
                  <a:srgbClr val="0ABFBC"/>
                </a:solidFill>
              </a:rPr>
              <a:t>🎯 Personalised</a:t>
            </a:r>
            <a:endParaRPr lang="en-US" sz="850" dirty="0"/>
          </a:p>
        </p:txBody>
      </p:sp>
      <p:sp>
        <p:nvSpPr>
          <p:cNvPr id="11" name="Shape 9"/>
          <p:cNvSpPr/>
          <p:nvPr/>
        </p:nvSpPr>
        <p:spPr>
          <a:xfrm>
            <a:off x="1874520" y="3749040"/>
            <a:ext cx="1325880" cy="347472"/>
          </a:xfrm>
          <a:prstGeom prst="roundRect">
            <a:avLst>
              <a:gd name="adj" fmla="val 13158"/>
            </a:avLst>
          </a:prstGeom>
          <a:solidFill>
            <a:srgbClr val="152535"/>
          </a:solidFill>
          <a:ln/>
        </p:spPr>
      </p:sp>
      <p:sp>
        <p:nvSpPr>
          <p:cNvPr id="12" name="Text 10"/>
          <p:cNvSpPr/>
          <p:nvPr/>
        </p:nvSpPr>
        <p:spPr>
          <a:xfrm>
            <a:off x="1874520" y="3749040"/>
            <a:ext cx="1325880" cy="347472"/>
          </a:xfrm>
          <a:prstGeom prst="rect">
            <a:avLst/>
          </a:prstGeom>
          <a:noFill/>
          <a:ln/>
        </p:spPr>
        <p:txBody>
          <a:bodyPr wrap="square" lIns="0" tIns="0" rIns="0" bIns="0" rtlCol="0" anchor="ctr"/>
          <a:lstStyle/>
          <a:p>
            <a:pPr marL="0" indent="0" algn="ctr">
              <a:buNone/>
            </a:pPr>
            <a:r>
              <a:rPr lang="en-US" sz="850" dirty="0">
                <a:solidFill>
                  <a:srgbClr val="0ABFBC"/>
                </a:solidFill>
              </a:rPr>
              <a:t>🔬 Virtual Labs</a:t>
            </a:r>
            <a:endParaRPr lang="en-US" sz="850" dirty="0"/>
          </a:p>
        </p:txBody>
      </p:sp>
      <p:sp>
        <p:nvSpPr>
          <p:cNvPr id="13" name="Shape 11"/>
          <p:cNvSpPr/>
          <p:nvPr/>
        </p:nvSpPr>
        <p:spPr>
          <a:xfrm>
            <a:off x="3291840" y="3749040"/>
            <a:ext cx="1325880" cy="347472"/>
          </a:xfrm>
          <a:prstGeom prst="roundRect">
            <a:avLst>
              <a:gd name="adj" fmla="val 13158"/>
            </a:avLst>
          </a:prstGeom>
          <a:solidFill>
            <a:srgbClr val="152535"/>
          </a:solidFill>
          <a:ln/>
        </p:spPr>
      </p:sp>
      <p:sp>
        <p:nvSpPr>
          <p:cNvPr id="14" name="Text 12"/>
          <p:cNvSpPr/>
          <p:nvPr/>
        </p:nvSpPr>
        <p:spPr>
          <a:xfrm>
            <a:off x="3291840" y="3749040"/>
            <a:ext cx="1325880" cy="347472"/>
          </a:xfrm>
          <a:prstGeom prst="rect">
            <a:avLst/>
          </a:prstGeom>
          <a:noFill/>
          <a:ln/>
        </p:spPr>
        <p:txBody>
          <a:bodyPr wrap="square" lIns="0" tIns="0" rIns="0" bIns="0" rtlCol="0" anchor="ctr"/>
          <a:lstStyle/>
          <a:p>
            <a:pPr marL="0" indent="0" algn="ctr">
              <a:buNone/>
            </a:pPr>
            <a:r>
              <a:rPr lang="en-US" sz="850" dirty="0">
                <a:solidFill>
                  <a:srgbClr val="0ABFBC"/>
                </a:solidFill>
              </a:rPr>
              <a:t>🌐 Multilingual</a:t>
            </a:r>
            <a:endParaRPr lang="en-US" sz="850" dirty="0"/>
          </a:p>
        </p:txBody>
      </p:sp>
      <p:sp>
        <p:nvSpPr>
          <p:cNvPr id="15" name="Shape 13"/>
          <p:cNvSpPr/>
          <p:nvPr/>
        </p:nvSpPr>
        <p:spPr>
          <a:xfrm>
            <a:off x="4709160" y="3749040"/>
            <a:ext cx="1325880" cy="347472"/>
          </a:xfrm>
          <a:prstGeom prst="roundRect">
            <a:avLst>
              <a:gd name="adj" fmla="val 13158"/>
            </a:avLst>
          </a:prstGeom>
          <a:solidFill>
            <a:srgbClr val="152535"/>
          </a:solidFill>
          <a:ln/>
        </p:spPr>
      </p:sp>
      <p:sp>
        <p:nvSpPr>
          <p:cNvPr id="16" name="Text 14"/>
          <p:cNvSpPr/>
          <p:nvPr/>
        </p:nvSpPr>
        <p:spPr>
          <a:xfrm>
            <a:off x="4709160" y="3749040"/>
            <a:ext cx="1325880" cy="347472"/>
          </a:xfrm>
          <a:prstGeom prst="rect">
            <a:avLst/>
          </a:prstGeom>
          <a:noFill/>
          <a:ln/>
        </p:spPr>
        <p:txBody>
          <a:bodyPr wrap="square" lIns="0" tIns="0" rIns="0" bIns="0" rtlCol="0" anchor="ctr"/>
          <a:lstStyle/>
          <a:p>
            <a:pPr marL="0" indent="0" algn="ctr">
              <a:buNone/>
            </a:pPr>
            <a:r>
              <a:rPr lang="en-US" sz="850" dirty="0">
                <a:solidFill>
                  <a:srgbClr val="0ABFBC"/>
                </a:solidFill>
              </a:rPr>
              <a:t>💼 Career Ready</a:t>
            </a:r>
            <a:endParaRPr lang="en-US" sz="850" dirty="0"/>
          </a:p>
        </p:txBody>
      </p:sp>
      <p:sp>
        <p:nvSpPr>
          <p:cNvPr id="17" name="Shape 15"/>
          <p:cNvSpPr/>
          <p:nvPr/>
        </p:nvSpPr>
        <p:spPr>
          <a:xfrm>
            <a:off x="6126480" y="3749040"/>
            <a:ext cx="1325880" cy="347472"/>
          </a:xfrm>
          <a:prstGeom prst="roundRect">
            <a:avLst>
              <a:gd name="adj" fmla="val 13158"/>
            </a:avLst>
          </a:prstGeom>
          <a:solidFill>
            <a:srgbClr val="152535"/>
          </a:solidFill>
          <a:ln/>
        </p:spPr>
      </p:sp>
      <p:sp>
        <p:nvSpPr>
          <p:cNvPr id="18" name="Text 16"/>
          <p:cNvSpPr/>
          <p:nvPr/>
        </p:nvSpPr>
        <p:spPr>
          <a:xfrm>
            <a:off x="6126480" y="3749040"/>
            <a:ext cx="1325880" cy="347472"/>
          </a:xfrm>
          <a:prstGeom prst="rect">
            <a:avLst/>
          </a:prstGeom>
          <a:noFill/>
          <a:ln/>
        </p:spPr>
        <p:txBody>
          <a:bodyPr wrap="square" lIns="0" tIns="0" rIns="0" bIns="0" rtlCol="0" anchor="ctr"/>
          <a:lstStyle/>
          <a:p>
            <a:pPr marL="0" indent="0" algn="ctr">
              <a:buNone/>
            </a:pPr>
            <a:r>
              <a:rPr lang="en-US" sz="850" dirty="0">
                <a:solidFill>
                  <a:srgbClr val="0ABFBC"/>
                </a:solidFill>
              </a:rPr>
              <a:t>📊 Policy AI</a:t>
            </a:r>
            <a:endParaRPr lang="en-US" sz="850" dirty="0"/>
          </a:p>
        </p:txBody>
      </p:sp>
      <p:sp>
        <p:nvSpPr>
          <p:cNvPr id="19" name="Shape 17"/>
          <p:cNvSpPr/>
          <p:nvPr/>
        </p:nvSpPr>
        <p:spPr>
          <a:xfrm>
            <a:off x="7543800" y="3749040"/>
            <a:ext cx="1325880" cy="347472"/>
          </a:xfrm>
          <a:prstGeom prst="roundRect">
            <a:avLst>
              <a:gd name="adj" fmla="val 13158"/>
            </a:avLst>
          </a:prstGeom>
          <a:solidFill>
            <a:srgbClr val="152535"/>
          </a:solidFill>
          <a:ln/>
        </p:spPr>
      </p:sp>
      <p:sp>
        <p:nvSpPr>
          <p:cNvPr id="20" name="Text 18"/>
          <p:cNvSpPr/>
          <p:nvPr/>
        </p:nvSpPr>
        <p:spPr>
          <a:xfrm>
            <a:off x="7543800" y="3749040"/>
            <a:ext cx="1325880" cy="347472"/>
          </a:xfrm>
          <a:prstGeom prst="rect">
            <a:avLst/>
          </a:prstGeom>
          <a:noFill/>
          <a:ln/>
        </p:spPr>
        <p:txBody>
          <a:bodyPr wrap="square" lIns="0" tIns="0" rIns="0" bIns="0" rtlCol="0" anchor="ctr"/>
          <a:lstStyle/>
          <a:p>
            <a:pPr marL="0" indent="0" algn="ctr">
              <a:buNone/>
            </a:pPr>
            <a:r>
              <a:rPr lang="en-US" sz="850" dirty="0">
                <a:solidFill>
                  <a:srgbClr val="0ABFBC"/>
                </a:solidFill>
              </a:rPr>
              <a:t>🚀 Micro-Projects</a:t>
            </a:r>
            <a:endParaRPr lang="en-US" sz="850" dirty="0"/>
          </a:p>
        </p:txBody>
      </p:sp>
      <p:pic>
        <p:nvPicPr>
          <p:cNvPr id="21" name="Google Shape;238;p6" title="Witch Hunt finalized logo-modified.png">
            <a:extLst>
              <a:ext uri="{FF2B5EF4-FFF2-40B4-BE49-F238E27FC236}">
                <a16:creationId xmlns:a16="http://schemas.microsoft.com/office/drawing/2014/main" id="{405189C2-7200-0D31-6B9E-34DE8DE9684C}"/>
              </a:ext>
            </a:extLst>
          </p:cNvPr>
          <p:cNvPicPr preferRelativeResize="0"/>
          <p:nvPr/>
        </p:nvPicPr>
        <p:blipFill rotWithShape="1">
          <a:blip r:embed="rId3">
            <a:alphaModFix/>
          </a:blip>
          <a:srcRect/>
          <a:stretch/>
        </p:blipFill>
        <p:spPr>
          <a:xfrm>
            <a:off x="129475" y="110938"/>
            <a:ext cx="680849" cy="680849"/>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TotalTime>
  <Words>1621</Words>
  <Application>Microsoft Office PowerPoint</Application>
  <PresentationFormat>On-screen Show (16:9)</PresentationFormat>
  <Paragraphs>245</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EduAI Nexus - WitchHunt Hackathon</dc:title>
  <dc:subject>PptxGenJS Presentation</dc:subject>
  <dc:creator>PptxGenJS</dc:creator>
  <cp:lastModifiedBy>Jayashree H N</cp:lastModifiedBy>
  <cp:revision>3</cp:revision>
  <dcterms:created xsi:type="dcterms:W3CDTF">2026-04-07T04:50:22Z</dcterms:created>
  <dcterms:modified xsi:type="dcterms:W3CDTF">2026-04-07T07:50:26Z</dcterms:modified>
</cp:coreProperties>
</file>